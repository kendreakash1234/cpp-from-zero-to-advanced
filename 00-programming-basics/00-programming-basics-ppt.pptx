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00 is about thinking before coding: taking a problem, designing an algorithm, and only then expressing it as a program. The deck follows the 15 topics in order and ends with a mistakes recap and a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Foundations explain what programs and algorithms are. Building blocks are the pieces every program uses. Controlling the flow covers decisions, loops and functions. Designing solutions covers how to plan and check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Programming is problem solving plus precise expression. Most effort goes into understanding, designing and testing; typing code is the smallest part. The debug loop returns to writing the code, not to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code is text for people. The processor runs machine code. Build tools translate one into the other. Editing main.cpp does nothing until you rebuild. The detailed pipeline is Stage 01 topic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algorithm is language independent. The five properties come from Knuth. The example works for equal values too, because it only replaces largest when a value is strictly greater.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ask two questions first: what do I receive, and what must I produce. Processing connects them. Deciding what to do with invalid input is part of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holds one value at a time; assigning replaces it. State is a snapshot of all values. The swap needs temp because a = b overwrites a before it is saved. Trace tables are the main tool for checking algorithms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kind of data decides which operations make sense and what they mean. Text 5 plus text 3 joins to 53; number 5 plus number 3 is 8. Whole-number division discarding the fraction is covered in Stage 01 topic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expression always produces a value. Precedence decides the order: multiplication before addition. In the tree, the deepest operation is evaluated first. Parentheses override precedence; add them when in doubt, for example (a + b) / 2 for an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expression is like a phrase, a statement like a full sentence. A statement often contains an expression: area = width * height evaluates width * height and stores the result. Statements run top to bottom, so order is part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condition is a true or false question. In an if / else-if chain only the first true branch runs, so check the highest threshold first. Always test the exact boundaries, for example 74 and 75, 39 and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Counter-controlled loops run a known number of times; condition-controlled loops run until something happens. Every loop has four parts. A missing update gives an infinite loop; a wrong comparison gives an off-by-one error. Check the first and last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steps once, name them by purpose, and call them wherever needed. The caller only needs to know inputs and result. A function that only calculates is easier to test than one that also reads input and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Top-down design, also called stepwise refinement: start from the whole task and keep breaking steps down until each one is simple. Each subproblem often becomes a function. Avoid both one giant block and meaningless tiny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official pseudocode standard; consistency and precision matter. Each line should translate directly into code. The example still divides by zero when n is 0, which a complete design would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symbols cover basic flowcharts. Any algorithm can be built from three structures: sequence, selection and iteration. Every decision has exactly two labelled exits.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chart with n = 4 and n = 7. Notice the decision has two labelled exits, and both paths merge before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problem in this stage uses the same six steps. Design and trace before coding. Test normal, boundary and invalid input; passing one example proves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mistakes from this stage, each with its fix. Revisit this slide before starting Stage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An algorithm is the language-independent steps; a program implements it in a language. 2) Input, output, definiteness, finiteness, effectiveness. 3) Assigning overwrites a value before it is saved. 4) 14, multiplication before addition. 5) An expression produces a value; a statement performs an action. 6) Only the first true branch runs. 7) Initialise, check, body, update. 8) Sequence, selection,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01 turns these ideas into real C++: the language, the build pipeline, variables and types, operators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731520" y="1554480"/>
            <a:ext cx="6400800" cy="365760"/>
          </a:xfrm>
          <a:prstGeom prst="rect">
            <a:avLst/>
          </a:prstGeom>
          <a:noFill/>
          <a:ln/>
        </p:spPr>
        <p:txBody>
          <a:bodyPr wrap="square" lIns="0" tIns="0" rIns="0" bIns="0" rtlCol="0" anchor="t"/>
          <a:lstStyle/>
          <a:p>
            <a:pPr indent="0" marL="0">
              <a:buNone/>
            </a:pPr>
            <a:r>
              <a:rPr lang="en-US" sz="1800" dirty="0">
                <a:solidFill>
                  <a:srgbClr val="8B949E"/>
                </a:solidFill>
                <a:latin typeface="Calibri" pitchFamily="34" charset="0"/>
                <a:ea typeface="Calibri" pitchFamily="34" charset="-122"/>
                <a:cs typeface="Calibri" pitchFamily="34" charset="-120"/>
              </a:rPr>
              <a:t>C++ From Zero to Advanced</a:t>
            </a:r>
            <a:endParaRPr lang="en-US" sz="1800" dirty="0"/>
          </a:p>
        </p:txBody>
      </p:sp>
      <p:sp>
        <p:nvSpPr>
          <p:cNvPr id="3" name="Text 1"/>
          <p:cNvSpPr txBox="1"/>
          <p:nvPr/>
        </p:nvSpPr>
        <p:spPr>
          <a:xfrm>
            <a:off x="731520" y="1965960"/>
            <a:ext cx="6858000" cy="1005840"/>
          </a:xfrm>
          <a:prstGeom prst="rect">
            <a:avLst/>
          </a:prstGeom>
          <a:noFill/>
          <a:ln/>
        </p:spPr>
        <p:txBody>
          <a:bodyPr wrap="square" lIns="0" tIns="0" rIns="0" bIns="0" rtlCol="0" anchor="t"/>
          <a:lstStyle/>
          <a:p>
            <a:pPr indent="0" marL="0">
              <a:buNone/>
            </a:pPr>
            <a:r>
              <a:rPr lang="en-US" sz="5400" b="1" dirty="0">
                <a:solidFill>
                  <a:srgbClr val="F0F6FC"/>
                </a:solidFill>
                <a:latin typeface="Calibri" pitchFamily="34" charset="0"/>
                <a:ea typeface="Calibri" pitchFamily="34" charset="-122"/>
                <a:cs typeface="Calibri" pitchFamily="34" charset="-120"/>
              </a:rPr>
              <a:t>Programming Basics</a:t>
            </a:r>
            <a:endParaRPr lang="en-US" sz="5400" dirty="0"/>
          </a:p>
        </p:txBody>
      </p:sp>
      <p:sp>
        <p:nvSpPr>
          <p:cNvPr id="4" name="Text 2"/>
          <p:cNvSpPr txBox="1"/>
          <p:nvPr/>
        </p:nvSpPr>
        <p:spPr>
          <a:xfrm>
            <a:off x="731520" y="3063240"/>
            <a:ext cx="6035040" cy="731520"/>
          </a:xfrm>
          <a:prstGeom prst="rect">
            <a:avLst/>
          </a:prstGeom>
          <a:noFill/>
          <a:ln/>
        </p:spPr>
        <p:txBody>
          <a:bodyPr wrap="square" lIns="0" tIns="0" rIns="0" bIns="0" rtlCol="0" anchor="t"/>
          <a:lstStyle/>
          <a:p>
            <a:pPr indent="0" marL="0">
              <a:buNone/>
            </a:pPr>
            <a:r>
              <a:rPr lang="en-US" sz="2000" dirty="0">
                <a:solidFill>
                  <a:srgbClr val="ADBAC7"/>
                </a:solidFill>
                <a:latin typeface="Calibri" pitchFamily="34" charset="0"/>
                <a:ea typeface="Calibri" pitchFamily="34" charset="-122"/>
                <a:cs typeface="Calibri" pitchFamily="34" charset="-120"/>
              </a:rPr>
              <a:t>Stage 00 · Turning a problem into a precise solution before writing C++</a:t>
            </a:r>
            <a:endParaRPr lang="en-US" sz="2000" dirty="0"/>
          </a:p>
        </p:txBody>
      </p:sp>
      <p:sp>
        <p:nvSpPr>
          <p:cNvPr id="5" name="Text 3"/>
          <p:cNvSpPr txBox="1"/>
          <p:nvPr/>
        </p:nvSpPr>
        <p:spPr>
          <a:xfrm>
            <a:off x="731520" y="4069080"/>
            <a:ext cx="4572000" cy="365760"/>
          </a:xfrm>
          <a:prstGeom prst="rect">
            <a:avLst/>
          </a:prstGeom>
          <a:noFill/>
          <a:ln/>
        </p:spPr>
        <p:txBody>
          <a:bodyPr wrap="square" lIns="0" tIns="0" rIns="0" bIns="0" rtlCol="0" anchor="t"/>
          <a:lstStyle/>
          <a:p>
            <a:pPr indent="0" marL="0">
              <a:buNone/>
            </a:pPr>
            <a:r>
              <a:rPr lang="en-US" sz="1600" b="1" dirty="0">
                <a:solidFill>
                  <a:srgbClr val="58A6FF"/>
                </a:solidFill>
                <a:latin typeface="Calibri" pitchFamily="34" charset="0"/>
                <a:ea typeface="Calibri" pitchFamily="34" charset="-122"/>
                <a:cs typeface="Calibri" pitchFamily="34" charset="-120"/>
              </a:rPr>
              <a:t>15 topics · 4 parts</a:t>
            </a:r>
            <a:endParaRPr lang="en-US" sz="1600" dirty="0"/>
          </a:p>
        </p:txBody>
      </p:sp>
      <p:sp>
        <p:nvSpPr>
          <p:cNvPr id="6" name="Shape 4"/>
          <p:cNvSpPr/>
          <p:nvPr/>
        </p:nvSpPr>
        <p:spPr>
          <a:xfrm>
            <a:off x="8503920" y="1325880"/>
            <a:ext cx="2651760" cy="658368"/>
          </a:xfrm>
          <a:prstGeom prst="roundRect">
            <a:avLst>
              <a:gd name="adj" fmla="val 13889"/>
            </a:avLst>
          </a:prstGeom>
          <a:solidFill>
            <a:srgbClr val="161B22"/>
          </a:solidFill>
          <a:ln w="12700">
            <a:solidFill>
              <a:srgbClr val="30363D"/>
            </a:solidFill>
            <a:prstDash val="solid"/>
          </a:ln>
        </p:spPr>
      </p:sp>
      <p:sp>
        <p:nvSpPr>
          <p:cNvPr id="7" name="Text 5"/>
          <p:cNvSpPr txBox="1"/>
          <p:nvPr/>
        </p:nvSpPr>
        <p:spPr>
          <a:xfrm>
            <a:off x="8577072" y="1325880"/>
            <a:ext cx="2505456" cy="658368"/>
          </a:xfrm>
          <a:prstGeom prst="rect">
            <a:avLst/>
          </a:prstGeom>
          <a:noFill/>
          <a:ln/>
        </p:spPr>
        <p:txBody>
          <a:bodyPr wrap="square" lIns="0" tIns="0" rIns="0" bIns="0" rtlCol="0" anchor="ctr"/>
          <a:lstStyle/>
          <a:p>
            <a:pPr algn="ctr" indent="0" marL="0">
              <a:buNone/>
            </a:pPr>
            <a:r>
              <a:rPr lang="en-US" sz="1800" b="1" dirty="0">
                <a:solidFill>
                  <a:srgbClr val="E6EDF3"/>
                </a:solidFill>
                <a:latin typeface="Calibri" pitchFamily="34" charset="0"/>
                <a:ea typeface="Calibri" pitchFamily="34" charset="-122"/>
                <a:cs typeface="Calibri" pitchFamily="34" charset="-120"/>
              </a:rPr>
              <a:t>Problem</a:t>
            </a:r>
            <a:endParaRPr lang="en-US" sz="1800" dirty="0"/>
          </a:p>
        </p:txBody>
      </p:sp>
      <p:sp>
        <p:nvSpPr>
          <p:cNvPr id="8" name="Shape 6"/>
          <p:cNvSpPr/>
          <p:nvPr/>
        </p:nvSpPr>
        <p:spPr>
          <a:xfrm>
            <a:off x="9829800" y="2002536"/>
            <a:ext cx="0" cy="402336"/>
          </a:xfrm>
          <a:prstGeom prst="line">
            <a:avLst/>
          </a:prstGeom>
          <a:noFill/>
          <a:ln w="22225">
            <a:solidFill>
              <a:srgbClr val="8B949E"/>
            </a:solidFill>
            <a:prstDash val="solid"/>
            <a:tailEnd type="triangle"/>
          </a:ln>
        </p:spPr>
      </p:sp>
      <p:sp>
        <p:nvSpPr>
          <p:cNvPr id="9" name="Shape 7"/>
          <p:cNvSpPr/>
          <p:nvPr/>
        </p:nvSpPr>
        <p:spPr>
          <a:xfrm>
            <a:off x="8503920" y="2423160"/>
            <a:ext cx="2651760" cy="658368"/>
          </a:xfrm>
          <a:prstGeom prst="roundRect">
            <a:avLst>
              <a:gd name="adj" fmla="val 13889"/>
            </a:avLst>
          </a:prstGeom>
          <a:solidFill>
            <a:srgbClr val="161B22"/>
          </a:solidFill>
          <a:ln w="12700">
            <a:solidFill>
              <a:srgbClr val="58A6FF"/>
            </a:solidFill>
            <a:prstDash val="solid"/>
          </a:ln>
        </p:spPr>
      </p:sp>
      <p:sp>
        <p:nvSpPr>
          <p:cNvPr id="10" name="Text 8"/>
          <p:cNvSpPr txBox="1"/>
          <p:nvPr/>
        </p:nvSpPr>
        <p:spPr>
          <a:xfrm>
            <a:off x="8577072" y="2423160"/>
            <a:ext cx="2505456" cy="658368"/>
          </a:xfrm>
          <a:prstGeom prst="rect">
            <a:avLst/>
          </a:prstGeom>
          <a:noFill/>
          <a:ln/>
        </p:spPr>
        <p:txBody>
          <a:bodyPr wrap="square" lIns="0" tIns="0" rIns="0" bIns="0" rtlCol="0" anchor="ctr"/>
          <a:lstStyle/>
          <a:p>
            <a:pPr algn="ctr" indent="0" marL="0">
              <a:buNone/>
            </a:pPr>
            <a:r>
              <a:rPr lang="en-US" sz="1800" b="1" dirty="0">
                <a:solidFill>
                  <a:srgbClr val="E6EDF3"/>
                </a:solidFill>
                <a:latin typeface="Calibri" pitchFamily="34" charset="0"/>
                <a:ea typeface="Calibri" pitchFamily="34" charset="-122"/>
                <a:cs typeface="Calibri" pitchFamily="34" charset="-120"/>
              </a:rPr>
              <a:t>Algorithm</a:t>
            </a:r>
            <a:endParaRPr lang="en-US" sz="1800" dirty="0"/>
          </a:p>
        </p:txBody>
      </p:sp>
      <p:sp>
        <p:nvSpPr>
          <p:cNvPr id="11" name="Shape 9"/>
          <p:cNvSpPr/>
          <p:nvPr/>
        </p:nvSpPr>
        <p:spPr>
          <a:xfrm>
            <a:off x="9829800" y="3099816"/>
            <a:ext cx="0" cy="402336"/>
          </a:xfrm>
          <a:prstGeom prst="line">
            <a:avLst/>
          </a:prstGeom>
          <a:noFill/>
          <a:ln w="22225">
            <a:solidFill>
              <a:srgbClr val="8B949E"/>
            </a:solidFill>
            <a:prstDash val="solid"/>
            <a:tailEnd type="triangle"/>
          </a:ln>
        </p:spPr>
      </p:sp>
      <p:sp>
        <p:nvSpPr>
          <p:cNvPr id="12" name="Shape 10"/>
          <p:cNvSpPr/>
          <p:nvPr/>
        </p:nvSpPr>
        <p:spPr>
          <a:xfrm>
            <a:off x="8503920" y="3520440"/>
            <a:ext cx="2651760" cy="658368"/>
          </a:xfrm>
          <a:prstGeom prst="roundRect">
            <a:avLst>
              <a:gd name="adj" fmla="val 13889"/>
            </a:avLst>
          </a:prstGeom>
          <a:solidFill>
            <a:srgbClr val="161B22"/>
          </a:solidFill>
          <a:ln w="12700">
            <a:solidFill>
              <a:srgbClr val="30363D"/>
            </a:solidFill>
            <a:prstDash val="solid"/>
          </a:ln>
        </p:spPr>
      </p:sp>
      <p:sp>
        <p:nvSpPr>
          <p:cNvPr id="13" name="Text 11"/>
          <p:cNvSpPr txBox="1"/>
          <p:nvPr/>
        </p:nvSpPr>
        <p:spPr>
          <a:xfrm>
            <a:off x="8577072" y="3520440"/>
            <a:ext cx="2505456" cy="658368"/>
          </a:xfrm>
          <a:prstGeom prst="rect">
            <a:avLst/>
          </a:prstGeom>
          <a:noFill/>
          <a:ln/>
        </p:spPr>
        <p:txBody>
          <a:bodyPr wrap="square" lIns="0" tIns="0" rIns="0" bIns="0" rtlCol="0" anchor="ctr"/>
          <a:lstStyle/>
          <a:p>
            <a:pPr algn="ctr" indent="0" marL="0">
              <a:buNone/>
            </a:pPr>
            <a:r>
              <a:rPr lang="en-US" sz="1800" b="1" dirty="0">
                <a:solidFill>
                  <a:srgbClr val="E6EDF3"/>
                </a:solidFill>
                <a:latin typeface="Calibri" pitchFamily="34" charset="0"/>
                <a:ea typeface="Calibri" pitchFamily="34" charset="-122"/>
                <a:cs typeface="Calibri" pitchFamily="34" charset="-120"/>
              </a:rPr>
              <a:t>Program</a:t>
            </a:r>
            <a:endParaRPr lang="en-US" sz="1800" dirty="0"/>
          </a:p>
        </p:txBody>
      </p:sp>
      <p:sp>
        <p:nvSpPr>
          <p:cNvPr id="14" name="Shape 12"/>
          <p:cNvSpPr/>
          <p:nvPr/>
        </p:nvSpPr>
        <p:spPr>
          <a:xfrm>
            <a:off x="9829800" y="4197096"/>
            <a:ext cx="0" cy="402336"/>
          </a:xfrm>
          <a:prstGeom prst="line">
            <a:avLst/>
          </a:prstGeom>
          <a:noFill/>
          <a:ln w="22225">
            <a:solidFill>
              <a:srgbClr val="8B949E"/>
            </a:solidFill>
            <a:prstDash val="solid"/>
            <a:tailEnd type="triangle"/>
          </a:ln>
        </p:spPr>
      </p:sp>
      <p:sp>
        <p:nvSpPr>
          <p:cNvPr id="15" name="Shape 13"/>
          <p:cNvSpPr/>
          <p:nvPr/>
        </p:nvSpPr>
        <p:spPr>
          <a:xfrm>
            <a:off x="8503920" y="4617720"/>
            <a:ext cx="2651760" cy="658368"/>
          </a:xfrm>
          <a:prstGeom prst="roundRect">
            <a:avLst>
              <a:gd name="adj" fmla="val 13889"/>
            </a:avLst>
          </a:prstGeom>
          <a:solidFill>
            <a:srgbClr val="12261A"/>
          </a:solidFill>
          <a:ln w="12700">
            <a:solidFill>
              <a:srgbClr val="3FB950"/>
            </a:solidFill>
            <a:prstDash val="solid"/>
          </a:ln>
        </p:spPr>
      </p:sp>
      <p:sp>
        <p:nvSpPr>
          <p:cNvPr id="16" name="Text 14"/>
          <p:cNvSpPr txBox="1"/>
          <p:nvPr/>
        </p:nvSpPr>
        <p:spPr>
          <a:xfrm>
            <a:off x="8577072" y="4617720"/>
            <a:ext cx="2505456" cy="658368"/>
          </a:xfrm>
          <a:prstGeom prst="rect">
            <a:avLst/>
          </a:prstGeom>
          <a:noFill/>
          <a:ln/>
        </p:spPr>
        <p:txBody>
          <a:bodyPr wrap="square" lIns="0" tIns="0" rIns="0" bIns="0" rtlCol="0" anchor="ctr"/>
          <a:lstStyle/>
          <a:p>
            <a:pPr algn="ctr" indent="0" marL="0">
              <a:buNone/>
            </a:pPr>
            <a:r>
              <a:rPr lang="en-US" sz="1800" b="1" dirty="0">
                <a:solidFill>
                  <a:srgbClr val="E6EDF3"/>
                </a:solidFill>
                <a:latin typeface="Calibri" pitchFamily="34" charset="0"/>
                <a:ea typeface="Calibri" pitchFamily="34" charset="-122"/>
                <a:cs typeface="Calibri" pitchFamily="34" charset="-120"/>
              </a:rPr>
              <a:t>Result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Map</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The stage at a glance</a:t>
            </a:r>
            <a:endParaRPr lang="en-US" sz="3400" dirty="0"/>
          </a:p>
        </p:txBody>
      </p:sp>
      <p:sp>
        <p:nvSpPr>
          <p:cNvPr id="5" name="Shape 2"/>
          <p:cNvSpPr/>
          <p:nvPr/>
        </p:nvSpPr>
        <p:spPr>
          <a:xfrm>
            <a:off x="548640" y="1554480"/>
            <a:ext cx="2606040" cy="3566160"/>
          </a:xfrm>
          <a:prstGeom prst="roundRect">
            <a:avLst>
              <a:gd name="adj" fmla="val 3509"/>
            </a:avLst>
          </a:prstGeom>
          <a:solidFill>
            <a:srgbClr val="161B22"/>
          </a:solidFill>
          <a:ln w="12700">
            <a:solidFill>
              <a:srgbClr val="30363D"/>
            </a:solidFill>
            <a:prstDash val="solid"/>
          </a:ln>
        </p:spPr>
      </p:sp>
      <p:sp>
        <p:nvSpPr>
          <p:cNvPr id="6" name="Shape 3"/>
          <p:cNvSpPr/>
          <p:nvPr/>
        </p:nvSpPr>
        <p:spPr>
          <a:xfrm>
            <a:off x="822960" y="1828800"/>
            <a:ext cx="384048" cy="384048"/>
          </a:xfrm>
          <a:prstGeom prst="ellipse">
            <a:avLst/>
          </a:prstGeom>
          <a:solidFill>
            <a:srgbClr val="58A6FF"/>
          </a:solidFill>
          <a:ln w="12700">
            <a:solidFill>
              <a:srgbClr val="58A6FF"/>
            </a:solidFill>
            <a:prstDash val="solid"/>
          </a:ln>
        </p:spPr>
      </p:sp>
      <p:sp>
        <p:nvSpPr>
          <p:cNvPr id="7" name="Text 4"/>
          <p:cNvSpPr txBox="1"/>
          <p:nvPr/>
        </p:nvSpPr>
        <p:spPr>
          <a:xfrm>
            <a:off x="822960" y="1828800"/>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822960" y="2377440"/>
            <a:ext cx="2194560" cy="457200"/>
          </a:xfrm>
          <a:prstGeom prst="rect">
            <a:avLst/>
          </a:prstGeom>
          <a:noFill/>
          <a:ln/>
        </p:spPr>
        <p:txBody>
          <a:bodyPr wrap="square" lIns="0" tIns="0" rIns="0" bIns="0" rtlCol="0" anchor="t"/>
          <a:lstStyle/>
          <a:p>
            <a:pPr indent="0" marL="0">
              <a:buNone/>
            </a:pPr>
            <a:r>
              <a:rPr lang="en-US" sz="1900" b="1" dirty="0">
                <a:solidFill>
                  <a:srgbClr val="E6EDF3"/>
                </a:solidFill>
                <a:latin typeface="Calibri" pitchFamily="34" charset="0"/>
                <a:ea typeface="Calibri" pitchFamily="34" charset="-122"/>
                <a:cs typeface="Calibri" pitchFamily="34" charset="-120"/>
              </a:rPr>
              <a:t>Foundations</a:t>
            </a:r>
            <a:endParaRPr lang="en-US" sz="1900" dirty="0"/>
          </a:p>
        </p:txBody>
      </p:sp>
      <p:sp>
        <p:nvSpPr>
          <p:cNvPr id="9" name="Text 6"/>
          <p:cNvSpPr txBox="1"/>
          <p:nvPr/>
        </p:nvSpPr>
        <p:spPr>
          <a:xfrm>
            <a:off x="822960" y="2971800"/>
            <a:ext cx="2194560" cy="2834640"/>
          </a:xfrm>
          <a:prstGeom prst="rect">
            <a:avLst/>
          </a:prstGeom>
          <a:noFill/>
          <a:ln/>
        </p:spPr>
        <p:txBody>
          <a:bodyPr wrap="square" lIns="0" tIns="0" rIns="0" bIns="0" rtlCol="0" anchor="t"/>
          <a:lstStyle/>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01 What is programming?</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02 What is a program?</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03 What is an algorithm?</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04 Input → Processing → Output</a:t>
            </a:r>
            <a:endParaRPr lang="en-US" sz="1500" dirty="0"/>
          </a:p>
        </p:txBody>
      </p:sp>
      <p:sp>
        <p:nvSpPr>
          <p:cNvPr id="10" name="Shape 7"/>
          <p:cNvSpPr/>
          <p:nvPr/>
        </p:nvSpPr>
        <p:spPr>
          <a:xfrm>
            <a:off x="3383280" y="1554480"/>
            <a:ext cx="2606040" cy="3566160"/>
          </a:xfrm>
          <a:prstGeom prst="roundRect">
            <a:avLst>
              <a:gd name="adj" fmla="val 3509"/>
            </a:avLst>
          </a:prstGeom>
          <a:solidFill>
            <a:srgbClr val="161B22"/>
          </a:solidFill>
          <a:ln w="12700">
            <a:solidFill>
              <a:srgbClr val="30363D"/>
            </a:solidFill>
            <a:prstDash val="solid"/>
          </a:ln>
        </p:spPr>
      </p:sp>
      <p:sp>
        <p:nvSpPr>
          <p:cNvPr id="11" name="Shape 8"/>
          <p:cNvSpPr/>
          <p:nvPr/>
        </p:nvSpPr>
        <p:spPr>
          <a:xfrm>
            <a:off x="3657600" y="1828800"/>
            <a:ext cx="384048" cy="384048"/>
          </a:xfrm>
          <a:prstGeom prst="ellipse">
            <a:avLst/>
          </a:prstGeom>
          <a:solidFill>
            <a:srgbClr val="D2A8FF"/>
          </a:solidFill>
          <a:ln w="12700">
            <a:solidFill>
              <a:srgbClr val="D2A8FF"/>
            </a:solidFill>
            <a:prstDash val="solid"/>
          </a:ln>
        </p:spPr>
      </p:sp>
      <p:sp>
        <p:nvSpPr>
          <p:cNvPr id="12" name="Text 9"/>
          <p:cNvSpPr txBox="1"/>
          <p:nvPr/>
        </p:nvSpPr>
        <p:spPr>
          <a:xfrm>
            <a:off x="3657600" y="1828800"/>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3657600" y="2377440"/>
            <a:ext cx="2194560" cy="457200"/>
          </a:xfrm>
          <a:prstGeom prst="rect">
            <a:avLst/>
          </a:prstGeom>
          <a:noFill/>
          <a:ln/>
        </p:spPr>
        <p:txBody>
          <a:bodyPr wrap="square" lIns="0" tIns="0" rIns="0" bIns="0" rtlCol="0" anchor="t"/>
          <a:lstStyle/>
          <a:p>
            <a:pPr indent="0" marL="0">
              <a:buNone/>
            </a:pPr>
            <a:r>
              <a:rPr lang="en-US" sz="1900" b="1" dirty="0">
                <a:solidFill>
                  <a:srgbClr val="E6EDF3"/>
                </a:solidFill>
                <a:latin typeface="Calibri" pitchFamily="34" charset="0"/>
                <a:ea typeface="Calibri" pitchFamily="34" charset="-122"/>
                <a:cs typeface="Calibri" pitchFamily="34" charset="-120"/>
              </a:rPr>
              <a:t>Building blocks</a:t>
            </a:r>
            <a:endParaRPr lang="en-US" sz="1900" dirty="0"/>
          </a:p>
        </p:txBody>
      </p:sp>
      <p:sp>
        <p:nvSpPr>
          <p:cNvPr id="14" name="Text 11"/>
          <p:cNvSpPr txBox="1"/>
          <p:nvPr/>
        </p:nvSpPr>
        <p:spPr>
          <a:xfrm>
            <a:off x="3657600" y="2971800"/>
            <a:ext cx="2194560" cy="2834640"/>
          </a:xfrm>
          <a:prstGeom prst="rect">
            <a:avLst/>
          </a:prstGeom>
          <a:noFill/>
          <a:ln/>
        </p:spPr>
        <p:txBody>
          <a:bodyPr wrap="square" lIns="0" tIns="0" rIns="0" bIns="0" rtlCol="0" anchor="t"/>
          <a:lstStyle/>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05 Variables as stored state</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06 Data and operations</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07 Expressions</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08 Statements</a:t>
            </a:r>
            <a:endParaRPr lang="en-US" sz="1500" dirty="0"/>
          </a:p>
        </p:txBody>
      </p:sp>
      <p:sp>
        <p:nvSpPr>
          <p:cNvPr id="15" name="Shape 12"/>
          <p:cNvSpPr/>
          <p:nvPr/>
        </p:nvSpPr>
        <p:spPr>
          <a:xfrm>
            <a:off x="6217920" y="1554480"/>
            <a:ext cx="2606040" cy="3566160"/>
          </a:xfrm>
          <a:prstGeom prst="roundRect">
            <a:avLst>
              <a:gd name="adj" fmla="val 3509"/>
            </a:avLst>
          </a:prstGeom>
          <a:solidFill>
            <a:srgbClr val="161B22"/>
          </a:solidFill>
          <a:ln w="12700">
            <a:solidFill>
              <a:srgbClr val="30363D"/>
            </a:solidFill>
            <a:prstDash val="solid"/>
          </a:ln>
        </p:spPr>
      </p:sp>
      <p:sp>
        <p:nvSpPr>
          <p:cNvPr id="16" name="Shape 13"/>
          <p:cNvSpPr/>
          <p:nvPr/>
        </p:nvSpPr>
        <p:spPr>
          <a:xfrm>
            <a:off x="6492240" y="1828800"/>
            <a:ext cx="384048" cy="384048"/>
          </a:xfrm>
          <a:prstGeom prst="ellipse">
            <a:avLst/>
          </a:prstGeom>
          <a:solidFill>
            <a:srgbClr val="E3B341"/>
          </a:solidFill>
          <a:ln w="12700">
            <a:solidFill>
              <a:srgbClr val="E3B341"/>
            </a:solidFill>
            <a:prstDash val="solid"/>
          </a:ln>
        </p:spPr>
      </p:sp>
      <p:sp>
        <p:nvSpPr>
          <p:cNvPr id="17" name="Text 14"/>
          <p:cNvSpPr txBox="1"/>
          <p:nvPr/>
        </p:nvSpPr>
        <p:spPr>
          <a:xfrm>
            <a:off x="6492240" y="1828800"/>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6492240" y="2377440"/>
            <a:ext cx="2194560" cy="457200"/>
          </a:xfrm>
          <a:prstGeom prst="rect">
            <a:avLst/>
          </a:prstGeom>
          <a:noFill/>
          <a:ln/>
        </p:spPr>
        <p:txBody>
          <a:bodyPr wrap="square" lIns="0" tIns="0" rIns="0" bIns="0" rtlCol="0" anchor="t"/>
          <a:lstStyle/>
          <a:p>
            <a:pPr indent="0" marL="0">
              <a:buNone/>
            </a:pPr>
            <a:r>
              <a:rPr lang="en-US" sz="1900" b="1" dirty="0">
                <a:solidFill>
                  <a:srgbClr val="E6EDF3"/>
                </a:solidFill>
                <a:latin typeface="Calibri" pitchFamily="34" charset="0"/>
                <a:ea typeface="Calibri" pitchFamily="34" charset="-122"/>
                <a:cs typeface="Calibri" pitchFamily="34" charset="-120"/>
              </a:rPr>
              <a:t>Controlling the flow</a:t>
            </a:r>
            <a:endParaRPr lang="en-US" sz="1900" dirty="0"/>
          </a:p>
        </p:txBody>
      </p:sp>
      <p:sp>
        <p:nvSpPr>
          <p:cNvPr id="19" name="Text 16"/>
          <p:cNvSpPr txBox="1"/>
          <p:nvPr/>
        </p:nvSpPr>
        <p:spPr>
          <a:xfrm>
            <a:off x="6492240" y="2971800"/>
            <a:ext cx="2194560" cy="2834640"/>
          </a:xfrm>
          <a:prstGeom prst="rect">
            <a:avLst/>
          </a:prstGeom>
          <a:noFill/>
          <a:ln/>
        </p:spPr>
        <p:txBody>
          <a:bodyPr wrap="square" lIns="0" tIns="0" rIns="0" bIns="0" rtlCol="0" anchor="t"/>
          <a:lstStyle/>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09 Conditions</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10 Repetition</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11 Functions as reusable logic</a:t>
            </a:r>
            <a:endParaRPr lang="en-US" sz="1500" dirty="0"/>
          </a:p>
        </p:txBody>
      </p:sp>
      <p:sp>
        <p:nvSpPr>
          <p:cNvPr id="20" name="Shape 17"/>
          <p:cNvSpPr/>
          <p:nvPr/>
        </p:nvSpPr>
        <p:spPr>
          <a:xfrm>
            <a:off x="9052560" y="1554480"/>
            <a:ext cx="2606040" cy="3566160"/>
          </a:xfrm>
          <a:prstGeom prst="roundRect">
            <a:avLst>
              <a:gd name="adj" fmla="val 3509"/>
            </a:avLst>
          </a:prstGeom>
          <a:solidFill>
            <a:srgbClr val="161B22"/>
          </a:solidFill>
          <a:ln w="12700">
            <a:solidFill>
              <a:srgbClr val="30363D"/>
            </a:solidFill>
            <a:prstDash val="solid"/>
          </a:ln>
        </p:spPr>
      </p:sp>
      <p:sp>
        <p:nvSpPr>
          <p:cNvPr id="21" name="Shape 18"/>
          <p:cNvSpPr/>
          <p:nvPr/>
        </p:nvSpPr>
        <p:spPr>
          <a:xfrm>
            <a:off x="9326880" y="1828800"/>
            <a:ext cx="384048" cy="384048"/>
          </a:xfrm>
          <a:prstGeom prst="ellipse">
            <a:avLst/>
          </a:prstGeom>
          <a:solidFill>
            <a:srgbClr val="3FB950"/>
          </a:solidFill>
          <a:ln w="12700">
            <a:solidFill>
              <a:srgbClr val="3FB950"/>
            </a:solidFill>
            <a:prstDash val="solid"/>
          </a:ln>
        </p:spPr>
      </p:sp>
      <p:sp>
        <p:nvSpPr>
          <p:cNvPr id="22" name="Text 19"/>
          <p:cNvSpPr txBox="1"/>
          <p:nvPr/>
        </p:nvSpPr>
        <p:spPr>
          <a:xfrm>
            <a:off x="9326880" y="1828800"/>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latin typeface="Calibri" pitchFamily="34" charset="0"/>
                <a:ea typeface="Calibri" pitchFamily="34" charset="-122"/>
                <a:cs typeface="Calibri" pitchFamily="34" charset="-120"/>
              </a:rPr>
              <a:t>4</a:t>
            </a:r>
            <a:endParaRPr lang="en-US" sz="1600" dirty="0"/>
          </a:p>
        </p:txBody>
      </p:sp>
      <p:sp>
        <p:nvSpPr>
          <p:cNvPr id="23" name="Text 20"/>
          <p:cNvSpPr txBox="1"/>
          <p:nvPr/>
        </p:nvSpPr>
        <p:spPr>
          <a:xfrm>
            <a:off x="9326880" y="2377440"/>
            <a:ext cx="2194560" cy="457200"/>
          </a:xfrm>
          <a:prstGeom prst="rect">
            <a:avLst/>
          </a:prstGeom>
          <a:noFill/>
          <a:ln/>
        </p:spPr>
        <p:txBody>
          <a:bodyPr wrap="square" lIns="0" tIns="0" rIns="0" bIns="0" rtlCol="0" anchor="t"/>
          <a:lstStyle/>
          <a:p>
            <a:pPr indent="0" marL="0">
              <a:buNone/>
            </a:pPr>
            <a:r>
              <a:rPr lang="en-US" sz="1900" b="1" dirty="0">
                <a:solidFill>
                  <a:srgbClr val="E6EDF3"/>
                </a:solidFill>
                <a:latin typeface="Calibri" pitchFamily="34" charset="0"/>
                <a:ea typeface="Calibri" pitchFamily="34" charset="-122"/>
                <a:cs typeface="Calibri" pitchFamily="34" charset="-120"/>
              </a:rPr>
              <a:t>Designing solutions</a:t>
            </a:r>
            <a:endParaRPr lang="en-US" sz="1900" dirty="0"/>
          </a:p>
        </p:txBody>
      </p:sp>
      <p:sp>
        <p:nvSpPr>
          <p:cNvPr id="24" name="Text 21"/>
          <p:cNvSpPr txBox="1"/>
          <p:nvPr/>
        </p:nvSpPr>
        <p:spPr>
          <a:xfrm>
            <a:off x="9326880" y="2971800"/>
            <a:ext cx="2194560" cy="2834640"/>
          </a:xfrm>
          <a:prstGeom prst="rect">
            <a:avLst/>
          </a:prstGeom>
          <a:noFill/>
          <a:ln/>
        </p:spPr>
        <p:txBody>
          <a:bodyPr wrap="square" lIns="0" tIns="0" rIns="0" bIns="0" rtlCol="0" anchor="t"/>
          <a:lstStyle/>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12 Decomposition</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13 Pseudocode</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14 Flowcharts</a:t>
            </a:r>
            <a:endParaRPr lang="en-US" sz="1500" dirty="0"/>
          </a:p>
          <a:p>
            <a:pPr indent="0" marL="0">
              <a:spcAft>
                <a:spcPts val="1000"/>
              </a:spcAft>
              <a:buNone/>
            </a:pPr>
            <a:r>
              <a:rPr lang="en-US" sz="1500" dirty="0">
                <a:solidFill>
                  <a:srgbClr val="ADBAC7"/>
                </a:solidFill>
                <a:latin typeface="Calibri" pitchFamily="34" charset="0"/>
                <a:ea typeface="Calibri" pitchFamily="34" charset="-122"/>
                <a:cs typeface="Calibri" pitchFamily="34" charset="-120"/>
              </a:rPr>
              <a:t>15 Problem-solving review</a:t>
            </a:r>
            <a:endParaRPr lang="en-US" sz="1500" dirty="0"/>
          </a:p>
        </p:txBody>
      </p:sp>
      <p:sp>
        <p:nvSpPr>
          <p:cNvPr id="25" name="Text 2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6" name="Text 23"/>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01</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What is programming?</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Solving a problem by designing precise instructions and expressing them in a language a computer can execute.</a:t>
            </a:r>
            <a:endParaRPr lang="en-US" sz="1800" dirty="0"/>
          </a:p>
        </p:txBody>
      </p:sp>
      <p:sp>
        <p:nvSpPr>
          <p:cNvPr id="7" name="Shape 4"/>
          <p:cNvSpPr/>
          <p:nvPr/>
        </p:nvSpPr>
        <p:spPr>
          <a:xfrm>
            <a:off x="548640" y="2788920"/>
            <a:ext cx="1572768" cy="731520"/>
          </a:xfrm>
          <a:prstGeom prst="roundRect">
            <a:avLst>
              <a:gd name="adj" fmla="val 12500"/>
            </a:avLst>
          </a:prstGeom>
          <a:solidFill>
            <a:srgbClr val="161B22"/>
          </a:solidFill>
          <a:ln w="12700">
            <a:solidFill>
              <a:srgbClr val="30363D"/>
            </a:solidFill>
            <a:prstDash val="solid"/>
          </a:ln>
        </p:spPr>
      </p:sp>
      <p:sp>
        <p:nvSpPr>
          <p:cNvPr id="8" name="Text 5"/>
          <p:cNvSpPr txBox="1"/>
          <p:nvPr/>
        </p:nvSpPr>
        <p:spPr>
          <a:xfrm>
            <a:off x="621792"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Understand</a:t>
            </a:r>
            <a:endParaRPr lang="en-US" sz="1600" dirty="0"/>
          </a:p>
        </p:txBody>
      </p:sp>
      <p:sp>
        <p:nvSpPr>
          <p:cNvPr id="9" name="Shape 6"/>
          <p:cNvSpPr/>
          <p:nvPr/>
        </p:nvSpPr>
        <p:spPr>
          <a:xfrm>
            <a:off x="2157984" y="3154680"/>
            <a:ext cx="256032" cy="0"/>
          </a:xfrm>
          <a:prstGeom prst="line">
            <a:avLst/>
          </a:prstGeom>
          <a:noFill/>
          <a:ln w="22225">
            <a:solidFill>
              <a:srgbClr val="8B949E"/>
            </a:solidFill>
            <a:prstDash val="solid"/>
            <a:tailEnd type="triangle"/>
          </a:ln>
        </p:spPr>
      </p:sp>
      <p:sp>
        <p:nvSpPr>
          <p:cNvPr id="10" name="Shape 7"/>
          <p:cNvSpPr/>
          <p:nvPr/>
        </p:nvSpPr>
        <p:spPr>
          <a:xfrm>
            <a:off x="2450592" y="2788920"/>
            <a:ext cx="1572768" cy="731520"/>
          </a:xfrm>
          <a:prstGeom prst="roundRect">
            <a:avLst>
              <a:gd name="adj" fmla="val 12500"/>
            </a:avLst>
          </a:prstGeom>
          <a:solidFill>
            <a:srgbClr val="161B22"/>
          </a:solidFill>
          <a:ln w="12700">
            <a:solidFill>
              <a:srgbClr val="30363D"/>
            </a:solidFill>
            <a:prstDash val="solid"/>
          </a:ln>
        </p:spPr>
      </p:sp>
      <p:sp>
        <p:nvSpPr>
          <p:cNvPr id="11" name="Text 8"/>
          <p:cNvSpPr txBox="1"/>
          <p:nvPr/>
        </p:nvSpPr>
        <p:spPr>
          <a:xfrm>
            <a:off x="2523744"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Design</a:t>
            </a:r>
            <a:endParaRPr lang="en-US" sz="1600" dirty="0"/>
          </a:p>
        </p:txBody>
      </p:sp>
      <p:sp>
        <p:nvSpPr>
          <p:cNvPr id="12" name="Shape 9"/>
          <p:cNvSpPr/>
          <p:nvPr/>
        </p:nvSpPr>
        <p:spPr>
          <a:xfrm>
            <a:off x="4059936" y="3154680"/>
            <a:ext cx="256032" cy="0"/>
          </a:xfrm>
          <a:prstGeom prst="line">
            <a:avLst/>
          </a:prstGeom>
          <a:noFill/>
          <a:ln w="22225">
            <a:solidFill>
              <a:srgbClr val="8B949E"/>
            </a:solidFill>
            <a:prstDash val="solid"/>
            <a:tailEnd type="triangle"/>
          </a:ln>
        </p:spPr>
      </p:sp>
      <p:sp>
        <p:nvSpPr>
          <p:cNvPr id="13" name="Shape 10"/>
          <p:cNvSpPr/>
          <p:nvPr/>
        </p:nvSpPr>
        <p:spPr>
          <a:xfrm>
            <a:off x="4352544" y="2788920"/>
            <a:ext cx="1572768" cy="731520"/>
          </a:xfrm>
          <a:prstGeom prst="roundRect">
            <a:avLst>
              <a:gd name="adj" fmla="val 12500"/>
            </a:avLst>
          </a:prstGeom>
          <a:solidFill>
            <a:srgbClr val="161B22"/>
          </a:solidFill>
          <a:ln w="12700">
            <a:solidFill>
              <a:srgbClr val="30363D"/>
            </a:solidFill>
            <a:prstDash val="solid"/>
          </a:ln>
        </p:spPr>
      </p:sp>
      <p:sp>
        <p:nvSpPr>
          <p:cNvPr id="14" name="Text 11"/>
          <p:cNvSpPr txBox="1"/>
          <p:nvPr/>
        </p:nvSpPr>
        <p:spPr>
          <a:xfrm>
            <a:off x="4425696"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Write code</a:t>
            </a:r>
            <a:endParaRPr lang="en-US" sz="1600" dirty="0"/>
          </a:p>
        </p:txBody>
      </p:sp>
      <p:sp>
        <p:nvSpPr>
          <p:cNvPr id="15" name="Shape 12"/>
          <p:cNvSpPr/>
          <p:nvPr/>
        </p:nvSpPr>
        <p:spPr>
          <a:xfrm>
            <a:off x="5961888" y="3154680"/>
            <a:ext cx="256032" cy="0"/>
          </a:xfrm>
          <a:prstGeom prst="line">
            <a:avLst/>
          </a:prstGeom>
          <a:noFill/>
          <a:ln w="22225">
            <a:solidFill>
              <a:srgbClr val="8B949E"/>
            </a:solidFill>
            <a:prstDash val="solid"/>
            <a:tailEnd type="triangle"/>
          </a:ln>
        </p:spPr>
      </p:sp>
      <p:sp>
        <p:nvSpPr>
          <p:cNvPr id="16" name="Shape 13"/>
          <p:cNvSpPr/>
          <p:nvPr/>
        </p:nvSpPr>
        <p:spPr>
          <a:xfrm>
            <a:off x="6254496" y="2788920"/>
            <a:ext cx="1572768" cy="731520"/>
          </a:xfrm>
          <a:prstGeom prst="roundRect">
            <a:avLst>
              <a:gd name="adj" fmla="val 12500"/>
            </a:avLst>
          </a:prstGeom>
          <a:solidFill>
            <a:srgbClr val="161B22"/>
          </a:solidFill>
          <a:ln w="12700">
            <a:solidFill>
              <a:srgbClr val="30363D"/>
            </a:solidFill>
            <a:prstDash val="solid"/>
          </a:ln>
        </p:spPr>
      </p:sp>
      <p:sp>
        <p:nvSpPr>
          <p:cNvPr id="17" name="Text 14"/>
          <p:cNvSpPr txBox="1"/>
          <p:nvPr/>
        </p:nvSpPr>
        <p:spPr>
          <a:xfrm>
            <a:off x="6327648"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Build &amp; run</a:t>
            </a:r>
            <a:endParaRPr lang="en-US" sz="1600" dirty="0"/>
          </a:p>
        </p:txBody>
      </p:sp>
      <p:sp>
        <p:nvSpPr>
          <p:cNvPr id="18" name="Shape 15"/>
          <p:cNvSpPr/>
          <p:nvPr/>
        </p:nvSpPr>
        <p:spPr>
          <a:xfrm>
            <a:off x="7863840" y="3154680"/>
            <a:ext cx="256032" cy="0"/>
          </a:xfrm>
          <a:prstGeom prst="line">
            <a:avLst/>
          </a:prstGeom>
          <a:noFill/>
          <a:ln w="22225">
            <a:solidFill>
              <a:srgbClr val="8B949E"/>
            </a:solidFill>
            <a:prstDash val="solid"/>
            <a:tailEnd type="triangle"/>
          </a:ln>
        </p:spPr>
      </p:sp>
      <p:sp>
        <p:nvSpPr>
          <p:cNvPr id="19" name="Shape 16"/>
          <p:cNvSpPr/>
          <p:nvPr/>
        </p:nvSpPr>
        <p:spPr>
          <a:xfrm>
            <a:off x="8156448" y="2788920"/>
            <a:ext cx="1572768" cy="731520"/>
          </a:xfrm>
          <a:prstGeom prst="roundRect">
            <a:avLst>
              <a:gd name="adj" fmla="val 12500"/>
            </a:avLst>
          </a:prstGeom>
          <a:solidFill>
            <a:srgbClr val="2B2410"/>
          </a:solidFill>
          <a:ln w="12700">
            <a:solidFill>
              <a:srgbClr val="E3B341"/>
            </a:solidFill>
            <a:prstDash val="solid"/>
          </a:ln>
        </p:spPr>
      </p:sp>
      <p:sp>
        <p:nvSpPr>
          <p:cNvPr id="20" name="Text 17"/>
          <p:cNvSpPr txBox="1"/>
          <p:nvPr/>
        </p:nvSpPr>
        <p:spPr>
          <a:xfrm>
            <a:off x="8229600"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Test</a:t>
            </a:r>
            <a:endParaRPr lang="en-US" sz="1600" dirty="0"/>
          </a:p>
        </p:txBody>
      </p:sp>
      <p:sp>
        <p:nvSpPr>
          <p:cNvPr id="21" name="Shape 18"/>
          <p:cNvSpPr/>
          <p:nvPr/>
        </p:nvSpPr>
        <p:spPr>
          <a:xfrm>
            <a:off x="9765792" y="3154680"/>
            <a:ext cx="256032" cy="0"/>
          </a:xfrm>
          <a:prstGeom prst="line">
            <a:avLst/>
          </a:prstGeom>
          <a:noFill/>
          <a:ln w="22225">
            <a:solidFill>
              <a:srgbClr val="8B949E"/>
            </a:solidFill>
            <a:prstDash val="solid"/>
            <a:tailEnd type="triangle"/>
          </a:ln>
        </p:spPr>
      </p:sp>
      <p:sp>
        <p:nvSpPr>
          <p:cNvPr id="22" name="Shape 19"/>
          <p:cNvSpPr/>
          <p:nvPr/>
        </p:nvSpPr>
        <p:spPr>
          <a:xfrm>
            <a:off x="10058400" y="2788920"/>
            <a:ext cx="1572768" cy="731520"/>
          </a:xfrm>
          <a:prstGeom prst="roundRect">
            <a:avLst>
              <a:gd name="adj" fmla="val 12500"/>
            </a:avLst>
          </a:prstGeom>
          <a:solidFill>
            <a:srgbClr val="161B22"/>
          </a:solidFill>
          <a:ln w="12700">
            <a:solidFill>
              <a:srgbClr val="30363D"/>
            </a:solidFill>
            <a:prstDash val="solid"/>
          </a:ln>
        </p:spPr>
      </p:sp>
      <p:sp>
        <p:nvSpPr>
          <p:cNvPr id="23" name="Text 20"/>
          <p:cNvSpPr txBox="1"/>
          <p:nvPr/>
        </p:nvSpPr>
        <p:spPr>
          <a:xfrm>
            <a:off x="10131552" y="2788920"/>
            <a:ext cx="1426464" cy="731520"/>
          </a:xfrm>
          <a:prstGeom prst="rect">
            <a:avLst/>
          </a:prstGeom>
          <a:noFill/>
          <a:ln/>
        </p:spPr>
        <p:txBody>
          <a:bodyPr wrap="square" lIns="0" tIns="0" rIns="0" bIns="0"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Maintain</a:t>
            </a:r>
            <a:endParaRPr lang="en-US" sz="1600" dirty="0"/>
          </a:p>
        </p:txBody>
      </p:sp>
      <p:sp>
        <p:nvSpPr>
          <p:cNvPr id="24" name="Shape 21"/>
          <p:cNvSpPr/>
          <p:nvPr/>
        </p:nvSpPr>
        <p:spPr>
          <a:xfrm>
            <a:off x="8942832" y="3538728"/>
            <a:ext cx="0" cy="484632"/>
          </a:xfrm>
          <a:prstGeom prst="line">
            <a:avLst/>
          </a:prstGeom>
          <a:noFill/>
          <a:ln w="22225">
            <a:solidFill>
              <a:srgbClr val="E3B341"/>
            </a:solidFill>
            <a:prstDash val="solid"/>
          </a:ln>
        </p:spPr>
      </p:sp>
      <p:sp>
        <p:nvSpPr>
          <p:cNvPr id="25" name="Shape 22"/>
          <p:cNvSpPr/>
          <p:nvPr/>
        </p:nvSpPr>
        <p:spPr>
          <a:xfrm flipH="1">
            <a:off x="5138928" y="4023360"/>
            <a:ext cx="3803904" cy="0"/>
          </a:xfrm>
          <a:prstGeom prst="line">
            <a:avLst/>
          </a:prstGeom>
          <a:noFill/>
          <a:ln w="22225">
            <a:solidFill>
              <a:srgbClr val="E3B341"/>
            </a:solidFill>
            <a:prstDash val="solid"/>
          </a:ln>
        </p:spPr>
      </p:sp>
      <p:sp>
        <p:nvSpPr>
          <p:cNvPr id="26" name="Shape 23"/>
          <p:cNvSpPr/>
          <p:nvPr/>
        </p:nvSpPr>
        <p:spPr>
          <a:xfrm flipV="1">
            <a:off x="5138928" y="3557016"/>
            <a:ext cx="0" cy="466344"/>
          </a:xfrm>
          <a:prstGeom prst="line">
            <a:avLst/>
          </a:prstGeom>
          <a:noFill/>
          <a:ln w="22225">
            <a:solidFill>
              <a:srgbClr val="E3B341"/>
            </a:solidFill>
            <a:prstDash val="solid"/>
            <a:tailEnd type="triangle"/>
          </a:ln>
        </p:spPr>
      </p:sp>
      <p:sp>
        <p:nvSpPr>
          <p:cNvPr id="27" name="Text 24"/>
          <p:cNvSpPr txBox="1"/>
          <p:nvPr/>
        </p:nvSpPr>
        <p:spPr>
          <a:xfrm>
            <a:off x="5943600" y="4087368"/>
            <a:ext cx="2194560" cy="320040"/>
          </a:xfrm>
          <a:prstGeom prst="rect">
            <a:avLst/>
          </a:prstGeom>
          <a:noFill/>
          <a:ln/>
        </p:spPr>
        <p:txBody>
          <a:bodyPr wrap="square" lIns="0" tIns="0" rIns="0" bIns="0" rtlCol="0" anchor="t"/>
          <a:lstStyle/>
          <a:p>
            <a:pPr algn="ctr" indent="0" marL="0">
              <a:buNone/>
            </a:pPr>
            <a:r>
              <a:rPr lang="en-US" sz="1400" dirty="0">
                <a:solidFill>
                  <a:srgbClr val="E3B341"/>
                </a:solidFill>
                <a:latin typeface="Calibri" pitchFamily="34" charset="0"/>
                <a:ea typeface="Calibri" pitchFamily="34" charset="-122"/>
                <a:cs typeface="Calibri" pitchFamily="34" charset="-120"/>
              </a:rPr>
              <a:t>wrong result → debug</a:t>
            </a:r>
            <a:endParaRPr lang="en-US" sz="1400" dirty="0"/>
          </a:p>
        </p:txBody>
      </p:sp>
      <p:sp>
        <p:nvSpPr>
          <p:cNvPr id="28" name="Shape 25"/>
          <p:cNvSpPr/>
          <p:nvPr/>
        </p:nvSpPr>
        <p:spPr>
          <a:xfrm>
            <a:off x="548640" y="4846320"/>
            <a:ext cx="5394960" cy="1097280"/>
          </a:xfrm>
          <a:prstGeom prst="roundRect">
            <a:avLst>
              <a:gd name="adj" fmla="val 8333"/>
            </a:avLst>
          </a:prstGeom>
          <a:solidFill>
            <a:srgbClr val="12261A"/>
          </a:solidFill>
          <a:ln w="12700">
            <a:solidFill>
              <a:srgbClr val="12261A"/>
            </a:solidFill>
            <a:prstDash val="solid"/>
          </a:ln>
        </p:spPr>
      </p:sp>
      <p:sp>
        <p:nvSpPr>
          <p:cNvPr id="29" name="Text 26"/>
          <p:cNvSpPr txBox="1"/>
          <p:nvPr/>
        </p:nvSpPr>
        <p:spPr>
          <a:xfrm>
            <a:off x="749808" y="4974336"/>
            <a:ext cx="4992624" cy="877824"/>
          </a:xfrm>
          <a:prstGeom prst="rect">
            <a:avLst/>
          </a:prstGeom>
          <a:noFill/>
          <a:ln/>
        </p:spPr>
        <p:txBody>
          <a:bodyPr wrap="square" lIns="0" tIns="0" rIns="0" bIns="0" rtlCol="0" anchor="t"/>
          <a:lstStyle/>
          <a:p>
            <a:pPr indent="0" marL="0">
              <a:buNone/>
            </a:pPr>
            <a:r>
              <a:rPr lang="en-US" sz="1500" b="1" dirty="0">
                <a:solidFill>
                  <a:srgbClr val="3FB950"/>
                </a:solidFill>
                <a:latin typeface="Calibri" pitchFamily="34" charset="0"/>
                <a:ea typeface="Calibri" pitchFamily="34" charset="-122"/>
                <a:cs typeface="Calibri" pitchFamily="34" charset="-120"/>
              </a:rPr>
              <a:t>Mental model</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A recipe for a cook who follows every word exactly. "Add some salt" fails; "add 5 g of salt" works.</a:t>
            </a:r>
            <a:endParaRPr lang="en-US" sz="1600" dirty="0"/>
          </a:p>
        </p:txBody>
      </p:sp>
      <p:sp>
        <p:nvSpPr>
          <p:cNvPr id="30" name="Shape 27"/>
          <p:cNvSpPr/>
          <p:nvPr/>
        </p:nvSpPr>
        <p:spPr>
          <a:xfrm>
            <a:off x="6245352" y="4846320"/>
            <a:ext cx="5394960" cy="1097280"/>
          </a:xfrm>
          <a:prstGeom prst="roundRect">
            <a:avLst>
              <a:gd name="adj" fmla="val 8333"/>
            </a:avLst>
          </a:prstGeom>
          <a:solidFill>
            <a:srgbClr val="2B2410"/>
          </a:solidFill>
          <a:ln w="12700">
            <a:solidFill>
              <a:srgbClr val="2B2410"/>
            </a:solidFill>
            <a:prstDash val="solid"/>
          </a:ln>
        </p:spPr>
      </p:sp>
      <p:sp>
        <p:nvSpPr>
          <p:cNvPr id="31" name="Text 28"/>
          <p:cNvSpPr txBox="1"/>
          <p:nvPr/>
        </p:nvSpPr>
        <p:spPr>
          <a:xfrm>
            <a:off x="6446520" y="4974336"/>
            <a:ext cx="4992624" cy="877824"/>
          </a:xfrm>
          <a:prstGeom prst="rect">
            <a:avLst/>
          </a:prstGeom>
          <a:noFill/>
          <a:ln/>
        </p:spPr>
        <p:txBody>
          <a:bodyPr wrap="square" lIns="0" tIns="0" rIns="0" bIns="0" rtlCol="0" anchor="t"/>
          <a:lstStyle/>
          <a:p>
            <a:pPr indent="0" marL="0">
              <a:buNone/>
            </a:pPr>
            <a:r>
              <a:rPr lang="en-US" sz="1500" b="1" dirty="0">
                <a:solidFill>
                  <a:srgbClr val="E3B341"/>
                </a:solidFill>
                <a:latin typeface="Calibri" pitchFamily="34" charset="0"/>
                <a:ea typeface="Calibri" pitchFamily="34" charset="-122"/>
                <a:cs typeface="Calibri" pitchFamily="34" charset="-120"/>
              </a:rPr>
              <a:t>Misconception</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"Programming is memorising syntax." The valuable part is clear thinking: breaking down, designing, checking.</a:t>
            </a:r>
            <a:endParaRPr lang="en-US" sz="1600" dirty="0"/>
          </a:p>
        </p:txBody>
      </p:sp>
      <p:sp>
        <p:nvSpPr>
          <p:cNvPr id="32" name="Text 29"/>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33" name="Text 30"/>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02</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What is a program?</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A set of instructions, together with the data they work on, that a computer can execute to perform a task.</a:t>
            </a:r>
            <a:endParaRPr lang="en-US" sz="1800" dirty="0"/>
          </a:p>
        </p:txBody>
      </p:sp>
      <p:sp>
        <p:nvSpPr>
          <p:cNvPr id="7" name="Shape 4"/>
          <p:cNvSpPr/>
          <p:nvPr/>
        </p:nvSpPr>
        <p:spPr>
          <a:xfrm>
            <a:off x="548640" y="2743200"/>
            <a:ext cx="2468880" cy="1234440"/>
          </a:xfrm>
          <a:prstGeom prst="roundRect">
            <a:avLst>
              <a:gd name="adj" fmla="val 7407"/>
            </a:avLst>
          </a:prstGeom>
          <a:solidFill>
            <a:srgbClr val="161B22"/>
          </a:solidFill>
          <a:ln w="12700">
            <a:solidFill>
              <a:srgbClr val="30363D"/>
            </a:solidFill>
            <a:prstDash val="solid"/>
          </a:ln>
        </p:spPr>
      </p:sp>
      <p:sp>
        <p:nvSpPr>
          <p:cNvPr id="8" name="Text 5"/>
          <p:cNvSpPr txBox="1"/>
          <p:nvPr/>
        </p:nvSpPr>
        <p:spPr>
          <a:xfrm>
            <a:off x="548640" y="2907792"/>
            <a:ext cx="2468880" cy="411480"/>
          </a:xfrm>
          <a:prstGeom prst="rect">
            <a:avLst/>
          </a:prstGeom>
          <a:noFill/>
          <a:ln/>
        </p:spPr>
        <p:txBody>
          <a:bodyPr wrap="square" lIns="0" tIns="0" rIns="0" bIns="0" rtlCol="0" anchor="t"/>
          <a:lstStyle/>
          <a:p>
            <a:pPr algn="ctr" indent="0" marL="0">
              <a:buNone/>
            </a:pPr>
            <a:r>
              <a:rPr lang="en-US" sz="1900" b="1" dirty="0">
                <a:solidFill>
                  <a:srgbClr val="E6EDF3"/>
                </a:solidFill>
                <a:latin typeface="Calibri" pitchFamily="34" charset="0"/>
                <a:ea typeface="Calibri" pitchFamily="34" charset="-122"/>
                <a:cs typeface="Calibri" pitchFamily="34" charset="-120"/>
              </a:rPr>
              <a:t>Source code</a:t>
            </a:r>
            <a:endParaRPr lang="en-US" sz="1900" dirty="0"/>
          </a:p>
        </p:txBody>
      </p:sp>
      <p:sp>
        <p:nvSpPr>
          <p:cNvPr id="9" name="Text 6"/>
          <p:cNvSpPr txBox="1"/>
          <p:nvPr/>
        </p:nvSpPr>
        <p:spPr>
          <a:xfrm>
            <a:off x="548640" y="3383280"/>
            <a:ext cx="2468880" cy="365760"/>
          </a:xfrm>
          <a:prstGeom prst="rect">
            <a:avLst/>
          </a:prstGeom>
          <a:noFill/>
          <a:ln/>
        </p:spPr>
        <p:txBody>
          <a:bodyPr wrap="square" lIns="0" tIns="0" rIns="0" bIns="0" rtlCol="0" anchor="t"/>
          <a:lstStyle/>
          <a:p>
            <a:pPr algn="ctr" indent="0" marL="0">
              <a:buNone/>
            </a:pPr>
            <a:r>
              <a:rPr lang="en-US" sz="1500" dirty="0">
                <a:solidFill>
                  <a:srgbClr val="8B949E"/>
                </a:solidFill>
                <a:latin typeface="Courier New" pitchFamily="34" charset="0"/>
                <a:ea typeface="Courier New" pitchFamily="34" charset="-122"/>
                <a:cs typeface="Courier New" pitchFamily="34" charset="-120"/>
              </a:rPr>
              <a:t>main.cpp · text</a:t>
            </a:r>
            <a:endParaRPr lang="en-US" sz="1500" dirty="0"/>
          </a:p>
        </p:txBody>
      </p:sp>
      <p:sp>
        <p:nvSpPr>
          <p:cNvPr id="10" name="Shape 7"/>
          <p:cNvSpPr/>
          <p:nvPr/>
        </p:nvSpPr>
        <p:spPr>
          <a:xfrm>
            <a:off x="3054096" y="3364992"/>
            <a:ext cx="365760" cy="0"/>
          </a:xfrm>
          <a:prstGeom prst="line">
            <a:avLst/>
          </a:prstGeom>
          <a:noFill/>
          <a:ln w="22225">
            <a:solidFill>
              <a:srgbClr val="8B949E"/>
            </a:solidFill>
            <a:prstDash val="solid"/>
            <a:tailEnd type="triangle"/>
          </a:ln>
        </p:spPr>
      </p:sp>
      <p:sp>
        <p:nvSpPr>
          <p:cNvPr id="11" name="Shape 8"/>
          <p:cNvSpPr/>
          <p:nvPr/>
        </p:nvSpPr>
        <p:spPr>
          <a:xfrm>
            <a:off x="3456432" y="2743200"/>
            <a:ext cx="2468880" cy="1234440"/>
          </a:xfrm>
          <a:prstGeom prst="roundRect">
            <a:avLst>
              <a:gd name="adj" fmla="val 7407"/>
            </a:avLst>
          </a:prstGeom>
          <a:solidFill>
            <a:srgbClr val="161B22"/>
          </a:solidFill>
          <a:ln w="19050">
            <a:solidFill>
              <a:srgbClr val="58A6FF"/>
            </a:solidFill>
            <a:prstDash val="solid"/>
          </a:ln>
        </p:spPr>
      </p:sp>
      <p:sp>
        <p:nvSpPr>
          <p:cNvPr id="12" name="Text 9"/>
          <p:cNvSpPr txBox="1"/>
          <p:nvPr/>
        </p:nvSpPr>
        <p:spPr>
          <a:xfrm>
            <a:off x="3456432" y="2907792"/>
            <a:ext cx="2468880" cy="411480"/>
          </a:xfrm>
          <a:prstGeom prst="rect">
            <a:avLst/>
          </a:prstGeom>
          <a:noFill/>
          <a:ln/>
        </p:spPr>
        <p:txBody>
          <a:bodyPr wrap="square" lIns="0" tIns="0" rIns="0" bIns="0" rtlCol="0" anchor="t"/>
          <a:lstStyle/>
          <a:p>
            <a:pPr algn="ctr" indent="0" marL="0">
              <a:buNone/>
            </a:pPr>
            <a:r>
              <a:rPr lang="en-US" sz="1900" b="1" dirty="0">
                <a:solidFill>
                  <a:srgbClr val="E6EDF3"/>
                </a:solidFill>
                <a:latin typeface="Calibri" pitchFamily="34" charset="0"/>
                <a:ea typeface="Calibri" pitchFamily="34" charset="-122"/>
                <a:cs typeface="Calibri" pitchFamily="34" charset="-120"/>
              </a:rPr>
              <a:t>Translate</a:t>
            </a:r>
            <a:endParaRPr lang="en-US" sz="1900" dirty="0"/>
          </a:p>
        </p:txBody>
      </p:sp>
      <p:sp>
        <p:nvSpPr>
          <p:cNvPr id="13" name="Text 10"/>
          <p:cNvSpPr txBox="1"/>
          <p:nvPr/>
        </p:nvSpPr>
        <p:spPr>
          <a:xfrm>
            <a:off x="3456432" y="3383280"/>
            <a:ext cx="2468880" cy="365760"/>
          </a:xfrm>
          <a:prstGeom prst="rect">
            <a:avLst/>
          </a:prstGeom>
          <a:noFill/>
          <a:ln/>
        </p:spPr>
        <p:txBody>
          <a:bodyPr wrap="square" lIns="0" tIns="0" rIns="0" bIns="0" rtlCol="0" anchor="t"/>
          <a:lstStyle/>
          <a:p>
            <a:pPr algn="ctr" indent="0" marL="0">
              <a:buNone/>
            </a:pPr>
            <a:r>
              <a:rPr lang="en-US" sz="1500" dirty="0">
                <a:solidFill>
                  <a:srgbClr val="8B949E"/>
                </a:solidFill>
                <a:latin typeface="Calibri" pitchFamily="34" charset="0"/>
                <a:ea typeface="Calibri" pitchFamily="34" charset="-122"/>
                <a:cs typeface="Calibri" pitchFamily="34" charset="-120"/>
              </a:rPr>
              <a:t>compiler + linker</a:t>
            </a:r>
            <a:endParaRPr lang="en-US" sz="1500" dirty="0"/>
          </a:p>
        </p:txBody>
      </p:sp>
      <p:sp>
        <p:nvSpPr>
          <p:cNvPr id="14" name="Shape 11"/>
          <p:cNvSpPr/>
          <p:nvPr/>
        </p:nvSpPr>
        <p:spPr>
          <a:xfrm>
            <a:off x="5961888" y="3364992"/>
            <a:ext cx="365760" cy="0"/>
          </a:xfrm>
          <a:prstGeom prst="line">
            <a:avLst/>
          </a:prstGeom>
          <a:noFill/>
          <a:ln w="22225">
            <a:solidFill>
              <a:srgbClr val="8B949E"/>
            </a:solidFill>
            <a:prstDash val="solid"/>
            <a:tailEnd type="triangle"/>
          </a:ln>
        </p:spPr>
      </p:sp>
      <p:sp>
        <p:nvSpPr>
          <p:cNvPr id="15" name="Shape 12"/>
          <p:cNvSpPr/>
          <p:nvPr/>
        </p:nvSpPr>
        <p:spPr>
          <a:xfrm>
            <a:off x="6364224" y="2743200"/>
            <a:ext cx="2468880" cy="1234440"/>
          </a:xfrm>
          <a:prstGeom prst="roundRect">
            <a:avLst>
              <a:gd name="adj" fmla="val 7407"/>
            </a:avLst>
          </a:prstGeom>
          <a:solidFill>
            <a:srgbClr val="161B22"/>
          </a:solidFill>
          <a:ln w="12700">
            <a:solidFill>
              <a:srgbClr val="30363D"/>
            </a:solidFill>
            <a:prstDash val="solid"/>
          </a:ln>
        </p:spPr>
      </p:sp>
      <p:sp>
        <p:nvSpPr>
          <p:cNvPr id="16" name="Text 13"/>
          <p:cNvSpPr txBox="1"/>
          <p:nvPr/>
        </p:nvSpPr>
        <p:spPr>
          <a:xfrm>
            <a:off x="6364224" y="2907792"/>
            <a:ext cx="2468880" cy="411480"/>
          </a:xfrm>
          <a:prstGeom prst="rect">
            <a:avLst/>
          </a:prstGeom>
          <a:noFill/>
          <a:ln/>
        </p:spPr>
        <p:txBody>
          <a:bodyPr wrap="square" lIns="0" tIns="0" rIns="0" bIns="0" rtlCol="0" anchor="t"/>
          <a:lstStyle/>
          <a:p>
            <a:pPr algn="ctr" indent="0" marL="0">
              <a:buNone/>
            </a:pPr>
            <a:r>
              <a:rPr lang="en-US" sz="1900" b="1" dirty="0">
                <a:solidFill>
                  <a:srgbClr val="E6EDF3"/>
                </a:solidFill>
                <a:latin typeface="Calibri" pitchFamily="34" charset="0"/>
                <a:ea typeface="Calibri" pitchFamily="34" charset="-122"/>
                <a:cs typeface="Calibri" pitchFamily="34" charset="-120"/>
              </a:rPr>
              <a:t>Executable</a:t>
            </a:r>
            <a:endParaRPr lang="en-US" sz="1900" dirty="0"/>
          </a:p>
        </p:txBody>
      </p:sp>
      <p:sp>
        <p:nvSpPr>
          <p:cNvPr id="17" name="Text 14"/>
          <p:cNvSpPr txBox="1"/>
          <p:nvPr/>
        </p:nvSpPr>
        <p:spPr>
          <a:xfrm>
            <a:off x="6364224" y="3383280"/>
            <a:ext cx="2468880" cy="365760"/>
          </a:xfrm>
          <a:prstGeom prst="rect">
            <a:avLst/>
          </a:prstGeom>
          <a:noFill/>
          <a:ln/>
        </p:spPr>
        <p:txBody>
          <a:bodyPr wrap="square" lIns="0" tIns="0" rIns="0" bIns="0" rtlCol="0" anchor="t"/>
          <a:lstStyle/>
          <a:p>
            <a:pPr algn="ctr" indent="0" marL="0">
              <a:buNone/>
            </a:pPr>
            <a:r>
              <a:rPr lang="en-US" sz="1500" dirty="0">
                <a:solidFill>
                  <a:srgbClr val="8B949E"/>
                </a:solidFill>
                <a:latin typeface="Calibri" pitchFamily="34" charset="0"/>
                <a:ea typeface="Calibri" pitchFamily="34" charset="-122"/>
                <a:cs typeface="Calibri" pitchFamily="34" charset="-120"/>
              </a:rPr>
              <a:t>machine code</a:t>
            </a:r>
            <a:endParaRPr lang="en-US" sz="1500" dirty="0"/>
          </a:p>
        </p:txBody>
      </p:sp>
      <p:sp>
        <p:nvSpPr>
          <p:cNvPr id="18" name="Shape 15"/>
          <p:cNvSpPr/>
          <p:nvPr/>
        </p:nvSpPr>
        <p:spPr>
          <a:xfrm>
            <a:off x="8869680" y="3364992"/>
            <a:ext cx="365760" cy="0"/>
          </a:xfrm>
          <a:prstGeom prst="line">
            <a:avLst/>
          </a:prstGeom>
          <a:noFill/>
          <a:ln w="22225">
            <a:solidFill>
              <a:srgbClr val="8B949E"/>
            </a:solidFill>
            <a:prstDash val="solid"/>
            <a:tailEnd type="triangle"/>
          </a:ln>
        </p:spPr>
      </p:sp>
      <p:sp>
        <p:nvSpPr>
          <p:cNvPr id="19" name="Shape 16"/>
          <p:cNvSpPr/>
          <p:nvPr/>
        </p:nvSpPr>
        <p:spPr>
          <a:xfrm>
            <a:off x="9272016" y="2743200"/>
            <a:ext cx="2468880" cy="1234440"/>
          </a:xfrm>
          <a:prstGeom prst="roundRect">
            <a:avLst>
              <a:gd name="adj" fmla="val 7407"/>
            </a:avLst>
          </a:prstGeom>
          <a:solidFill>
            <a:srgbClr val="161B22"/>
          </a:solidFill>
          <a:ln w="19050">
            <a:solidFill>
              <a:srgbClr val="3FB950"/>
            </a:solidFill>
            <a:prstDash val="solid"/>
          </a:ln>
        </p:spPr>
      </p:sp>
      <p:sp>
        <p:nvSpPr>
          <p:cNvPr id="20" name="Text 17"/>
          <p:cNvSpPr txBox="1"/>
          <p:nvPr/>
        </p:nvSpPr>
        <p:spPr>
          <a:xfrm>
            <a:off x="9272016" y="2907792"/>
            <a:ext cx="2468880" cy="411480"/>
          </a:xfrm>
          <a:prstGeom prst="rect">
            <a:avLst/>
          </a:prstGeom>
          <a:noFill/>
          <a:ln/>
        </p:spPr>
        <p:txBody>
          <a:bodyPr wrap="square" lIns="0" tIns="0" rIns="0" bIns="0" rtlCol="0" anchor="t"/>
          <a:lstStyle/>
          <a:p>
            <a:pPr algn="ctr" indent="0" marL="0">
              <a:buNone/>
            </a:pPr>
            <a:r>
              <a:rPr lang="en-US" sz="1900" b="1" dirty="0">
                <a:solidFill>
                  <a:srgbClr val="E6EDF3"/>
                </a:solidFill>
                <a:latin typeface="Calibri" pitchFamily="34" charset="0"/>
                <a:ea typeface="Calibri" pitchFamily="34" charset="-122"/>
                <a:cs typeface="Calibri" pitchFamily="34" charset="-120"/>
              </a:rPr>
              <a:t>Running program</a:t>
            </a:r>
            <a:endParaRPr lang="en-US" sz="1900" dirty="0"/>
          </a:p>
        </p:txBody>
      </p:sp>
      <p:sp>
        <p:nvSpPr>
          <p:cNvPr id="21" name="Text 18"/>
          <p:cNvSpPr txBox="1"/>
          <p:nvPr/>
        </p:nvSpPr>
        <p:spPr>
          <a:xfrm>
            <a:off x="9272016" y="3383280"/>
            <a:ext cx="2468880" cy="365760"/>
          </a:xfrm>
          <a:prstGeom prst="rect">
            <a:avLst/>
          </a:prstGeom>
          <a:noFill/>
          <a:ln/>
        </p:spPr>
        <p:txBody>
          <a:bodyPr wrap="square" lIns="0" tIns="0" rIns="0" bIns="0" rtlCol="0" anchor="t"/>
          <a:lstStyle/>
          <a:p>
            <a:pPr algn="ctr" indent="0" marL="0">
              <a:buNone/>
            </a:pPr>
            <a:r>
              <a:rPr lang="en-US" sz="1500" dirty="0">
                <a:solidFill>
                  <a:srgbClr val="8B949E"/>
                </a:solidFill>
                <a:latin typeface="Calibri" pitchFamily="34" charset="0"/>
                <a:ea typeface="Calibri" pitchFamily="34" charset="-122"/>
                <a:cs typeface="Calibri" pitchFamily="34" charset="-120"/>
              </a:rPr>
              <a:t>loaded by the OS</a:t>
            </a:r>
            <a:endParaRPr lang="en-US" sz="1500" dirty="0"/>
          </a:p>
        </p:txBody>
      </p:sp>
      <p:sp>
        <p:nvSpPr>
          <p:cNvPr id="22" name="Shape 19"/>
          <p:cNvSpPr/>
          <p:nvPr/>
        </p:nvSpPr>
        <p:spPr>
          <a:xfrm>
            <a:off x="548640" y="4572000"/>
            <a:ext cx="6766560" cy="1097280"/>
          </a:xfrm>
          <a:prstGeom prst="roundRect">
            <a:avLst>
              <a:gd name="adj" fmla="val 8333"/>
            </a:avLst>
          </a:prstGeom>
          <a:solidFill>
            <a:srgbClr val="2B2410"/>
          </a:solidFill>
          <a:ln w="12700">
            <a:solidFill>
              <a:srgbClr val="2B2410"/>
            </a:solidFill>
            <a:prstDash val="solid"/>
          </a:ln>
        </p:spPr>
      </p:sp>
      <p:sp>
        <p:nvSpPr>
          <p:cNvPr id="23" name="Text 20"/>
          <p:cNvSpPr txBox="1"/>
          <p:nvPr/>
        </p:nvSpPr>
        <p:spPr>
          <a:xfrm>
            <a:off x="749808" y="4700016"/>
            <a:ext cx="6364224" cy="877824"/>
          </a:xfrm>
          <a:prstGeom prst="rect">
            <a:avLst/>
          </a:prstGeom>
          <a:noFill/>
          <a:ln/>
        </p:spPr>
        <p:txBody>
          <a:bodyPr wrap="square" lIns="0" tIns="0" rIns="0" bIns="0" rtlCol="0" anchor="t"/>
          <a:lstStyle/>
          <a:p>
            <a:pPr indent="0" marL="0">
              <a:buNone/>
            </a:pPr>
            <a:r>
              <a:rPr lang="en-US" sz="1500" b="1" dirty="0">
                <a:solidFill>
                  <a:srgbClr val="E3B341"/>
                </a:solidFill>
                <a:latin typeface="Calibri" pitchFamily="34" charset="0"/>
                <a:ea typeface="Calibri" pitchFamily="34" charset="-122"/>
                <a:cs typeface="Calibri" pitchFamily="34" charset="-120"/>
              </a:rPr>
              <a:t>Misconception</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"The .cpp file is what the computer runs." It runs the executable built from it. Edit → rebuild → run.</a:t>
            </a:r>
            <a:endParaRPr lang="en-US" sz="1600" dirty="0"/>
          </a:p>
        </p:txBody>
      </p:sp>
      <p:sp>
        <p:nvSpPr>
          <p:cNvPr id="24" name="Shape 21"/>
          <p:cNvSpPr/>
          <p:nvPr/>
        </p:nvSpPr>
        <p:spPr>
          <a:xfrm>
            <a:off x="7616952" y="4572000"/>
            <a:ext cx="4023360" cy="1097280"/>
          </a:xfrm>
          <a:prstGeom prst="roundRect">
            <a:avLst>
              <a:gd name="adj" fmla="val 8333"/>
            </a:avLst>
          </a:prstGeom>
          <a:solidFill>
            <a:srgbClr val="161B22"/>
          </a:solidFill>
          <a:ln w="12700">
            <a:solidFill>
              <a:srgbClr val="30363D"/>
            </a:solidFill>
            <a:prstDash val="solid"/>
          </a:ln>
        </p:spPr>
      </p:sp>
      <p:sp>
        <p:nvSpPr>
          <p:cNvPr id="25" name="Text 22"/>
          <p:cNvSpPr txBox="1"/>
          <p:nvPr/>
        </p:nvSpPr>
        <p:spPr>
          <a:xfrm>
            <a:off x="7845552" y="4709160"/>
            <a:ext cx="3657600" cy="868680"/>
          </a:xfrm>
          <a:prstGeom prst="rect">
            <a:avLst/>
          </a:prstGeom>
          <a:noFill/>
          <a:ln/>
        </p:spPr>
        <p:txBody>
          <a:bodyPr wrap="square" lIns="0" tIns="0" rIns="0" bIns="0" rtlCol="0" anchor="t"/>
          <a:lstStyle/>
          <a:p>
            <a:pPr indent="0" marL="0">
              <a:buNone/>
            </a:pPr>
            <a:r>
              <a:rPr lang="en-US" sz="1500" b="1" dirty="0">
                <a:solidFill>
                  <a:srgbClr val="58A6FF"/>
                </a:solidFill>
                <a:latin typeface="Calibri" pitchFamily="34" charset="0"/>
                <a:ea typeface="Calibri" pitchFamily="34" charset="-122"/>
                <a:cs typeface="Calibri" pitchFamily="34" charset="-120"/>
              </a:rPr>
              <a:t>Coming up</a:t>
            </a:r>
            <a:endParaRPr lang="en-US" sz="1500" dirty="0"/>
          </a:p>
          <a:p>
            <a:pPr indent="0" marL="0">
              <a:buNone/>
            </a:pPr>
            <a:r>
              <a:rPr lang="en-US" sz="1500" dirty="0">
                <a:solidFill>
                  <a:srgbClr val="ADBAC7"/>
                </a:solidFill>
                <a:latin typeface="Calibri" pitchFamily="34" charset="0"/>
                <a:ea typeface="Calibri" pitchFamily="34" charset="-122"/>
                <a:cs typeface="Calibri" pitchFamily="34" charset="-120"/>
              </a:rPr>
              <a:t>The full build pipeline: Stage 01 · 03</a:t>
            </a:r>
            <a:endParaRPr lang="en-US" sz="1500" dirty="0"/>
          </a:p>
        </p:txBody>
      </p:sp>
      <p:sp>
        <p:nvSpPr>
          <p:cNvPr id="26" name="Text 23"/>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7" name="Text 24"/>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03</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What is an algorithm?</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A finite sequence of well-defined steps that takes input and produces a correct output.</a:t>
            </a:r>
            <a:endParaRPr lang="en-US" sz="1800" dirty="0"/>
          </a:p>
        </p:txBody>
      </p:sp>
      <p:sp>
        <p:nvSpPr>
          <p:cNvPr id="7" name="Shape 4"/>
          <p:cNvSpPr/>
          <p:nvPr/>
        </p:nvSpPr>
        <p:spPr>
          <a:xfrm>
            <a:off x="548640" y="2423160"/>
            <a:ext cx="5120640" cy="603504"/>
          </a:xfrm>
          <a:prstGeom prst="roundRect">
            <a:avLst>
              <a:gd name="adj" fmla="val 15152"/>
            </a:avLst>
          </a:prstGeom>
          <a:solidFill>
            <a:srgbClr val="161B22"/>
          </a:solidFill>
          <a:ln w="12700">
            <a:solidFill>
              <a:srgbClr val="30363D"/>
            </a:solidFill>
            <a:prstDash val="solid"/>
          </a:ln>
        </p:spPr>
      </p:sp>
      <p:sp>
        <p:nvSpPr>
          <p:cNvPr id="8" name="Text 5"/>
          <p:cNvSpPr txBox="1"/>
          <p:nvPr/>
        </p:nvSpPr>
        <p:spPr>
          <a:xfrm>
            <a:off x="777240" y="2423160"/>
            <a:ext cx="2011680" cy="603504"/>
          </a:xfrm>
          <a:prstGeom prst="rect">
            <a:avLst/>
          </a:prstGeom>
          <a:noFill/>
          <a:ln/>
        </p:spPr>
        <p:txBody>
          <a:bodyPr wrap="square" lIns="0" tIns="0" rIns="0" bIns="0"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Input</a:t>
            </a:r>
            <a:endParaRPr lang="en-US" sz="1700" dirty="0"/>
          </a:p>
        </p:txBody>
      </p:sp>
      <p:sp>
        <p:nvSpPr>
          <p:cNvPr id="9" name="Text 6"/>
          <p:cNvSpPr txBox="1"/>
          <p:nvPr/>
        </p:nvSpPr>
        <p:spPr>
          <a:xfrm>
            <a:off x="2788920" y="2423160"/>
            <a:ext cx="2743200" cy="603504"/>
          </a:xfrm>
          <a:prstGeom prst="rect">
            <a:avLst/>
          </a:prstGeom>
          <a:noFill/>
          <a:ln/>
        </p:spPr>
        <p:txBody>
          <a:bodyPr wrap="square" lIns="0" tIns="0" rIns="0" bIns="0" rtlCol="0" anchor="ctr"/>
          <a:lstStyle/>
          <a:p>
            <a:pPr indent="0" marL="0">
              <a:buNone/>
            </a:pPr>
            <a:r>
              <a:rPr lang="en-US" sz="1600" dirty="0">
                <a:solidFill>
                  <a:srgbClr val="ADBAC7"/>
                </a:solidFill>
                <a:latin typeface="Calibri" pitchFamily="34" charset="0"/>
                <a:ea typeface="Calibri" pitchFamily="34" charset="-122"/>
                <a:cs typeface="Calibri" pitchFamily="34" charset="-120"/>
              </a:rPr>
              <a:t>zero or more values</a:t>
            </a:r>
            <a:endParaRPr lang="en-US" sz="1600" dirty="0"/>
          </a:p>
        </p:txBody>
      </p:sp>
      <p:sp>
        <p:nvSpPr>
          <p:cNvPr id="10" name="Shape 7"/>
          <p:cNvSpPr/>
          <p:nvPr/>
        </p:nvSpPr>
        <p:spPr>
          <a:xfrm>
            <a:off x="548640" y="3154680"/>
            <a:ext cx="5120640" cy="603504"/>
          </a:xfrm>
          <a:prstGeom prst="roundRect">
            <a:avLst>
              <a:gd name="adj" fmla="val 15152"/>
            </a:avLst>
          </a:prstGeom>
          <a:solidFill>
            <a:srgbClr val="161B22"/>
          </a:solidFill>
          <a:ln w="12700">
            <a:solidFill>
              <a:srgbClr val="30363D"/>
            </a:solidFill>
            <a:prstDash val="solid"/>
          </a:ln>
        </p:spPr>
      </p:sp>
      <p:sp>
        <p:nvSpPr>
          <p:cNvPr id="11" name="Text 8"/>
          <p:cNvSpPr txBox="1"/>
          <p:nvPr/>
        </p:nvSpPr>
        <p:spPr>
          <a:xfrm>
            <a:off x="777240" y="3154680"/>
            <a:ext cx="2011680" cy="603504"/>
          </a:xfrm>
          <a:prstGeom prst="rect">
            <a:avLst/>
          </a:prstGeom>
          <a:noFill/>
          <a:ln/>
        </p:spPr>
        <p:txBody>
          <a:bodyPr wrap="square" lIns="0" tIns="0" rIns="0" bIns="0"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Output</a:t>
            </a:r>
            <a:endParaRPr lang="en-US" sz="1700" dirty="0"/>
          </a:p>
        </p:txBody>
      </p:sp>
      <p:sp>
        <p:nvSpPr>
          <p:cNvPr id="12" name="Text 9"/>
          <p:cNvSpPr txBox="1"/>
          <p:nvPr/>
        </p:nvSpPr>
        <p:spPr>
          <a:xfrm>
            <a:off x="2788920" y="3154680"/>
            <a:ext cx="2743200" cy="603504"/>
          </a:xfrm>
          <a:prstGeom prst="rect">
            <a:avLst/>
          </a:prstGeom>
          <a:noFill/>
          <a:ln/>
        </p:spPr>
        <p:txBody>
          <a:bodyPr wrap="square" lIns="0" tIns="0" rIns="0" bIns="0" rtlCol="0" anchor="ctr"/>
          <a:lstStyle/>
          <a:p>
            <a:pPr indent="0" marL="0">
              <a:buNone/>
            </a:pPr>
            <a:r>
              <a:rPr lang="en-US" sz="1600" dirty="0">
                <a:solidFill>
                  <a:srgbClr val="ADBAC7"/>
                </a:solidFill>
                <a:latin typeface="Calibri" pitchFamily="34" charset="0"/>
                <a:ea typeface="Calibri" pitchFamily="34" charset="-122"/>
                <a:cs typeface="Calibri" pitchFamily="34" charset="-120"/>
              </a:rPr>
              <a:t>at least one result</a:t>
            </a:r>
            <a:endParaRPr lang="en-US" sz="1600" dirty="0"/>
          </a:p>
        </p:txBody>
      </p:sp>
      <p:sp>
        <p:nvSpPr>
          <p:cNvPr id="13" name="Shape 10"/>
          <p:cNvSpPr/>
          <p:nvPr/>
        </p:nvSpPr>
        <p:spPr>
          <a:xfrm>
            <a:off x="548640" y="3886200"/>
            <a:ext cx="5120640" cy="603504"/>
          </a:xfrm>
          <a:prstGeom prst="roundRect">
            <a:avLst>
              <a:gd name="adj" fmla="val 15152"/>
            </a:avLst>
          </a:prstGeom>
          <a:solidFill>
            <a:srgbClr val="161B22"/>
          </a:solidFill>
          <a:ln w="12700">
            <a:solidFill>
              <a:srgbClr val="30363D"/>
            </a:solidFill>
            <a:prstDash val="solid"/>
          </a:ln>
        </p:spPr>
      </p:sp>
      <p:sp>
        <p:nvSpPr>
          <p:cNvPr id="14" name="Text 11"/>
          <p:cNvSpPr txBox="1"/>
          <p:nvPr/>
        </p:nvSpPr>
        <p:spPr>
          <a:xfrm>
            <a:off x="777240" y="3886200"/>
            <a:ext cx="2011680" cy="603504"/>
          </a:xfrm>
          <a:prstGeom prst="rect">
            <a:avLst/>
          </a:prstGeom>
          <a:noFill/>
          <a:ln/>
        </p:spPr>
        <p:txBody>
          <a:bodyPr wrap="square" lIns="0" tIns="0" rIns="0" bIns="0"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Definiteness</a:t>
            </a:r>
            <a:endParaRPr lang="en-US" sz="1700" dirty="0"/>
          </a:p>
        </p:txBody>
      </p:sp>
      <p:sp>
        <p:nvSpPr>
          <p:cNvPr id="15" name="Text 12"/>
          <p:cNvSpPr txBox="1"/>
          <p:nvPr/>
        </p:nvSpPr>
        <p:spPr>
          <a:xfrm>
            <a:off x="2788920" y="3886200"/>
            <a:ext cx="2743200" cy="603504"/>
          </a:xfrm>
          <a:prstGeom prst="rect">
            <a:avLst/>
          </a:prstGeom>
          <a:noFill/>
          <a:ln/>
        </p:spPr>
        <p:txBody>
          <a:bodyPr wrap="square" lIns="0" tIns="0" rIns="0" bIns="0" rtlCol="0" anchor="ctr"/>
          <a:lstStyle/>
          <a:p>
            <a:pPr indent="0" marL="0">
              <a:buNone/>
            </a:pPr>
            <a:r>
              <a:rPr lang="en-US" sz="1600" dirty="0">
                <a:solidFill>
                  <a:srgbClr val="ADBAC7"/>
                </a:solidFill>
                <a:latin typeface="Calibri" pitchFamily="34" charset="0"/>
                <a:ea typeface="Calibri" pitchFamily="34" charset="-122"/>
                <a:cs typeface="Calibri" pitchFamily="34" charset="-120"/>
              </a:rPr>
              <a:t>every step is exact</a:t>
            </a:r>
            <a:endParaRPr lang="en-US" sz="1600" dirty="0"/>
          </a:p>
        </p:txBody>
      </p:sp>
      <p:sp>
        <p:nvSpPr>
          <p:cNvPr id="16" name="Shape 13"/>
          <p:cNvSpPr/>
          <p:nvPr/>
        </p:nvSpPr>
        <p:spPr>
          <a:xfrm>
            <a:off x="548640" y="4617720"/>
            <a:ext cx="5120640" cy="603504"/>
          </a:xfrm>
          <a:prstGeom prst="roundRect">
            <a:avLst>
              <a:gd name="adj" fmla="val 15152"/>
            </a:avLst>
          </a:prstGeom>
          <a:solidFill>
            <a:srgbClr val="161B22"/>
          </a:solidFill>
          <a:ln w="12700">
            <a:solidFill>
              <a:srgbClr val="30363D"/>
            </a:solidFill>
            <a:prstDash val="solid"/>
          </a:ln>
        </p:spPr>
      </p:sp>
      <p:sp>
        <p:nvSpPr>
          <p:cNvPr id="17" name="Text 14"/>
          <p:cNvSpPr txBox="1"/>
          <p:nvPr/>
        </p:nvSpPr>
        <p:spPr>
          <a:xfrm>
            <a:off x="777240" y="4617720"/>
            <a:ext cx="2011680" cy="603504"/>
          </a:xfrm>
          <a:prstGeom prst="rect">
            <a:avLst/>
          </a:prstGeom>
          <a:noFill/>
          <a:ln/>
        </p:spPr>
        <p:txBody>
          <a:bodyPr wrap="square" lIns="0" tIns="0" rIns="0" bIns="0"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Finiteness</a:t>
            </a:r>
            <a:endParaRPr lang="en-US" sz="1700" dirty="0"/>
          </a:p>
        </p:txBody>
      </p:sp>
      <p:sp>
        <p:nvSpPr>
          <p:cNvPr id="18" name="Text 15"/>
          <p:cNvSpPr txBox="1"/>
          <p:nvPr/>
        </p:nvSpPr>
        <p:spPr>
          <a:xfrm>
            <a:off x="2788920" y="4617720"/>
            <a:ext cx="2743200" cy="603504"/>
          </a:xfrm>
          <a:prstGeom prst="rect">
            <a:avLst/>
          </a:prstGeom>
          <a:noFill/>
          <a:ln/>
        </p:spPr>
        <p:txBody>
          <a:bodyPr wrap="square" lIns="0" tIns="0" rIns="0" bIns="0" rtlCol="0" anchor="ctr"/>
          <a:lstStyle/>
          <a:p>
            <a:pPr indent="0" marL="0">
              <a:buNone/>
            </a:pPr>
            <a:r>
              <a:rPr lang="en-US" sz="1600" dirty="0">
                <a:solidFill>
                  <a:srgbClr val="ADBAC7"/>
                </a:solidFill>
                <a:latin typeface="Calibri" pitchFamily="34" charset="0"/>
                <a:ea typeface="Calibri" pitchFamily="34" charset="-122"/>
                <a:cs typeface="Calibri" pitchFamily="34" charset="-120"/>
              </a:rPr>
              <a:t>it always finishes</a:t>
            </a:r>
            <a:endParaRPr lang="en-US" sz="1600" dirty="0"/>
          </a:p>
        </p:txBody>
      </p:sp>
      <p:sp>
        <p:nvSpPr>
          <p:cNvPr id="19" name="Shape 16"/>
          <p:cNvSpPr/>
          <p:nvPr/>
        </p:nvSpPr>
        <p:spPr>
          <a:xfrm>
            <a:off x="548640" y="5349240"/>
            <a:ext cx="5120640" cy="603504"/>
          </a:xfrm>
          <a:prstGeom prst="roundRect">
            <a:avLst>
              <a:gd name="adj" fmla="val 15152"/>
            </a:avLst>
          </a:prstGeom>
          <a:solidFill>
            <a:srgbClr val="161B22"/>
          </a:solidFill>
          <a:ln w="12700">
            <a:solidFill>
              <a:srgbClr val="30363D"/>
            </a:solidFill>
            <a:prstDash val="solid"/>
          </a:ln>
        </p:spPr>
      </p:sp>
      <p:sp>
        <p:nvSpPr>
          <p:cNvPr id="20" name="Text 17"/>
          <p:cNvSpPr txBox="1"/>
          <p:nvPr/>
        </p:nvSpPr>
        <p:spPr>
          <a:xfrm>
            <a:off x="777240" y="5349240"/>
            <a:ext cx="2011680" cy="603504"/>
          </a:xfrm>
          <a:prstGeom prst="rect">
            <a:avLst/>
          </a:prstGeom>
          <a:noFill/>
          <a:ln/>
        </p:spPr>
        <p:txBody>
          <a:bodyPr wrap="square" lIns="0" tIns="0" rIns="0" bIns="0"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Effectiveness</a:t>
            </a:r>
            <a:endParaRPr lang="en-US" sz="1700" dirty="0"/>
          </a:p>
        </p:txBody>
      </p:sp>
      <p:sp>
        <p:nvSpPr>
          <p:cNvPr id="21" name="Text 18"/>
          <p:cNvSpPr txBox="1"/>
          <p:nvPr/>
        </p:nvSpPr>
        <p:spPr>
          <a:xfrm>
            <a:off x="2788920" y="5349240"/>
            <a:ext cx="2743200" cy="603504"/>
          </a:xfrm>
          <a:prstGeom prst="rect">
            <a:avLst/>
          </a:prstGeom>
          <a:noFill/>
          <a:ln/>
        </p:spPr>
        <p:txBody>
          <a:bodyPr wrap="square" lIns="0" tIns="0" rIns="0" bIns="0" rtlCol="0" anchor="ctr"/>
          <a:lstStyle/>
          <a:p>
            <a:pPr indent="0" marL="0">
              <a:buNone/>
            </a:pPr>
            <a:r>
              <a:rPr lang="en-US" sz="1600" dirty="0">
                <a:solidFill>
                  <a:srgbClr val="ADBAC7"/>
                </a:solidFill>
                <a:latin typeface="Calibri" pitchFamily="34" charset="0"/>
                <a:ea typeface="Calibri" pitchFamily="34" charset="-122"/>
                <a:cs typeface="Calibri" pitchFamily="34" charset="-120"/>
              </a:rPr>
              <a:t>every step is doable</a:t>
            </a:r>
            <a:endParaRPr lang="en-US" sz="1600" dirty="0"/>
          </a:p>
        </p:txBody>
      </p:sp>
      <p:sp>
        <p:nvSpPr>
          <p:cNvPr id="22" name="Text 19"/>
          <p:cNvSpPr txBox="1"/>
          <p:nvPr/>
        </p:nvSpPr>
        <p:spPr>
          <a:xfrm>
            <a:off x="6217920" y="2423160"/>
            <a:ext cx="539496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Example: largest of three</a:t>
            </a:r>
            <a:endParaRPr lang="en-US" sz="1700" dirty="0"/>
          </a:p>
        </p:txBody>
      </p:sp>
      <p:sp>
        <p:nvSpPr>
          <p:cNvPr id="23" name="Shape 20"/>
          <p:cNvSpPr/>
          <p:nvPr/>
        </p:nvSpPr>
        <p:spPr>
          <a:xfrm>
            <a:off x="6217920" y="2834640"/>
            <a:ext cx="5422392" cy="2011680"/>
          </a:xfrm>
          <a:prstGeom prst="roundRect">
            <a:avLst>
              <a:gd name="adj" fmla="val 4545"/>
            </a:avLst>
          </a:prstGeom>
          <a:solidFill>
            <a:srgbClr val="0D1117"/>
          </a:solidFill>
          <a:ln w="12700">
            <a:solidFill>
              <a:srgbClr val="30363D"/>
            </a:solidFill>
            <a:prstDash val="solid"/>
          </a:ln>
        </p:spPr>
      </p:sp>
      <p:sp>
        <p:nvSpPr>
          <p:cNvPr id="24" name="Text 21"/>
          <p:cNvSpPr txBox="1"/>
          <p:nvPr/>
        </p:nvSpPr>
        <p:spPr>
          <a:xfrm>
            <a:off x="6446520" y="2999232"/>
            <a:ext cx="4965192" cy="1737360"/>
          </a:xfrm>
          <a:prstGeom prst="rect">
            <a:avLst/>
          </a:prstGeom>
          <a:noFill/>
          <a:ln/>
        </p:spPr>
        <p:txBody>
          <a:bodyPr wrap="square" lIns="0" tIns="0" rIns="0" bIns="0" rtlCol="0" anchor="t"/>
          <a:lstStyle/>
          <a:p>
            <a:pPr indent="0" marL="0">
              <a:lnSpc>
                <a:spcPct val="115000"/>
              </a:lnSpc>
              <a:buNone/>
            </a:pPr>
            <a:r>
              <a:rPr lang="en-US" sz="1500" dirty="0">
                <a:solidFill>
                  <a:srgbClr val="E6EDF3"/>
                </a:solidFill>
                <a:latin typeface="Courier New" pitchFamily="34" charset="0"/>
                <a:ea typeface="Courier New" pitchFamily="34" charset="-122"/>
                <a:cs typeface="Courier New" pitchFamily="34" charset="-120"/>
              </a:rPr>
              <a:t>1. Read a, b, c</a:t>
            </a:r>
            <a:endParaRPr lang="en-US" sz="1500" dirty="0"/>
          </a:p>
          <a:p>
            <a:pPr indent="0" marL="0">
              <a:lnSpc>
                <a:spcPct val="115000"/>
              </a:lnSpc>
              <a:buNone/>
            </a:pPr>
            <a:r>
              <a:rPr lang="en-US" sz="1500" dirty="0">
                <a:solidFill>
                  <a:srgbClr val="E6EDF3"/>
                </a:solidFill>
                <a:latin typeface="Courier New" pitchFamily="34" charset="0"/>
                <a:ea typeface="Courier New" pitchFamily="34" charset="-122"/>
                <a:cs typeface="Courier New" pitchFamily="34" charset="-120"/>
              </a:rPr>
              <a:t>2. Set largest to a</a:t>
            </a:r>
            <a:endParaRPr lang="en-US" sz="1500" dirty="0"/>
          </a:p>
          <a:p>
            <a:pPr indent="0" marL="0">
              <a:lnSpc>
                <a:spcPct val="115000"/>
              </a:lnSpc>
              <a:buNone/>
            </a:pPr>
            <a:r>
              <a:rPr lang="en-US" sz="1500" dirty="0">
                <a:solidFill>
                  <a:srgbClr val="E6EDF3"/>
                </a:solidFill>
                <a:latin typeface="Courier New" pitchFamily="34" charset="0"/>
                <a:ea typeface="Courier New" pitchFamily="34" charset="-122"/>
                <a:cs typeface="Courier New" pitchFamily="34" charset="-120"/>
              </a:rPr>
              <a:t>3. If b &gt; largest, set largest to b</a:t>
            </a:r>
            <a:endParaRPr lang="en-US" sz="1500" dirty="0"/>
          </a:p>
          <a:p>
            <a:pPr indent="0" marL="0">
              <a:lnSpc>
                <a:spcPct val="115000"/>
              </a:lnSpc>
              <a:buNone/>
            </a:pPr>
            <a:r>
              <a:rPr lang="en-US" sz="1500" dirty="0">
                <a:solidFill>
                  <a:srgbClr val="E6EDF3"/>
                </a:solidFill>
                <a:latin typeface="Courier New" pitchFamily="34" charset="0"/>
                <a:ea typeface="Courier New" pitchFamily="34" charset="-122"/>
                <a:cs typeface="Courier New" pitchFamily="34" charset="-120"/>
              </a:rPr>
              <a:t>4. If c &gt; largest, set largest to c</a:t>
            </a:r>
            <a:endParaRPr lang="en-US" sz="1500" dirty="0"/>
          </a:p>
          <a:p>
            <a:pPr indent="0" marL="0">
              <a:lnSpc>
                <a:spcPct val="115000"/>
              </a:lnSpc>
              <a:buNone/>
            </a:pPr>
            <a:r>
              <a:rPr lang="en-US" sz="1500" dirty="0">
                <a:solidFill>
                  <a:srgbClr val="E6EDF3"/>
                </a:solidFill>
                <a:latin typeface="Courier New" pitchFamily="34" charset="0"/>
                <a:ea typeface="Courier New" pitchFamily="34" charset="-122"/>
                <a:cs typeface="Courier New" pitchFamily="34" charset="-120"/>
              </a:rPr>
              <a:t>5. Output largest</a:t>
            </a:r>
            <a:endParaRPr lang="en-US" sz="1500" dirty="0"/>
          </a:p>
        </p:txBody>
      </p:sp>
      <p:sp>
        <p:nvSpPr>
          <p:cNvPr id="25" name="Text 22"/>
          <p:cNvSpPr txBox="1"/>
          <p:nvPr/>
        </p:nvSpPr>
        <p:spPr>
          <a:xfrm>
            <a:off x="6217920" y="5074920"/>
            <a:ext cx="5422392" cy="457200"/>
          </a:xfrm>
          <a:prstGeom prst="rect">
            <a:avLst/>
          </a:prstGeom>
          <a:noFill/>
          <a:ln/>
        </p:spPr>
        <p:txBody>
          <a:bodyPr wrap="square" lIns="0" tIns="0" rIns="0" bIns="0" rtlCol="0" anchor="t"/>
          <a:lstStyle/>
          <a:p>
            <a:pPr indent="0" marL="0">
              <a:buNone/>
            </a:pPr>
            <a:r>
              <a:rPr lang="en-US" sz="1600" b="1" dirty="0">
                <a:solidFill>
                  <a:srgbClr val="3FB950"/>
                </a:solidFill>
                <a:latin typeface="Calibri" pitchFamily="34" charset="0"/>
                <a:ea typeface="Calibri" pitchFamily="34" charset="-122"/>
                <a:cs typeface="Calibri" pitchFamily="34" charset="-120"/>
              </a:rPr>
              <a:t>Algorithm = the idea.  Program = one implementation of it.</a:t>
            </a:r>
            <a:endParaRPr lang="en-US" sz="1600" dirty="0"/>
          </a:p>
        </p:txBody>
      </p:sp>
      <p:sp>
        <p:nvSpPr>
          <p:cNvPr id="26" name="Text 23"/>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7" name="Text 24"/>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04</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Input → Processing → Output</a:t>
            </a:r>
            <a:endParaRPr lang="en-US" sz="3400" dirty="0"/>
          </a:p>
        </p:txBody>
      </p:sp>
      <p:sp>
        <p:nvSpPr>
          <p:cNvPr id="5" name="Shape 2"/>
          <p:cNvSpPr/>
          <p:nvPr/>
        </p:nvSpPr>
        <p:spPr>
          <a:xfrm>
            <a:off x="548640" y="1600200"/>
            <a:ext cx="3383280" cy="2194560"/>
          </a:xfrm>
          <a:prstGeom prst="roundRect">
            <a:avLst>
              <a:gd name="adj" fmla="val 4167"/>
            </a:avLst>
          </a:prstGeom>
          <a:solidFill>
            <a:srgbClr val="161B22"/>
          </a:solidFill>
          <a:ln w="19050">
            <a:solidFill>
              <a:srgbClr val="30363D"/>
            </a:solidFill>
            <a:prstDash val="solid"/>
          </a:ln>
        </p:spPr>
      </p:sp>
      <p:sp>
        <p:nvSpPr>
          <p:cNvPr id="6" name="Text 3"/>
          <p:cNvSpPr txBox="1"/>
          <p:nvPr/>
        </p:nvSpPr>
        <p:spPr>
          <a:xfrm>
            <a:off x="548640" y="1783080"/>
            <a:ext cx="3383280" cy="502920"/>
          </a:xfrm>
          <a:prstGeom prst="rect">
            <a:avLst/>
          </a:prstGeom>
          <a:noFill/>
          <a:ln/>
        </p:spPr>
        <p:txBody>
          <a:bodyPr wrap="square" lIns="0" tIns="0" rIns="0" bIns="0" rtlCol="0" anchor="t"/>
          <a:lstStyle/>
          <a:p>
            <a:pPr algn="ctr" indent="0" marL="0">
              <a:buNone/>
            </a:pPr>
            <a:r>
              <a:rPr lang="en-US" sz="2400" b="1" dirty="0">
                <a:solidFill>
                  <a:srgbClr val="E6EDF3"/>
                </a:solidFill>
                <a:latin typeface="Calibri" pitchFamily="34" charset="0"/>
                <a:ea typeface="Calibri" pitchFamily="34" charset="-122"/>
                <a:cs typeface="Calibri" pitchFamily="34" charset="-120"/>
              </a:rPr>
              <a:t>Input</a:t>
            </a:r>
            <a:endParaRPr lang="en-US" sz="2400" dirty="0"/>
          </a:p>
        </p:txBody>
      </p:sp>
      <p:sp>
        <p:nvSpPr>
          <p:cNvPr id="7" name="Text 4"/>
          <p:cNvSpPr txBox="1"/>
          <p:nvPr/>
        </p:nvSpPr>
        <p:spPr>
          <a:xfrm>
            <a:off x="548640" y="2468880"/>
            <a:ext cx="3383280" cy="1005840"/>
          </a:xfrm>
          <a:prstGeom prst="rect">
            <a:avLst/>
          </a:prstGeom>
          <a:noFill/>
          <a:ln/>
        </p:spPr>
        <p:txBody>
          <a:bodyPr wrap="square" lIns="0" tIns="0" rIns="0" bIns="0" rtlCol="0" anchor="ctr"/>
          <a:lstStyle/>
          <a:p>
            <a:pPr algn="ctr" indent="0" marL="0">
              <a:buNone/>
            </a:pPr>
            <a:r>
              <a:rPr lang="en-US" sz="1800" dirty="0">
                <a:solidFill>
                  <a:srgbClr val="ADBAC7"/>
                </a:solidFill>
                <a:latin typeface="Courier New" pitchFamily="34" charset="0"/>
                <a:ea typeface="Courier New" pitchFamily="34" charset="-122"/>
                <a:cs typeface="Courier New" pitchFamily="34" charset="-120"/>
              </a:rPr>
              <a:t>width = 5</a:t>
            </a:r>
            <a:endParaRPr lang="en-US" sz="1800" dirty="0"/>
          </a:p>
          <a:p>
            <a:pPr algn="ctr" indent="0" marL="0">
              <a:buNone/>
            </a:pPr>
            <a:r>
              <a:rPr lang="en-US" sz="1800" dirty="0">
                <a:solidFill>
                  <a:srgbClr val="ADBAC7"/>
                </a:solidFill>
                <a:latin typeface="Courier New" pitchFamily="34" charset="0"/>
                <a:ea typeface="Courier New" pitchFamily="34" charset="-122"/>
                <a:cs typeface="Courier New" pitchFamily="34" charset="-120"/>
              </a:rPr>
              <a:t>height = 3</a:t>
            </a:r>
            <a:endParaRPr lang="en-US" sz="1800" dirty="0"/>
          </a:p>
        </p:txBody>
      </p:sp>
      <p:sp>
        <p:nvSpPr>
          <p:cNvPr id="8" name="Shape 5"/>
          <p:cNvSpPr/>
          <p:nvPr/>
        </p:nvSpPr>
        <p:spPr>
          <a:xfrm>
            <a:off x="3977640" y="2697480"/>
            <a:ext cx="365760" cy="0"/>
          </a:xfrm>
          <a:prstGeom prst="line">
            <a:avLst/>
          </a:prstGeom>
          <a:noFill/>
          <a:ln w="22225">
            <a:solidFill>
              <a:srgbClr val="8B949E"/>
            </a:solidFill>
            <a:prstDash val="solid"/>
            <a:tailEnd type="triangle"/>
          </a:ln>
        </p:spPr>
      </p:sp>
      <p:sp>
        <p:nvSpPr>
          <p:cNvPr id="9" name="Shape 6"/>
          <p:cNvSpPr/>
          <p:nvPr/>
        </p:nvSpPr>
        <p:spPr>
          <a:xfrm>
            <a:off x="4389120" y="1600200"/>
            <a:ext cx="3383280" cy="2194560"/>
          </a:xfrm>
          <a:prstGeom prst="roundRect">
            <a:avLst>
              <a:gd name="adj" fmla="val 4167"/>
            </a:avLst>
          </a:prstGeom>
          <a:solidFill>
            <a:srgbClr val="0F2440"/>
          </a:solidFill>
          <a:ln w="19050">
            <a:solidFill>
              <a:srgbClr val="58A6FF"/>
            </a:solidFill>
            <a:prstDash val="solid"/>
          </a:ln>
        </p:spPr>
      </p:sp>
      <p:sp>
        <p:nvSpPr>
          <p:cNvPr id="10" name="Text 7"/>
          <p:cNvSpPr txBox="1"/>
          <p:nvPr/>
        </p:nvSpPr>
        <p:spPr>
          <a:xfrm>
            <a:off x="4389120" y="1783080"/>
            <a:ext cx="3383280" cy="502920"/>
          </a:xfrm>
          <a:prstGeom prst="rect">
            <a:avLst/>
          </a:prstGeom>
          <a:noFill/>
          <a:ln/>
        </p:spPr>
        <p:txBody>
          <a:bodyPr wrap="square" lIns="0" tIns="0" rIns="0" bIns="0" rtlCol="0" anchor="t"/>
          <a:lstStyle/>
          <a:p>
            <a:pPr algn="ctr" indent="0" marL="0">
              <a:buNone/>
            </a:pPr>
            <a:r>
              <a:rPr lang="en-US" sz="2400" b="1" dirty="0">
                <a:solidFill>
                  <a:srgbClr val="E6EDF3"/>
                </a:solidFill>
                <a:latin typeface="Calibri" pitchFamily="34" charset="0"/>
                <a:ea typeface="Calibri" pitchFamily="34" charset="-122"/>
                <a:cs typeface="Calibri" pitchFamily="34" charset="-120"/>
              </a:rPr>
              <a:t>Processing</a:t>
            </a:r>
            <a:endParaRPr lang="en-US" sz="2400" dirty="0"/>
          </a:p>
        </p:txBody>
      </p:sp>
      <p:sp>
        <p:nvSpPr>
          <p:cNvPr id="11" name="Text 8"/>
          <p:cNvSpPr txBox="1"/>
          <p:nvPr/>
        </p:nvSpPr>
        <p:spPr>
          <a:xfrm>
            <a:off x="4389120" y="2468880"/>
            <a:ext cx="3383280" cy="1005840"/>
          </a:xfrm>
          <a:prstGeom prst="rect">
            <a:avLst/>
          </a:prstGeom>
          <a:noFill/>
          <a:ln/>
        </p:spPr>
        <p:txBody>
          <a:bodyPr wrap="square" lIns="0" tIns="0" rIns="0" bIns="0" rtlCol="0" anchor="ctr"/>
          <a:lstStyle/>
          <a:p>
            <a:pPr algn="ctr" indent="0" marL="0">
              <a:buNone/>
            </a:pPr>
            <a:r>
              <a:rPr lang="en-US" sz="1800" dirty="0">
                <a:solidFill>
                  <a:srgbClr val="ADBAC7"/>
                </a:solidFill>
                <a:latin typeface="Courier New" pitchFamily="34" charset="0"/>
                <a:ea typeface="Courier New" pitchFamily="34" charset="-122"/>
                <a:cs typeface="Courier New" pitchFamily="34" charset="-120"/>
              </a:rPr>
              <a:t>area = width × height</a:t>
            </a:r>
            <a:endParaRPr lang="en-US" sz="1800" dirty="0"/>
          </a:p>
        </p:txBody>
      </p:sp>
      <p:sp>
        <p:nvSpPr>
          <p:cNvPr id="12" name="Shape 9"/>
          <p:cNvSpPr/>
          <p:nvPr/>
        </p:nvSpPr>
        <p:spPr>
          <a:xfrm>
            <a:off x="7818120" y="2697480"/>
            <a:ext cx="365760" cy="0"/>
          </a:xfrm>
          <a:prstGeom prst="line">
            <a:avLst/>
          </a:prstGeom>
          <a:noFill/>
          <a:ln w="22225">
            <a:solidFill>
              <a:srgbClr val="8B949E"/>
            </a:solidFill>
            <a:prstDash val="solid"/>
            <a:tailEnd type="triangle"/>
          </a:ln>
        </p:spPr>
      </p:sp>
      <p:sp>
        <p:nvSpPr>
          <p:cNvPr id="13" name="Shape 10"/>
          <p:cNvSpPr/>
          <p:nvPr/>
        </p:nvSpPr>
        <p:spPr>
          <a:xfrm>
            <a:off x="8229600" y="1600200"/>
            <a:ext cx="3383280" cy="2194560"/>
          </a:xfrm>
          <a:prstGeom prst="roundRect">
            <a:avLst>
              <a:gd name="adj" fmla="val 4167"/>
            </a:avLst>
          </a:prstGeom>
          <a:solidFill>
            <a:srgbClr val="12261A"/>
          </a:solidFill>
          <a:ln w="19050">
            <a:solidFill>
              <a:srgbClr val="3FB950"/>
            </a:solidFill>
            <a:prstDash val="solid"/>
          </a:ln>
        </p:spPr>
      </p:sp>
      <p:sp>
        <p:nvSpPr>
          <p:cNvPr id="14" name="Text 11"/>
          <p:cNvSpPr txBox="1"/>
          <p:nvPr/>
        </p:nvSpPr>
        <p:spPr>
          <a:xfrm>
            <a:off x="8229600" y="1783080"/>
            <a:ext cx="3383280" cy="502920"/>
          </a:xfrm>
          <a:prstGeom prst="rect">
            <a:avLst/>
          </a:prstGeom>
          <a:noFill/>
          <a:ln/>
        </p:spPr>
        <p:txBody>
          <a:bodyPr wrap="square" lIns="0" tIns="0" rIns="0" bIns="0" rtlCol="0" anchor="t"/>
          <a:lstStyle/>
          <a:p>
            <a:pPr algn="ctr" indent="0" marL="0">
              <a:buNone/>
            </a:pPr>
            <a:r>
              <a:rPr lang="en-US" sz="2400" b="1" dirty="0">
                <a:solidFill>
                  <a:srgbClr val="E6EDF3"/>
                </a:solidFill>
                <a:latin typeface="Calibri" pitchFamily="34" charset="0"/>
                <a:ea typeface="Calibri" pitchFamily="34" charset="-122"/>
                <a:cs typeface="Calibri" pitchFamily="34" charset="-120"/>
              </a:rPr>
              <a:t>Output</a:t>
            </a:r>
            <a:endParaRPr lang="en-US" sz="2400" dirty="0"/>
          </a:p>
        </p:txBody>
      </p:sp>
      <p:sp>
        <p:nvSpPr>
          <p:cNvPr id="15" name="Text 12"/>
          <p:cNvSpPr txBox="1"/>
          <p:nvPr/>
        </p:nvSpPr>
        <p:spPr>
          <a:xfrm>
            <a:off x="8229600" y="2468880"/>
            <a:ext cx="3383280" cy="1005840"/>
          </a:xfrm>
          <a:prstGeom prst="rect">
            <a:avLst/>
          </a:prstGeom>
          <a:noFill/>
          <a:ln/>
        </p:spPr>
        <p:txBody>
          <a:bodyPr wrap="square" lIns="0" tIns="0" rIns="0" bIns="0" rtlCol="0" anchor="ctr"/>
          <a:lstStyle/>
          <a:p>
            <a:pPr algn="ctr" indent="0" marL="0">
              <a:buNone/>
            </a:pPr>
            <a:r>
              <a:rPr lang="en-US" sz="1800" dirty="0">
                <a:solidFill>
                  <a:srgbClr val="ADBAC7"/>
                </a:solidFill>
                <a:latin typeface="Courier New" pitchFamily="34" charset="0"/>
                <a:ea typeface="Courier New" pitchFamily="34" charset="-122"/>
                <a:cs typeface="Courier New" pitchFamily="34" charset="-120"/>
              </a:rPr>
              <a:t>area = 15</a:t>
            </a:r>
            <a:endParaRPr lang="en-US" sz="1800" dirty="0"/>
          </a:p>
        </p:txBody>
      </p:sp>
      <p:sp>
        <p:nvSpPr>
          <p:cNvPr id="16" name="Text 13"/>
          <p:cNvSpPr txBox="1"/>
          <p:nvPr/>
        </p:nvSpPr>
        <p:spPr>
          <a:xfrm>
            <a:off x="548640" y="4114800"/>
            <a:ext cx="5486400" cy="32004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How it looks in C++ (preview)</a:t>
            </a:r>
            <a:endParaRPr lang="en-US" sz="1400" dirty="0"/>
          </a:p>
        </p:txBody>
      </p:sp>
      <p:sp>
        <p:nvSpPr>
          <p:cNvPr id="17" name="Shape 14"/>
          <p:cNvSpPr/>
          <p:nvPr/>
        </p:nvSpPr>
        <p:spPr>
          <a:xfrm>
            <a:off x="548640" y="4480560"/>
            <a:ext cx="6949440" cy="1737360"/>
          </a:xfrm>
          <a:prstGeom prst="roundRect">
            <a:avLst>
              <a:gd name="adj" fmla="val 5263"/>
            </a:avLst>
          </a:prstGeom>
          <a:solidFill>
            <a:srgbClr val="0D1117"/>
          </a:solidFill>
          <a:ln w="12700">
            <a:solidFill>
              <a:srgbClr val="30363D"/>
            </a:solidFill>
            <a:prstDash val="solid"/>
          </a:ln>
        </p:spPr>
      </p:sp>
      <p:sp>
        <p:nvSpPr>
          <p:cNvPr id="18" name="Text 15"/>
          <p:cNvSpPr txBox="1"/>
          <p:nvPr/>
        </p:nvSpPr>
        <p:spPr>
          <a:xfrm>
            <a:off x="777240" y="4645152"/>
            <a:ext cx="6492240" cy="1463040"/>
          </a:xfrm>
          <a:prstGeom prst="rect">
            <a:avLst/>
          </a:prstGeom>
          <a:noFill/>
          <a:ln/>
        </p:spPr>
        <p:txBody>
          <a:bodyPr wrap="square" lIns="0" tIns="0" rIns="0" bIns="0" rtlCol="0" anchor="t"/>
          <a:lstStyle/>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int width{};</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int height{};</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std::cin &gt;&gt; width &gt;&gt; height;       // input</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int area{width * height};          // processing</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std::cout &lt;&lt; "Area: " &lt;&lt; area &lt;&lt; '\n';  // output</a:t>
            </a:r>
            <a:endParaRPr lang="en-US" sz="1400" dirty="0"/>
          </a:p>
        </p:txBody>
      </p:sp>
      <p:sp>
        <p:nvSpPr>
          <p:cNvPr id="19" name="Shape 16"/>
          <p:cNvSpPr/>
          <p:nvPr/>
        </p:nvSpPr>
        <p:spPr>
          <a:xfrm>
            <a:off x="7772400" y="4480560"/>
            <a:ext cx="3867912" cy="1737360"/>
          </a:xfrm>
          <a:prstGeom prst="roundRect">
            <a:avLst>
              <a:gd name="adj" fmla="val 5263"/>
            </a:avLst>
          </a:prstGeom>
          <a:solidFill>
            <a:srgbClr val="2D1215"/>
          </a:solidFill>
          <a:ln w="12700">
            <a:solidFill>
              <a:srgbClr val="2D1215"/>
            </a:solidFill>
            <a:prstDash val="solid"/>
          </a:ln>
        </p:spPr>
      </p:sp>
      <p:sp>
        <p:nvSpPr>
          <p:cNvPr id="20" name="Text 17"/>
          <p:cNvSpPr txBox="1"/>
          <p:nvPr/>
        </p:nvSpPr>
        <p:spPr>
          <a:xfrm>
            <a:off x="7973568" y="4608576"/>
            <a:ext cx="3465576" cy="151790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Common mistake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Assuming input is always valid. Missing, negative, or non-numeric input must be handled.</a:t>
            </a:r>
            <a:endParaRPr lang="en-US" sz="1600" dirty="0"/>
          </a:p>
        </p:txBody>
      </p:sp>
      <p:sp>
        <p:nvSpPr>
          <p:cNvPr id="21" name="Text 18"/>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2" name="Text 19"/>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05</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Variables as stored state</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A variable is a named place holding a value that can change. State = all variable values at one moment.</a:t>
            </a:r>
            <a:endParaRPr lang="en-US" sz="1800" dirty="0"/>
          </a:p>
        </p:txBody>
      </p:sp>
      <p:sp>
        <p:nvSpPr>
          <p:cNvPr id="7" name="Text 4"/>
          <p:cNvSpPr txBox="1"/>
          <p:nvPr/>
        </p:nvSpPr>
        <p:spPr>
          <a:xfrm>
            <a:off x="548640" y="2377440"/>
            <a:ext cx="54864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Swap a and b with a temporary variable</a:t>
            </a:r>
            <a:endParaRPr lang="en-US" sz="1700" dirty="0"/>
          </a:p>
        </p:txBody>
      </p:sp>
      <p:sp>
        <p:nvSpPr>
          <p:cNvPr id="8" name="Shape 5"/>
          <p:cNvSpPr/>
          <p:nvPr/>
        </p:nvSpPr>
        <p:spPr>
          <a:xfrm>
            <a:off x="548640" y="2788920"/>
            <a:ext cx="3840480" cy="1325880"/>
          </a:xfrm>
          <a:prstGeom prst="roundRect">
            <a:avLst>
              <a:gd name="adj" fmla="val 6897"/>
            </a:avLst>
          </a:prstGeom>
          <a:solidFill>
            <a:srgbClr val="0D1117"/>
          </a:solidFill>
          <a:ln w="12700">
            <a:solidFill>
              <a:srgbClr val="30363D"/>
            </a:solidFill>
            <a:prstDash val="solid"/>
          </a:ln>
        </p:spPr>
      </p:sp>
      <p:sp>
        <p:nvSpPr>
          <p:cNvPr id="9" name="Text 6"/>
          <p:cNvSpPr txBox="1"/>
          <p:nvPr/>
        </p:nvSpPr>
        <p:spPr>
          <a:xfrm>
            <a:off x="777240" y="2953512"/>
            <a:ext cx="3383280" cy="1051560"/>
          </a:xfrm>
          <a:prstGeom prst="rect">
            <a:avLst/>
          </a:prstGeom>
          <a:noFill/>
          <a:ln/>
        </p:spPr>
        <p:txBody>
          <a:bodyPr wrap="square" lIns="0" tIns="0" rIns="0" bIns="0" rtlCol="0" anchor="t"/>
          <a:lstStyle/>
          <a:p>
            <a:pPr indent="0" marL="0">
              <a:lnSpc>
                <a:spcPct val="115000"/>
              </a:lnSpc>
              <a:buNone/>
            </a:pPr>
            <a:r>
              <a:rPr lang="en-US" sz="1600" dirty="0">
                <a:solidFill>
                  <a:srgbClr val="E6EDF3"/>
                </a:solidFill>
                <a:latin typeface="Courier New" pitchFamily="34" charset="0"/>
                <a:ea typeface="Courier New" pitchFamily="34" charset="-122"/>
                <a:cs typeface="Courier New" pitchFamily="34" charset="-120"/>
              </a:rPr>
              <a:t>1. Set temp to a</a:t>
            </a:r>
            <a:endParaRPr lang="en-US" sz="1600" dirty="0"/>
          </a:p>
          <a:p>
            <a:pPr indent="0" marL="0">
              <a:lnSpc>
                <a:spcPct val="115000"/>
              </a:lnSpc>
              <a:buNone/>
            </a:pPr>
            <a:r>
              <a:rPr lang="en-US" sz="1600" dirty="0">
                <a:solidFill>
                  <a:srgbClr val="E6EDF3"/>
                </a:solidFill>
                <a:latin typeface="Courier New" pitchFamily="34" charset="0"/>
                <a:ea typeface="Courier New" pitchFamily="34" charset="-122"/>
                <a:cs typeface="Courier New" pitchFamily="34" charset="-120"/>
              </a:rPr>
              <a:t>2. Set a to b</a:t>
            </a:r>
            <a:endParaRPr lang="en-US" sz="1600" dirty="0"/>
          </a:p>
          <a:p>
            <a:pPr indent="0" marL="0">
              <a:lnSpc>
                <a:spcPct val="115000"/>
              </a:lnSpc>
              <a:buNone/>
            </a:pPr>
            <a:r>
              <a:rPr lang="en-US" sz="1600" dirty="0">
                <a:solidFill>
                  <a:srgbClr val="E6EDF3"/>
                </a:solidFill>
                <a:latin typeface="Courier New" pitchFamily="34" charset="0"/>
                <a:ea typeface="Courier New" pitchFamily="34" charset="-122"/>
                <a:cs typeface="Courier New" pitchFamily="34" charset="-120"/>
              </a:rPr>
              <a:t>3. Set b to temp</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754880" y="2788920"/>
          <a:ext cx="6885432" cy="914400"/>
        </p:xfrm>
        <a:graphic>
          <a:graphicData uri="http://schemas.openxmlformats.org/drawingml/2006/table">
            <a:tbl>
              <a:tblPr/>
              <a:tblGrid>
                <a:gridCol w="2221992"/>
                <a:gridCol w="1554480"/>
                <a:gridCol w="1554480"/>
                <a:gridCol w="1554480"/>
              </a:tblGrid>
              <a:tr h="384048">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After step</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temp</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384048">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11" name="Shape 7"/>
          <p:cNvSpPr/>
          <p:nvPr/>
        </p:nvSpPr>
        <p:spPr>
          <a:xfrm>
            <a:off x="548640" y="4983480"/>
            <a:ext cx="5394960" cy="1051560"/>
          </a:xfrm>
          <a:prstGeom prst="roundRect">
            <a:avLst>
              <a:gd name="adj" fmla="val 8696"/>
            </a:avLst>
          </a:prstGeom>
          <a:solidFill>
            <a:srgbClr val="2D1215"/>
          </a:solidFill>
          <a:ln w="12700">
            <a:solidFill>
              <a:srgbClr val="2D1215"/>
            </a:solidFill>
            <a:prstDash val="solid"/>
          </a:ln>
        </p:spPr>
      </p:sp>
      <p:sp>
        <p:nvSpPr>
          <p:cNvPr id="12" name="Text 8"/>
          <p:cNvSpPr txBox="1"/>
          <p:nvPr/>
        </p:nvSpPr>
        <p:spPr>
          <a:xfrm>
            <a:off x="749808" y="5111496"/>
            <a:ext cx="4992624" cy="83210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Common mistake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a = b, then b = a. After the first step both hold b's value, and a is lost.</a:t>
            </a:r>
            <a:endParaRPr lang="en-US" sz="1600" dirty="0"/>
          </a:p>
        </p:txBody>
      </p:sp>
      <p:sp>
        <p:nvSpPr>
          <p:cNvPr id="13" name="Shape 9"/>
          <p:cNvSpPr/>
          <p:nvPr/>
        </p:nvSpPr>
        <p:spPr>
          <a:xfrm>
            <a:off x="6245352" y="4983480"/>
            <a:ext cx="5394960" cy="1051560"/>
          </a:xfrm>
          <a:prstGeom prst="roundRect">
            <a:avLst>
              <a:gd name="adj" fmla="val 8696"/>
            </a:avLst>
          </a:prstGeom>
          <a:solidFill>
            <a:srgbClr val="12261A"/>
          </a:solidFill>
          <a:ln w="12700">
            <a:solidFill>
              <a:srgbClr val="12261A"/>
            </a:solidFill>
            <a:prstDash val="solid"/>
          </a:ln>
        </p:spPr>
      </p:sp>
      <p:sp>
        <p:nvSpPr>
          <p:cNvPr id="14" name="Text 10"/>
          <p:cNvSpPr txBox="1"/>
          <p:nvPr/>
        </p:nvSpPr>
        <p:spPr>
          <a:xfrm>
            <a:off x="6446520" y="5111496"/>
            <a:ext cx="4992624" cy="832104"/>
          </a:xfrm>
          <a:prstGeom prst="rect">
            <a:avLst/>
          </a:prstGeom>
          <a:noFill/>
          <a:ln/>
        </p:spPr>
        <p:txBody>
          <a:bodyPr wrap="square" lIns="0" tIns="0" rIns="0" bIns="0" rtlCol="0" anchor="t"/>
          <a:lstStyle/>
          <a:p>
            <a:pPr indent="0" marL="0">
              <a:buNone/>
            </a:pPr>
            <a:r>
              <a:rPr lang="en-US" sz="1500" b="1" dirty="0">
                <a:solidFill>
                  <a:srgbClr val="3FB950"/>
                </a:solidFill>
                <a:latin typeface="Calibri" pitchFamily="34" charset="0"/>
                <a:ea typeface="Calibri" pitchFamily="34" charset="-122"/>
                <a:cs typeface="Calibri" pitchFamily="34" charset="-120"/>
              </a:rPr>
              <a:t>Mental model</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A labelled box with one value. Putting in a new value throws the old one away.</a:t>
            </a:r>
            <a:endParaRPr lang="en-US" sz="1600" dirty="0"/>
          </a:p>
        </p:txBody>
      </p:sp>
      <p:sp>
        <p:nvSpPr>
          <p:cNvPr id="15" name="Text 11"/>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16" name="Text 12"/>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06</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Data and operations</a:t>
            </a:r>
            <a:endParaRPr lang="en-US" sz="3400" dirty="0"/>
          </a:p>
        </p:txBody>
      </p:sp>
      <p:sp>
        <p:nvSpPr>
          <p:cNvPr id="5" name="Shape 2"/>
          <p:cNvSpPr/>
          <p:nvPr/>
        </p:nvSpPr>
        <p:spPr>
          <a:xfrm>
            <a:off x="548640" y="1463040"/>
            <a:ext cx="2606040" cy="1188720"/>
          </a:xfrm>
          <a:prstGeom prst="roundRect">
            <a:avLst>
              <a:gd name="adj" fmla="val 7692"/>
            </a:avLst>
          </a:prstGeom>
          <a:solidFill>
            <a:srgbClr val="161B22"/>
          </a:solidFill>
          <a:ln w="12700">
            <a:solidFill>
              <a:srgbClr val="30363D"/>
            </a:solidFill>
            <a:prstDash val="solid"/>
          </a:ln>
        </p:spPr>
      </p:sp>
      <p:sp>
        <p:nvSpPr>
          <p:cNvPr id="6" name="Text 3"/>
          <p:cNvSpPr txBox="1"/>
          <p:nvPr/>
        </p:nvSpPr>
        <p:spPr>
          <a:xfrm>
            <a:off x="777240" y="1600200"/>
            <a:ext cx="2194560" cy="411480"/>
          </a:xfrm>
          <a:prstGeom prst="rect">
            <a:avLst/>
          </a:prstGeom>
          <a:noFill/>
          <a:ln/>
        </p:spPr>
        <p:txBody>
          <a:bodyPr wrap="square" lIns="0" tIns="0" rIns="0" bIns="0" rtlCol="0" anchor="t"/>
          <a:lstStyle/>
          <a:p>
            <a:pPr indent="0" marL="0">
              <a:buNone/>
            </a:pPr>
            <a:r>
              <a:rPr lang="en-US" sz="1800" b="1" dirty="0">
                <a:solidFill>
                  <a:srgbClr val="D2A8FF"/>
                </a:solidFill>
                <a:latin typeface="Calibri" pitchFamily="34" charset="0"/>
                <a:ea typeface="Calibri" pitchFamily="34" charset="-122"/>
                <a:cs typeface="Calibri" pitchFamily="34" charset="-120"/>
              </a:rPr>
              <a:t>Whole numbers</a:t>
            </a:r>
            <a:endParaRPr lang="en-US" sz="1800" dirty="0"/>
          </a:p>
        </p:txBody>
      </p:sp>
      <p:sp>
        <p:nvSpPr>
          <p:cNvPr id="7" name="Text 4"/>
          <p:cNvSpPr txBox="1"/>
          <p:nvPr/>
        </p:nvSpPr>
        <p:spPr>
          <a:xfrm>
            <a:off x="777240" y="2057400"/>
            <a:ext cx="2194560" cy="411480"/>
          </a:xfrm>
          <a:prstGeom prst="rect">
            <a:avLst/>
          </a:prstGeom>
          <a:noFill/>
          <a:ln/>
        </p:spPr>
        <p:txBody>
          <a:bodyPr wrap="square" lIns="0" tIns="0" rIns="0" bIns="0" rtlCol="0" anchor="t"/>
          <a:lstStyle/>
          <a:p>
            <a:pPr indent="0" marL="0">
              <a:buNone/>
            </a:pPr>
            <a:r>
              <a:rPr lang="en-US" sz="1500" dirty="0">
                <a:solidFill>
                  <a:srgbClr val="ADBAC7"/>
                </a:solidFill>
                <a:latin typeface="Courier New" pitchFamily="34" charset="0"/>
                <a:ea typeface="Courier New" pitchFamily="34" charset="-122"/>
                <a:cs typeface="Courier New" pitchFamily="34" charset="-120"/>
              </a:rPr>
              <a:t>7, −3, 1000</a:t>
            </a:r>
            <a:endParaRPr lang="en-US" sz="1500" dirty="0"/>
          </a:p>
        </p:txBody>
      </p:sp>
      <p:sp>
        <p:nvSpPr>
          <p:cNvPr id="8" name="Shape 5"/>
          <p:cNvSpPr/>
          <p:nvPr/>
        </p:nvSpPr>
        <p:spPr>
          <a:xfrm>
            <a:off x="3383280" y="1463040"/>
            <a:ext cx="2606040" cy="1188720"/>
          </a:xfrm>
          <a:prstGeom prst="roundRect">
            <a:avLst>
              <a:gd name="adj" fmla="val 7692"/>
            </a:avLst>
          </a:prstGeom>
          <a:solidFill>
            <a:srgbClr val="161B22"/>
          </a:solidFill>
          <a:ln w="12700">
            <a:solidFill>
              <a:srgbClr val="30363D"/>
            </a:solidFill>
            <a:prstDash val="solid"/>
          </a:ln>
        </p:spPr>
      </p:sp>
      <p:sp>
        <p:nvSpPr>
          <p:cNvPr id="9" name="Text 6"/>
          <p:cNvSpPr txBox="1"/>
          <p:nvPr/>
        </p:nvSpPr>
        <p:spPr>
          <a:xfrm>
            <a:off x="3611880" y="1600200"/>
            <a:ext cx="2194560" cy="411480"/>
          </a:xfrm>
          <a:prstGeom prst="rect">
            <a:avLst/>
          </a:prstGeom>
          <a:noFill/>
          <a:ln/>
        </p:spPr>
        <p:txBody>
          <a:bodyPr wrap="square" lIns="0" tIns="0" rIns="0" bIns="0" rtlCol="0" anchor="t"/>
          <a:lstStyle/>
          <a:p>
            <a:pPr indent="0" marL="0">
              <a:buNone/>
            </a:pPr>
            <a:r>
              <a:rPr lang="en-US" sz="1800" b="1" dirty="0">
                <a:solidFill>
                  <a:srgbClr val="D2A8FF"/>
                </a:solidFill>
                <a:latin typeface="Calibri" pitchFamily="34" charset="0"/>
                <a:ea typeface="Calibri" pitchFamily="34" charset="-122"/>
                <a:cs typeface="Calibri" pitchFamily="34" charset="-120"/>
              </a:rPr>
              <a:t>Fractional</a:t>
            </a:r>
            <a:endParaRPr lang="en-US" sz="1800" dirty="0"/>
          </a:p>
        </p:txBody>
      </p:sp>
      <p:sp>
        <p:nvSpPr>
          <p:cNvPr id="10" name="Text 7"/>
          <p:cNvSpPr txBox="1"/>
          <p:nvPr/>
        </p:nvSpPr>
        <p:spPr>
          <a:xfrm>
            <a:off x="3611880" y="2057400"/>
            <a:ext cx="2194560" cy="411480"/>
          </a:xfrm>
          <a:prstGeom prst="rect">
            <a:avLst/>
          </a:prstGeom>
          <a:noFill/>
          <a:ln/>
        </p:spPr>
        <p:txBody>
          <a:bodyPr wrap="square" lIns="0" tIns="0" rIns="0" bIns="0" rtlCol="0" anchor="t"/>
          <a:lstStyle/>
          <a:p>
            <a:pPr indent="0" marL="0">
              <a:buNone/>
            </a:pPr>
            <a:r>
              <a:rPr lang="en-US" sz="1500" dirty="0">
                <a:solidFill>
                  <a:srgbClr val="ADBAC7"/>
                </a:solidFill>
                <a:latin typeface="Courier New" pitchFamily="34" charset="0"/>
                <a:ea typeface="Courier New" pitchFamily="34" charset="-122"/>
                <a:cs typeface="Courier New" pitchFamily="34" charset="-120"/>
              </a:rPr>
              <a:t>3.14, −0.5</a:t>
            </a:r>
            <a:endParaRPr lang="en-US" sz="1500" dirty="0"/>
          </a:p>
        </p:txBody>
      </p:sp>
      <p:sp>
        <p:nvSpPr>
          <p:cNvPr id="11" name="Shape 8"/>
          <p:cNvSpPr/>
          <p:nvPr/>
        </p:nvSpPr>
        <p:spPr>
          <a:xfrm>
            <a:off x="6217920" y="1463040"/>
            <a:ext cx="2606040" cy="1188720"/>
          </a:xfrm>
          <a:prstGeom prst="roundRect">
            <a:avLst>
              <a:gd name="adj" fmla="val 7692"/>
            </a:avLst>
          </a:prstGeom>
          <a:solidFill>
            <a:srgbClr val="161B22"/>
          </a:solidFill>
          <a:ln w="12700">
            <a:solidFill>
              <a:srgbClr val="30363D"/>
            </a:solidFill>
            <a:prstDash val="solid"/>
          </a:ln>
        </p:spPr>
      </p:sp>
      <p:sp>
        <p:nvSpPr>
          <p:cNvPr id="12" name="Text 9"/>
          <p:cNvSpPr txBox="1"/>
          <p:nvPr/>
        </p:nvSpPr>
        <p:spPr>
          <a:xfrm>
            <a:off x="6446520" y="1600200"/>
            <a:ext cx="2194560" cy="411480"/>
          </a:xfrm>
          <a:prstGeom prst="rect">
            <a:avLst/>
          </a:prstGeom>
          <a:noFill/>
          <a:ln/>
        </p:spPr>
        <p:txBody>
          <a:bodyPr wrap="square" lIns="0" tIns="0" rIns="0" bIns="0" rtlCol="0" anchor="t"/>
          <a:lstStyle/>
          <a:p>
            <a:pPr indent="0" marL="0">
              <a:buNone/>
            </a:pPr>
            <a:r>
              <a:rPr lang="en-US" sz="1800" b="1" dirty="0">
                <a:solidFill>
                  <a:srgbClr val="D2A8FF"/>
                </a:solidFill>
                <a:latin typeface="Calibri" pitchFamily="34" charset="0"/>
                <a:ea typeface="Calibri" pitchFamily="34" charset="-122"/>
                <a:cs typeface="Calibri" pitchFamily="34" charset="-120"/>
              </a:rPr>
              <a:t>Text</a:t>
            </a:r>
            <a:endParaRPr lang="en-US" sz="1800" dirty="0"/>
          </a:p>
        </p:txBody>
      </p:sp>
      <p:sp>
        <p:nvSpPr>
          <p:cNvPr id="13" name="Text 10"/>
          <p:cNvSpPr txBox="1"/>
          <p:nvPr/>
        </p:nvSpPr>
        <p:spPr>
          <a:xfrm>
            <a:off x="6446520" y="2057400"/>
            <a:ext cx="2194560" cy="411480"/>
          </a:xfrm>
          <a:prstGeom prst="rect">
            <a:avLst/>
          </a:prstGeom>
          <a:noFill/>
          <a:ln/>
        </p:spPr>
        <p:txBody>
          <a:bodyPr wrap="square" lIns="0" tIns="0" rIns="0" bIns="0" rtlCol="0" anchor="t"/>
          <a:lstStyle/>
          <a:p>
            <a:pPr indent="0" marL="0">
              <a:buNone/>
            </a:pPr>
            <a:r>
              <a:rPr lang="en-US" sz="1500" dirty="0">
                <a:solidFill>
                  <a:srgbClr val="ADBAC7"/>
                </a:solidFill>
                <a:latin typeface="Courier New" pitchFamily="34" charset="0"/>
                <a:ea typeface="Courier New" pitchFamily="34" charset="-122"/>
                <a:cs typeface="Courier New" pitchFamily="34" charset="-120"/>
              </a:rPr>
              <a:t>"Akash"</a:t>
            </a:r>
            <a:endParaRPr lang="en-US" sz="1500" dirty="0"/>
          </a:p>
        </p:txBody>
      </p:sp>
      <p:sp>
        <p:nvSpPr>
          <p:cNvPr id="14" name="Shape 11"/>
          <p:cNvSpPr/>
          <p:nvPr/>
        </p:nvSpPr>
        <p:spPr>
          <a:xfrm>
            <a:off x="9052560" y="1463040"/>
            <a:ext cx="2606040" cy="1188720"/>
          </a:xfrm>
          <a:prstGeom prst="roundRect">
            <a:avLst>
              <a:gd name="adj" fmla="val 7692"/>
            </a:avLst>
          </a:prstGeom>
          <a:solidFill>
            <a:srgbClr val="161B22"/>
          </a:solidFill>
          <a:ln w="12700">
            <a:solidFill>
              <a:srgbClr val="30363D"/>
            </a:solidFill>
            <a:prstDash val="solid"/>
          </a:ln>
        </p:spPr>
      </p:sp>
      <p:sp>
        <p:nvSpPr>
          <p:cNvPr id="15" name="Text 12"/>
          <p:cNvSpPr txBox="1"/>
          <p:nvPr/>
        </p:nvSpPr>
        <p:spPr>
          <a:xfrm>
            <a:off x="9281160" y="1600200"/>
            <a:ext cx="2194560" cy="411480"/>
          </a:xfrm>
          <a:prstGeom prst="rect">
            <a:avLst/>
          </a:prstGeom>
          <a:noFill/>
          <a:ln/>
        </p:spPr>
        <p:txBody>
          <a:bodyPr wrap="square" lIns="0" tIns="0" rIns="0" bIns="0" rtlCol="0" anchor="t"/>
          <a:lstStyle/>
          <a:p>
            <a:pPr indent="0" marL="0">
              <a:buNone/>
            </a:pPr>
            <a:r>
              <a:rPr lang="en-US" sz="1800" b="1" dirty="0">
                <a:solidFill>
                  <a:srgbClr val="D2A8FF"/>
                </a:solidFill>
                <a:latin typeface="Calibri" pitchFamily="34" charset="0"/>
                <a:ea typeface="Calibri" pitchFamily="34" charset="-122"/>
                <a:cs typeface="Calibri" pitchFamily="34" charset="-120"/>
              </a:rPr>
              <a:t>True / false</a:t>
            </a:r>
            <a:endParaRPr lang="en-US" sz="1800" dirty="0"/>
          </a:p>
        </p:txBody>
      </p:sp>
      <p:sp>
        <p:nvSpPr>
          <p:cNvPr id="16" name="Text 13"/>
          <p:cNvSpPr txBox="1"/>
          <p:nvPr/>
        </p:nvSpPr>
        <p:spPr>
          <a:xfrm>
            <a:off x="9281160" y="2057400"/>
            <a:ext cx="2194560" cy="411480"/>
          </a:xfrm>
          <a:prstGeom prst="rect">
            <a:avLst/>
          </a:prstGeom>
          <a:noFill/>
          <a:ln/>
        </p:spPr>
        <p:txBody>
          <a:bodyPr wrap="square" lIns="0" tIns="0" rIns="0" bIns="0" rtlCol="0" anchor="t"/>
          <a:lstStyle/>
          <a:p>
            <a:pPr indent="0" marL="0">
              <a:buNone/>
            </a:pPr>
            <a:r>
              <a:rPr lang="en-US" sz="1500" dirty="0">
                <a:solidFill>
                  <a:srgbClr val="ADBAC7"/>
                </a:solidFill>
                <a:latin typeface="Courier New" pitchFamily="34" charset="0"/>
                <a:ea typeface="Courier New" pitchFamily="34" charset="-122"/>
                <a:cs typeface="Courier New" pitchFamily="34" charset="-120"/>
              </a:rPr>
              <a:t>true, false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6309360" cy="914400"/>
        </p:xfrm>
        <a:graphic>
          <a:graphicData uri="http://schemas.openxmlformats.org/drawingml/2006/table">
            <a:tbl>
              <a:tblPr/>
              <a:tblGrid>
                <a:gridCol w="1828800"/>
                <a:gridCol w="2651760"/>
                <a:gridCol w="1828800"/>
              </a:tblGrid>
              <a:tr h="411480">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Examples</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Arithmetic</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  −  ×  ÷  remainder</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a number</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Comparison</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  ≠  &lt;  ≤  &gt;  ≥</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true / false</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Logical</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and  or  not</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true / false</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18" name="Shape 14"/>
          <p:cNvSpPr/>
          <p:nvPr/>
        </p:nvSpPr>
        <p:spPr>
          <a:xfrm>
            <a:off x="7159752" y="2971800"/>
            <a:ext cx="4480560" cy="1645920"/>
          </a:xfrm>
          <a:prstGeom prst="roundRect">
            <a:avLst>
              <a:gd name="adj" fmla="val 5556"/>
            </a:avLst>
          </a:prstGeom>
          <a:solidFill>
            <a:srgbClr val="2B2410"/>
          </a:solidFill>
          <a:ln w="12700">
            <a:solidFill>
              <a:srgbClr val="2B2410"/>
            </a:solidFill>
            <a:prstDash val="solid"/>
          </a:ln>
        </p:spPr>
      </p:sp>
      <p:sp>
        <p:nvSpPr>
          <p:cNvPr id="19" name="Text 15"/>
          <p:cNvSpPr txBox="1"/>
          <p:nvPr/>
        </p:nvSpPr>
        <p:spPr>
          <a:xfrm>
            <a:off x="7388352" y="3127248"/>
            <a:ext cx="4114800" cy="1371600"/>
          </a:xfrm>
          <a:prstGeom prst="rect">
            <a:avLst/>
          </a:prstGeom>
          <a:noFill/>
          <a:ln/>
        </p:spPr>
        <p:txBody>
          <a:bodyPr wrap="square" lIns="0" tIns="0" rIns="0" bIns="0" rtlCol="0" anchor="t"/>
          <a:lstStyle/>
          <a:p>
            <a:pPr indent="0" marL="0">
              <a:spcAft>
                <a:spcPts val="600"/>
              </a:spcAft>
              <a:buNone/>
            </a:pPr>
            <a:r>
              <a:rPr lang="en-US" sz="1600" b="1" dirty="0">
                <a:solidFill>
                  <a:srgbClr val="E3B341"/>
                </a:solidFill>
                <a:latin typeface="Calibri" pitchFamily="34" charset="0"/>
                <a:ea typeface="Calibri" pitchFamily="34" charset="-122"/>
                <a:cs typeface="Calibri" pitchFamily="34" charset="-120"/>
              </a:rPr>
              <a:t>Same symbol, different meaning</a:t>
            </a:r>
            <a:endParaRPr lang="en-US" sz="1600" dirty="0"/>
          </a:p>
          <a:p>
            <a:pPr indent="0" marL="0">
              <a:spcAft>
                <a:spcPts val="600"/>
              </a:spcAft>
              <a:buNone/>
            </a:pPr>
            <a:r>
              <a:rPr lang="en-US" sz="1600" dirty="0">
                <a:solidFill>
                  <a:srgbClr val="E6EDF3"/>
                </a:solidFill>
                <a:latin typeface="Courier New" pitchFamily="34" charset="0"/>
                <a:ea typeface="Courier New" pitchFamily="34" charset="-122"/>
                <a:cs typeface="Courier New" pitchFamily="34" charset="-120"/>
              </a:rPr>
              <a:t>"5" + "3"  →  "53"   (text)</a:t>
            </a:r>
            <a:endParaRPr lang="en-US" sz="1600" dirty="0"/>
          </a:p>
          <a:p>
            <a:pPr indent="0" marL="0">
              <a:spcAft>
                <a:spcPts val="600"/>
              </a:spcAft>
              <a:buNone/>
            </a:pPr>
            <a:r>
              <a:rPr lang="en-US" sz="1600" dirty="0">
                <a:solidFill>
                  <a:srgbClr val="E6EDF3"/>
                </a:solidFill>
                <a:latin typeface="Courier New" pitchFamily="34" charset="0"/>
                <a:ea typeface="Courier New" pitchFamily="34" charset="-122"/>
                <a:cs typeface="Courier New" pitchFamily="34" charset="-120"/>
              </a:rPr>
              <a:t>5 + 3  →  8   (numbers)</a:t>
            </a:r>
            <a:endParaRPr lang="en-US" sz="1600" dirty="0"/>
          </a:p>
        </p:txBody>
      </p:sp>
      <p:sp>
        <p:nvSpPr>
          <p:cNvPr id="20" name="Shape 16"/>
          <p:cNvSpPr/>
          <p:nvPr/>
        </p:nvSpPr>
        <p:spPr>
          <a:xfrm>
            <a:off x="548640" y="4937760"/>
            <a:ext cx="11091672" cy="868680"/>
          </a:xfrm>
          <a:prstGeom prst="roundRect">
            <a:avLst>
              <a:gd name="adj" fmla="val 10526"/>
            </a:avLst>
          </a:prstGeom>
          <a:solidFill>
            <a:srgbClr val="2D1215"/>
          </a:solidFill>
          <a:ln w="12700">
            <a:solidFill>
              <a:srgbClr val="2D1215"/>
            </a:solidFill>
            <a:prstDash val="solid"/>
          </a:ln>
        </p:spPr>
      </p:sp>
      <p:sp>
        <p:nvSpPr>
          <p:cNvPr id="21" name="Text 17"/>
          <p:cNvSpPr txBox="1"/>
          <p:nvPr/>
        </p:nvSpPr>
        <p:spPr>
          <a:xfrm>
            <a:off x="749808" y="5065776"/>
            <a:ext cx="10689336" cy="64922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Common mistake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Expecting 7 ÷ 2 to be 3.5 with whole numbers. In C++, integer division gives 3 (Stage 01 · 18).</a:t>
            </a:r>
            <a:endParaRPr lang="en-US" sz="1600" dirty="0"/>
          </a:p>
        </p:txBody>
      </p:sp>
      <p:sp>
        <p:nvSpPr>
          <p:cNvPr id="22" name="Text 18"/>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3" name="Text 19"/>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07</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Expressions</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Values, variables and operators combined into something that evaluates to a single value.</a:t>
            </a:r>
            <a:endParaRPr lang="en-US" sz="1800" dirty="0"/>
          </a:p>
        </p:txBody>
      </p:sp>
      <p:sp>
        <p:nvSpPr>
          <p:cNvPr id="7" name="Shape 4"/>
          <p:cNvSpPr/>
          <p:nvPr/>
        </p:nvSpPr>
        <p:spPr>
          <a:xfrm flipH="1">
            <a:off x="1965960" y="2999232"/>
            <a:ext cx="868680" cy="310896"/>
          </a:xfrm>
          <a:prstGeom prst="line">
            <a:avLst/>
          </a:prstGeom>
          <a:noFill/>
          <a:ln w="22225">
            <a:solidFill>
              <a:srgbClr val="8B949E"/>
            </a:solidFill>
            <a:prstDash val="solid"/>
          </a:ln>
        </p:spPr>
      </p:sp>
      <p:sp>
        <p:nvSpPr>
          <p:cNvPr id="8" name="Shape 5"/>
          <p:cNvSpPr/>
          <p:nvPr/>
        </p:nvSpPr>
        <p:spPr>
          <a:xfrm>
            <a:off x="2834640" y="2999232"/>
            <a:ext cx="868680" cy="310896"/>
          </a:xfrm>
          <a:prstGeom prst="line">
            <a:avLst/>
          </a:prstGeom>
          <a:noFill/>
          <a:ln w="22225">
            <a:solidFill>
              <a:srgbClr val="8B949E"/>
            </a:solidFill>
            <a:prstDash val="solid"/>
          </a:ln>
        </p:spPr>
      </p:sp>
      <p:sp>
        <p:nvSpPr>
          <p:cNvPr id="9" name="Shape 6"/>
          <p:cNvSpPr/>
          <p:nvPr/>
        </p:nvSpPr>
        <p:spPr>
          <a:xfrm flipH="1">
            <a:off x="3108960" y="3913632"/>
            <a:ext cx="594360" cy="310896"/>
          </a:xfrm>
          <a:prstGeom prst="line">
            <a:avLst/>
          </a:prstGeom>
          <a:noFill/>
          <a:ln w="22225">
            <a:solidFill>
              <a:srgbClr val="8B949E"/>
            </a:solidFill>
            <a:prstDash val="solid"/>
          </a:ln>
        </p:spPr>
      </p:sp>
      <p:sp>
        <p:nvSpPr>
          <p:cNvPr id="10" name="Shape 7"/>
          <p:cNvSpPr/>
          <p:nvPr/>
        </p:nvSpPr>
        <p:spPr>
          <a:xfrm>
            <a:off x="3703320" y="3913632"/>
            <a:ext cx="594360" cy="310896"/>
          </a:xfrm>
          <a:prstGeom prst="line">
            <a:avLst/>
          </a:prstGeom>
          <a:noFill/>
          <a:ln w="22225">
            <a:solidFill>
              <a:srgbClr val="8B949E"/>
            </a:solidFill>
            <a:prstDash val="solid"/>
          </a:ln>
        </p:spPr>
      </p:sp>
      <p:sp>
        <p:nvSpPr>
          <p:cNvPr id="11" name="Shape 8"/>
          <p:cNvSpPr/>
          <p:nvPr/>
        </p:nvSpPr>
        <p:spPr>
          <a:xfrm>
            <a:off x="2532888" y="2395728"/>
            <a:ext cx="603504" cy="603504"/>
          </a:xfrm>
          <a:prstGeom prst="ellipse">
            <a:avLst/>
          </a:prstGeom>
          <a:solidFill>
            <a:srgbClr val="161B22"/>
          </a:solidFill>
          <a:ln w="19050">
            <a:solidFill>
              <a:srgbClr val="58A6FF"/>
            </a:solidFill>
            <a:prstDash val="solid"/>
          </a:ln>
        </p:spPr>
      </p:sp>
      <p:sp>
        <p:nvSpPr>
          <p:cNvPr id="12" name="Text 9"/>
          <p:cNvSpPr txBox="1"/>
          <p:nvPr/>
        </p:nvSpPr>
        <p:spPr>
          <a:xfrm>
            <a:off x="2532888" y="23957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13" name="Shape 10"/>
          <p:cNvSpPr/>
          <p:nvPr/>
        </p:nvSpPr>
        <p:spPr>
          <a:xfrm>
            <a:off x="1664208" y="3310128"/>
            <a:ext cx="603504" cy="603504"/>
          </a:xfrm>
          <a:prstGeom prst="ellipse">
            <a:avLst/>
          </a:prstGeom>
          <a:solidFill>
            <a:srgbClr val="161B22"/>
          </a:solidFill>
          <a:ln w="19050">
            <a:solidFill>
              <a:srgbClr val="8B949E"/>
            </a:solidFill>
            <a:prstDash val="solid"/>
          </a:ln>
        </p:spPr>
      </p:sp>
      <p:sp>
        <p:nvSpPr>
          <p:cNvPr id="14" name="Text 11"/>
          <p:cNvSpPr txBox="1"/>
          <p:nvPr/>
        </p:nvSpPr>
        <p:spPr>
          <a:xfrm>
            <a:off x="1664208" y="33101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2</a:t>
            </a:r>
            <a:endParaRPr lang="en-US" sz="1800" dirty="0"/>
          </a:p>
        </p:txBody>
      </p:sp>
      <p:sp>
        <p:nvSpPr>
          <p:cNvPr id="15" name="Shape 12"/>
          <p:cNvSpPr/>
          <p:nvPr/>
        </p:nvSpPr>
        <p:spPr>
          <a:xfrm>
            <a:off x="3401568" y="3310128"/>
            <a:ext cx="603504" cy="603504"/>
          </a:xfrm>
          <a:prstGeom prst="ellipse">
            <a:avLst/>
          </a:prstGeom>
          <a:solidFill>
            <a:srgbClr val="161B22"/>
          </a:solidFill>
          <a:ln w="19050">
            <a:solidFill>
              <a:srgbClr val="8B949E"/>
            </a:solidFill>
            <a:prstDash val="solid"/>
          </a:ln>
        </p:spPr>
      </p:sp>
      <p:sp>
        <p:nvSpPr>
          <p:cNvPr id="16" name="Text 13"/>
          <p:cNvSpPr txBox="1"/>
          <p:nvPr/>
        </p:nvSpPr>
        <p:spPr>
          <a:xfrm>
            <a:off x="3401568" y="33101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17" name="Shape 14"/>
          <p:cNvSpPr/>
          <p:nvPr/>
        </p:nvSpPr>
        <p:spPr>
          <a:xfrm>
            <a:off x="2807208" y="4224528"/>
            <a:ext cx="603504" cy="603504"/>
          </a:xfrm>
          <a:prstGeom prst="ellipse">
            <a:avLst/>
          </a:prstGeom>
          <a:solidFill>
            <a:srgbClr val="161B22"/>
          </a:solidFill>
          <a:ln w="19050">
            <a:solidFill>
              <a:srgbClr val="8B949E"/>
            </a:solidFill>
            <a:prstDash val="solid"/>
          </a:ln>
        </p:spPr>
      </p:sp>
      <p:sp>
        <p:nvSpPr>
          <p:cNvPr id="18" name="Text 15"/>
          <p:cNvSpPr txBox="1"/>
          <p:nvPr/>
        </p:nvSpPr>
        <p:spPr>
          <a:xfrm>
            <a:off x="2807208" y="42245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3</a:t>
            </a:r>
            <a:endParaRPr lang="en-US" sz="1800" dirty="0"/>
          </a:p>
        </p:txBody>
      </p:sp>
      <p:sp>
        <p:nvSpPr>
          <p:cNvPr id="19" name="Shape 16"/>
          <p:cNvSpPr/>
          <p:nvPr/>
        </p:nvSpPr>
        <p:spPr>
          <a:xfrm>
            <a:off x="3995928" y="4224528"/>
            <a:ext cx="603504" cy="603504"/>
          </a:xfrm>
          <a:prstGeom prst="ellipse">
            <a:avLst/>
          </a:prstGeom>
          <a:solidFill>
            <a:srgbClr val="161B22"/>
          </a:solidFill>
          <a:ln w="19050">
            <a:solidFill>
              <a:srgbClr val="8B949E"/>
            </a:solidFill>
            <a:prstDash val="solid"/>
          </a:ln>
        </p:spPr>
      </p:sp>
      <p:sp>
        <p:nvSpPr>
          <p:cNvPr id="20" name="Text 17"/>
          <p:cNvSpPr txBox="1"/>
          <p:nvPr/>
        </p:nvSpPr>
        <p:spPr>
          <a:xfrm>
            <a:off x="3995928" y="42245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4</a:t>
            </a:r>
            <a:endParaRPr lang="en-US" sz="1800" dirty="0"/>
          </a:p>
        </p:txBody>
      </p:sp>
      <p:sp>
        <p:nvSpPr>
          <p:cNvPr id="21" name="Text 18"/>
          <p:cNvSpPr txBox="1"/>
          <p:nvPr/>
        </p:nvSpPr>
        <p:spPr>
          <a:xfrm>
            <a:off x="1097280" y="5120640"/>
            <a:ext cx="3474720" cy="411480"/>
          </a:xfrm>
          <a:prstGeom prst="rect">
            <a:avLst/>
          </a:prstGeom>
          <a:noFill/>
          <a:ln/>
        </p:spPr>
        <p:txBody>
          <a:bodyPr wrap="square" lIns="0" tIns="0" rIns="0" bIns="0" rtlCol="0" anchor="t"/>
          <a:lstStyle/>
          <a:p>
            <a:pPr algn="ctr" indent="0" marL="0">
              <a:buNone/>
            </a:pPr>
            <a:r>
              <a:rPr lang="en-US" sz="1700" b="1" dirty="0">
                <a:solidFill>
                  <a:srgbClr val="3FB950"/>
                </a:solidFill>
                <a:latin typeface="Courier New" pitchFamily="34" charset="0"/>
                <a:ea typeface="Courier New" pitchFamily="34" charset="-122"/>
                <a:cs typeface="Courier New" pitchFamily="34" charset="-120"/>
              </a:rPr>
              <a:t>2 + 3 × 4 = 14</a:t>
            </a:r>
            <a:endParaRPr lang="en-US" sz="1700" dirty="0"/>
          </a:p>
        </p:txBody>
      </p:sp>
      <p:sp>
        <p:nvSpPr>
          <p:cNvPr id="22" name="Shape 19"/>
          <p:cNvSpPr/>
          <p:nvPr/>
        </p:nvSpPr>
        <p:spPr>
          <a:xfrm flipH="1">
            <a:off x="7818120" y="2999232"/>
            <a:ext cx="868680" cy="310896"/>
          </a:xfrm>
          <a:prstGeom prst="line">
            <a:avLst/>
          </a:prstGeom>
          <a:noFill/>
          <a:ln w="22225">
            <a:solidFill>
              <a:srgbClr val="8B949E"/>
            </a:solidFill>
            <a:prstDash val="solid"/>
          </a:ln>
        </p:spPr>
      </p:sp>
      <p:sp>
        <p:nvSpPr>
          <p:cNvPr id="23" name="Shape 20"/>
          <p:cNvSpPr/>
          <p:nvPr/>
        </p:nvSpPr>
        <p:spPr>
          <a:xfrm>
            <a:off x="8686800" y="2999232"/>
            <a:ext cx="868680" cy="310896"/>
          </a:xfrm>
          <a:prstGeom prst="line">
            <a:avLst/>
          </a:prstGeom>
          <a:noFill/>
          <a:ln w="22225">
            <a:solidFill>
              <a:srgbClr val="8B949E"/>
            </a:solidFill>
            <a:prstDash val="solid"/>
          </a:ln>
        </p:spPr>
      </p:sp>
      <p:sp>
        <p:nvSpPr>
          <p:cNvPr id="24" name="Shape 21"/>
          <p:cNvSpPr/>
          <p:nvPr/>
        </p:nvSpPr>
        <p:spPr>
          <a:xfrm flipH="1">
            <a:off x="7223760" y="3913632"/>
            <a:ext cx="594360" cy="310896"/>
          </a:xfrm>
          <a:prstGeom prst="line">
            <a:avLst/>
          </a:prstGeom>
          <a:noFill/>
          <a:ln w="22225">
            <a:solidFill>
              <a:srgbClr val="8B949E"/>
            </a:solidFill>
            <a:prstDash val="solid"/>
          </a:ln>
        </p:spPr>
      </p:sp>
      <p:sp>
        <p:nvSpPr>
          <p:cNvPr id="25" name="Shape 22"/>
          <p:cNvSpPr/>
          <p:nvPr/>
        </p:nvSpPr>
        <p:spPr>
          <a:xfrm>
            <a:off x="7818120" y="3913632"/>
            <a:ext cx="594360" cy="310896"/>
          </a:xfrm>
          <a:prstGeom prst="line">
            <a:avLst/>
          </a:prstGeom>
          <a:noFill/>
          <a:ln w="22225">
            <a:solidFill>
              <a:srgbClr val="8B949E"/>
            </a:solidFill>
            <a:prstDash val="solid"/>
          </a:ln>
        </p:spPr>
      </p:sp>
      <p:sp>
        <p:nvSpPr>
          <p:cNvPr id="26" name="Shape 23"/>
          <p:cNvSpPr/>
          <p:nvPr/>
        </p:nvSpPr>
        <p:spPr>
          <a:xfrm>
            <a:off x="8385048" y="2395728"/>
            <a:ext cx="603504" cy="603504"/>
          </a:xfrm>
          <a:prstGeom prst="ellipse">
            <a:avLst/>
          </a:prstGeom>
          <a:solidFill>
            <a:srgbClr val="161B22"/>
          </a:solidFill>
          <a:ln w="19050">
            <a:solidFill>
              <a:srgbClr val="58A6FF"/>
            </a:solidFill>
            <a:prstDash val="solid"/>
          </a:ln>
        </p:spPr>
      </p:sp>
      <p:sp>
        <p:nvSpPr>
          <p:cNvPr id="27" name="Text 24"/>
          <p:cNvSpPr txBox="1"/>
          <p:nvPr/>
        </p:nvSpPr>
        <p:spPr>
          <a:xfrm>
            <a:off x="8385048" y="23957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28" name="Shape 25"/>
          <p:cNvSpPr/>
          <p:nvPr/>
        </p:nvSpPr>
        <p:spPr>
          <a:xfrm>
            <a:off x="7516368" y="3310128"/>
            <a:ext cx="603504" cy="603504"/>
          </a:xfrm>
          <a:prstGeom prst="ellipse">
            <a:avLst/>
          </a:prstGeom>
          <a:solidFill>
            <a:srgbClr val="161B22"/>
          </a:solidFill>
          <a:ln w="19050">
            <a:solidFill>
              <a:srgbClr val="8B949E"/>
            </a:solidFill>
            <a:prstDash val="solid"/>
          </a:ln>
        </p:spPr>
      </p:sp>
      <p:sp>
        <p:nvSpPr>
          <p:cNvPr id="29" name="Text 26"/>
          <p:cNvSpPr txBox="1"/>
          <p:nvPr/>
        </p:nvSpPr>
        <p:spPr>
          <a:xfrm>
            <a:off x="7516368" y="33101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a:t>
            </a:r>
            <a:endParaRPr lang="en-US" sz="1800" dirty="0"/>
          </a:p>
        </p:txBody>
      </p:sp>
      <p:sp>
        <p:nvSpPr>
          <p:cNvPr id="30" name="Shape 27"/>
          <p:cNvSpPr/>
          <p:nvPr/>
        </p:nvSpPr>
        <p:spPr>
          <a:xfrm>
            <a:off x="9253728" y="3310128"/>
            <a:ext cx="603504" cy="603504"/>
          </a:xfrm>
          <a:prstGeom prst="ellipse">
            <a:avLst/>
          </a:prstGeom>
          <a:solidFill>
            <a:srgbClr val="161B22"/>
          </a:solidFill>
          <a:ln w="19050">
            <a:solidFill>
              <a:srgbClr val="8B949E"/>
            </a:solidFill>
            <a:prstDash val="solid"/>
          </a:ln>
        </p:spPr>
      </p:sp>
      <p:sp>
        <p:nvSpPr>
          <p:cNvPr id="31" name="Text 28"/>
          <p:cNvSpPr txBox="1"/>
          <p:nvPr/>
        </p:nvSpPr>
        <p:spPr>
          <a:xfrm>
            <a:off x="9253728" y="33101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4</a:t>
            </a:r>
            <a:endParaRPr lang="en-US" sz="1800" dirty="0"/>
          </a:p>
        </p:txBody>
      </p:sp>
      <p:sp>
        <p:nvSpPr>
          <p:cNvPr id="32" name="Shape 29"/>
          <p:cNvSpPr/>
          <p:nvPr/>
        </p:nvSpPr>
        <p:spPr>
          <a:xfrm>
            <a:off x="6922008" y="4224528"/>
            <a:ext cx="603504" cy="603504"/>
          </a:xfrm>
          <a:prstGeom prst="ellipse">
            <a:avLst/>
          </a:prstGeom>
          <a:solidFill>
            <a:srgbClr val="161B22"/>
          </a:solidFill>
          <a:ln w="19050">
            <a:solidFill>
              <a:srgbClr val="8B949E"/>
            </a:solidFill>
            <a:prstDash val="solid"/>
          </a:ln>
        </p:spPr>
      </p:sp>
      <p:sp>
        <p:nvSpPr>
          <p:cNvPr id="33" name="Text 30"/>
          <p:cNvSpPr txBox="1"/>
          <p:nvPr/>
        </p:nvSpPr>
        <p:spPr>
          <a:xfrm>
            <a:off x="6922008" y="42245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2</a:t>
            </a:r>
            <a:endParaRPr lang="en-US" sz="1800" dirty="0"/>
          </a:p>
        </p:txBody>
      </p:sp>
      <p:sp>
        <p:nvSpPr>
          <p:cNvPr id="34" name="Shape 31"/>
          <p:cNvSpPr/>
          <p:nvPr/>
        </p:nvSpPr>
        <p:spPr>
          <a:xfrm>
            <a:off x="8110728" y="4224528"/>
            <a:ext cx="603504" cy="603504"/>
          </a:xfrm>
          <a:prstGeom prst="ellipse">
            <a:avLst/>
          </a:prstGeom>
          <a:solidFill>
            <a:srgbClr val="161B22"/>
          </a:solidFill>
          <a:ln w="19050">
            <a:solidFill>
              <a:srgbClr val="8B949E"/>
            </a:solidFill>
            <a:prstDash val="solid"/>
          </a:ln>
        </p:spPr>
      </p:sp>
      <p:sp>
        <p:nvSpPr>
          <p:cNvPr id="35" name="Text 32"/>
          <p:cNvSpPr txBox="1"/>
          <p:nvPr/>
        </p:nvSpPr>
        <p:spPr>
          <a:xfrm>
            <a:off x="8110728" y="4224528"/>
            <a:ext cx="603504" cy="603504"/>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3</a:t>
            </a:r>
            <a:endParaRPr lang="en-US" sz="1800" dirty="0"/>
          </a:p>
        </p:txBody>
      </p:sp>
      <p:sp>
        <p:nvSpPr>
          <p:cNvPr id="36" name="Text 33"/>
          <p:cNvSpPr txBox="1"/>
          <p:nvPr/>
        </p:nvSpPr>
        <p:spPr>
          <a:xfrm>
            <a:off x="6949440" y="5120640"/>
            <a:ext cx="3474720" cy="411480"/>
          </a:xfrm>
          <a:prstGeom prst="rect">
            <a:avLst/>
          </a:prstGeom>
          <a:noFill/>
          <a:ln/>
        </p:spPr>
        <p:txBody>
          <a:bodyPr wrap="square" lIns="0" tIns="0" rIns="0" bIns="0" rtlCol="0" anchor="t"/>
          <a:lstStyle/>
          <a:p>
            <a:pPr algn="ctr" indent="0" marL="0">
              <a:buNone/>
            </a:pPr>
            <a:r>
              <a:rPr lang="en-US" sz="1700" b="1" dirty="0">
                <a:solidFill>
                  <a:srgbClr val="3FB950"/>
                </a:solidFill>
                <a:latin typeface="Courier New" pitchFamily="34" charset="0"/>
                <a:ea typeface="Courier New" pitchFamily="34" charset="-122"/>
                <a:cs typeface="Courier New" pitchFamily="34" charset="-120"/>
              </a:rPr>
              <a:t>(2 + 3) × 4 = 20</a:t>
            </a:r>
            <a:endParaRPr lang="en-US" sz="1700" dirty="0"/>
          </a:p>
        </p:txBody>
      </p:sp>
      <p:sp>
        <p:nvSpPr>
          <p:cNvPr id="37" name="Text 34"/>
          <p:cNvSpPr txBox="1"/>
          <p:nvPr/>
        </p:nvSpPr>
        <p:spPr>
          <a:xfrm>
            <a:off x="5577840" y="3474720"/>
            <a:ext cx="1005840" cy="457200"/>
          </a:xfrm>
          <a:prstGeom prst="rect">
            <a:avLst/>
          </a:prstGeom>
          <a:noFill/>
          <a:ln/>
        </p:spPr>
        <p:txBody>
          <a:bodyPr wrap="square" lIns="0" tIns="0" rIns="0" bIns="0" rtlCol="0" anchor="t"/>
          <a:lstStyle/>
          <a:p>
            <a:pPr algn="ctr" indent="0" marL="0">
              <a:buNone/>
            </a:pPr>
            <a:r>
              <a:rPr lang="en-US" sz="1800" dirty="0">
                <a:solidFill>
                  <a:srgbClr val="8B949E"/>
                </a:solidFill>
                <a:latin typeface="Calibri" pitchFamily="34" charset="0"/>
                <a:ea typeface="Calibri" pitchFamily="34" charset="-122"/>
                <a:cs typeface="Calibri" pitchFamily="34" charset="-120"/>
              </a:rPr>
              <a:t>vs</a:t>
            </a:r>
            <a:endParaRPr lang="en-US" sz="1800" dirty="0"/>
          </a:p>
        </p:txBody>
      </p:sp>
      <p:sp>
        <p:nvSpPr>
          <p:cNvPr id="38" name="Text 35"/>
          <p:cNvSpPr txBox="1"/>
          <p:nvPr/>
        </p:nvSpPr>
        <p:spPr>
          <a:xfrm>
            <a:off x="548640" y="5715000"/>
            <a:ext cx="11091672" cy="365760"/>
          </a:xfrm>
          <a:prstGeom prst="rect">
            <a:avLst/>
          </a:prstGeom>
          <a:noFill/>
          <a:ln/>
        </p:spPr>
        <p:txBody>
          <a:bodyPr wrap="square" lIns="0" tIns="0" rIns="0" bIns="0" rtlCol="0" anchor="t"/>
          <a:lstStyle/>
          <a:p>
            <a:pPr algn="ctr" indent="0" marL="0">
              <a:buNone/>
            </a:pPr>
            <a:r>
              <a:rPr lang="en-US" sz="1600" dirty="0">
                <a:solidFill>
                  <a:srgbClr val="ADBAC7"/>
                </a:solidFill>
                <a:latin typeface="Calibri" pitchFamily="34" charset="0"/>
                <a:ea typeface="Calibri" pitchFamily="34" charset="-122"/>
                <a:cs typeface="Calibri" pitchFamily="34" charset="-120"/>
              </a:rPr>
              <a:t>The deepest operation is evaluated first.</a:t>
            </a:r>
            <a:endParaRPr lang="en-US" sz="1600" dirty="0"/>
          </a:p>
        </p:txBody>
      </p:sp>
      <p:sp>
        <p:nvSpPr>
          <p:cNvPr id="39" name="Text 36"/>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40" name="Text 37"/>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08</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Statements</a:t>
            </a:r>
            <a:endParaRPr lang="en-US" sz="3400" dirty="0"/>
          </a:p>
        </p:txBody>
      </p:sp>
      <p:sp>
        <p:nvSpPr>
          <p:cNvPr id="5" name="Shape 2"/>
          <p:cNvSpPr/>
          <p:nvPr/>
        </p:nvSpPr>
        <p:spPr>
          <a:xfrm>
            <a:off x="548640" y="1508760"/>
            <a:ext cx="5394960" cy="2011680"/>
          </a:xfrm>
          <a:prstGeom prst="roundRect">
            <a:avLst>
              <a:gd name="adj" fmla="val 4545"/>
            </a:avLst>
          </a:prstGeom>
          <a:solidFill>
            <a:srgbClr val="161B22"/>
          </a:solidFill>
          <a:ln w="19050">
            <a:solidFill>
              <a:srgbClr val="D2A8FF"/>
            </a:solidFill>
            <a:prstDash val="solid"/>
          </a:ln>
        </p:spPr>
      </p:sp>
      <p:sp>
        <p:nvSpPr>
          <p:cNvPr id="6" name="Text 3"/>
          <p:cNvSpPr txBox="1"/>
          <p:nvPr/>
        </p:nvSpPr>
        <p:spPr>
          <a:xfrm>
            <a:off x="822960" y="1691640"/>
            <a:ext cx="4846320" cy="457200"/>
          </a:xfrm>
          <a:prstGeom prst="rect">
            <a:avLst/>
          </a:prstGeom>
          <a:noFill/>
          <a:ln/>
        </p:spPr>
        <p:txBody>
          <a:bodyPr wrap="square" lIns="0" tIns="0" rIns="0" bIns="0" rtlCol="0" anchor="t"/>
          <a:lstStyle/>
          <a:p>
            <a:pPr indent="0" marL="0">
              <a:buNone/>
            </a:pPr>
            <a:r>
              <a:rPr lang="en-US" sz="2200" b="1" dirty="0">
                <a:solidFill>
                  <a:srgbClr val="D2A8FF"/>
                </a:solidFill>
                <a:latin typeface="Calibri" pitchFamily="34" charset="0"/>
                <a:ea typeface="Calibri" pitchFamily="34" charset="-122"/>
                <a:cs typeface="Calibri" pitchFamily="34" charset="-120"/>
              </a:rPr>
              <a:t>Expression</a:t>
            </a:r>
            <a:endParaRPr lang="en-US" sz="2200" dirty="0"/>
          </a:p>
        </p:txBody>
      </p:sp>
      <p:sp>
        <p:nvSpPr>
          <p:cNvPr id="7" name="Text 4"/>
          <p:cNvSpPr txBox="1"/>
          <p:nvPr/>
        </p:nvSpPr>
        <p:spPr>
          <a:xfrm>
            <a:off x="822960" y="2148840"/>
            <a:ext cx="4846320" cy="365760"/>
          </a:xfrm>
          <a:prstGeom prst="rect">
            <a:avLst/>
          </a:prstGeom>
          <a:noFill/>
          <a:ln/>
        </p:spPr>
        <p:txBody>
          <a:bodyPr wrap="square" lIns="0" tIns="0" rIns="0" bIns="0" rtlCol="0" anchor="t"/>
          <a:lstStyle/>
          <a:p>
            <a:pPr indent="0" marL="0">
              <a:buNone/>
            </a:pPr>
            <a:r>
              <a:rPr lang="en-US" sz="1600" dirty="0">
                <a:solidFill>
                  <a:srgbClr val="ADBAC7"/>
                </a:solidFill>
                <a:latin typeface="Calibri" pitchFamily="34" charset="0"/>
                <a:ea typeface="Calibri" pitchFamily="34" charset="-122"/>
                <a:cs typeface="Calibri" pitchFamily="34" charset="-120"/>
              </a:rPr>
              <a:t>produces a value</a:t>
            </a:r>
            <a:endParaRPr lang="en-US" sz="1600" dirty="0"/>
          </a:p>
        </p:txBody>
      </p:sp>
      <p:sp>
        <p:nvSpPr>
          <p:cNvPr id="8" name="Shape 5"/>
          <p:cNvSpPr/>
          <p:nvPr/>
        </p:nvSpPr>
        <p:spPr>
          <a:xfrm>
            <a:off x="822960" y="2651760"/>
            <a:ext cx="4846320" cy="640080"/>
          </a:xfrm>
          <a:prstGeom prst="roundRect">
            <a:avLst>
              <a:gd name="adj" fmla="val 14286"/>
            </a:avLst>
          </a:prstGeom>
          <a:solidFill>
            <a:srgbClr val="0D1117"/>
          </a:solidFill>
          <a:ln w="12700">
            <a:solidFill>
              <a:srgbClr val="30363D"/>
            </a:solidFill>
            <a:prstDash val="solid"/>
          </a:ln>
        </p:spPr>
      </p:sp>
      <p:sp>
        <p:nvSpPr>
          <p:cNvPr id="9" name="Text 6"/>
          <p:cNvSpPr txBox="1"/>
          <p:nvPr/>
        </p:nvSpPr>
        <p:spPr>
          <a:xfrm>
            <a:off x="1051560" y="2816352"/>
            <a:ext cx="4389120" cy="365760"/>
          </a:xfrm>
          <a:prstGeom prst="rect">
            <a:avLst/>
          </a:prstGeom>
          <a:noFill/>
          <a:ln/>
        </p:spPr>
        <p:txBody>
          <a:bodyPr wrap="square" lIns="0" tIns="0" rIns="0" bIns="0" rtlCol="0" anchor="t"/>
          <a:lstStyle/>
          <a:p>
            <a:pPr indent="0" marL="0">
              <a:lnSpc>
                <a:spcPct val="115000"/>
              </a:lnSpc>
              <a:buNone/>
            </a:pPr>
            <a:r>
              <a:rPr lang="en-US" sz="1700" dirty="0">
                <a:solidFill>
                  <a:srgbClr val="E6EDF3"/>
                </a:solidFill>
                <a:latin typeface="Courier New" pitchFamily="34" charset="0"/>
                <a:ea typeface="Courier New" pitchFamily="34" charset="-122"/>
                <a:cs typeface="Courier New" pitchFamily="34" charset="-120"/>
              </a:rPr>
              <a:t>width * height</a:t>
            </a:r>
            <a:endParaRPr lang="en-US" sz="1700" dirty="0"/>
          </a:p>
        </p:txBody>
      </p:sp>
      <p:sp>
        <p:nvSpPr>
          <p:cNvPr id="10" name="Shape 7"/>
          <p:cNvSpPr/>
          <p:nvPr/>
        </p:nvSpPr>
        <p:spPr>
          <a:xfrm>
            <a:off x="6245352" y="1508760"/>
            <a:ext cx="5394960" cy="2011680"/>
          </a:xfrm>
          <a:prstGeom prst="roundRect">
            <a:avLst>
              <a:gd name="adj" fmla="val 4545"/>
            </a:avLst>
          </a:prstGeom>
          <a:solidFill>
            <a:srgbClr val="161B22"/>
          </a:solidFill>
          <a:ln w="19050">
            <a:solidFill>
              <a:srgbClr val="58A6FF"/>
            </a:solidFill>
            <a:prstDash val="solid"/>
          </a:ln>
        </p:spPr>
      </p:sp>
      <p:sp>
        <p:nvSpPr>
          <p:cNvPr id="11" name="Text 8"/>
          <p:cNvSpPr txBox="1"/>
          <p:nvPr/>
        </p:nvSpPr>
        <p:spPr>
          <a:xfrm>
            <a:off x="6519672" y="1691640"/>
            <a:ext cx="4846320" cy="457200"/>
          </a:xfrm>
          <a:prstGeom prst="rect">
            <a:avLst/>
          </a:prstGeom>
          <a:noFill/>
          <a:ln/>
        </p:spPr>
        <p:txBody>
          <a:bodyPr wrap="square" lIns="0" tIns="0" rIns="0" bIns="0" rtlCol="0" anchor="t"/>
          <a:lstStyle/>
          <a:p>
            <a:pPr indent="0" marL="0">
              <a:buNone/>
            </a:pPr>
            <a:r>
              <a:rPr lang="en-US" sz="2200" b="1" dirty="0">
                <a:solidFill>
                  <a:srgbClr val="58A6FF"/>
                </a:solidFill>
                <a:latin typeface="Calibri" pitchFamily="34" charset="0"/>
                <a:ea typeface="Calibri" pitchFamily="34" charset="-122"/>
                <a:cs typeface="Calibri" pitchFamily="34" charset="-120"/>
              </a:rPr>
              <a:t>Statement</a:t>
            </a:r>
            <a:endParaRPr lang="en-US" sz="2200" dirty="0"/>
          </a:p>
        </p:txBody>
      </p:sp>
      <p:sp>
        <p:nvSpPr>
          <p:cNvPr id="12" name="Text 9"/>
          <p:cNvSpPr txBox="1"/>
          <p:nvPr/>
        </p:nvSpPr>
        <p:spPr>
          <a:xfrm>
            <a:off x="6519672" y="2148840"/>
            <a:ext cx="4846320" cy="365760"/>
          </a:xfrm>
          <a:prstGeom prst="rect">
            <a:avLst/>
          </a:prstGeom>
          <a:noFill/>
          <a:ln/>
        </p:spPr>
        <p:txBody>
          <a:bodyPr wrap="square" lIns="0" tIns="0" rIns="0" bIns="0" rtlCol="0" anchor="t"/>
          <a:lstStyle/>
          <a:p>
            <a:pPr indent="0" marL="0">
              <a:buNone/>
            </a:pPr>
            <a:r>
              <a:rPr lang="en-US" sz="1600" dirty="0">
                <a:solidFill>
                  <a:srgbClr val="ADBAC7"/>
                </a:solidFill>
                <a:latin typeface="Calibri" pitchFamily="34" charset="0"/>
                <a:ea typeface="Calibri" pitchFamily="34" charset="-122"/>
                <a:cs typeface="Calibri" pitchFamily="34" charset="-120"/>
              </a:rPr>
              <a:t>performs an action</a:t>
            </a:r>
            <a:endParaRPr lang="en-US" sz="1600" dirty="0"/>
          </a:p>
        </p:txBody>
      </p:sp>
      <p:sp>
        <p:nvSpPr>
          <p:cNvPr id="13" name="Shape 10"/>
          <p:cNvSpPr/>
          <p:nvPr/>
        </p:nvSpPr>
        <p:spPr>
          <a:xfrm>
            <a:off x="6519672" y="2651760"/>
            <a:ext cx="4846320" cy="640080"/>
          </a:xfrm>
          <a:prstGeom prst="roundRect">
            <a:avLst>
              <a:gd name="adj" fmla="val 14286"/>
            </a:avLst>
          </a:prstGeom>
          <a:solidFill>
            <a:srgbClr val="0D1117"/>
          </a:solidFill>
          <a:ln w="12700">
            <a:solidFill>
              <a:srgbClr val="30363D"/>
            </a:solidFill>
            <a:prstDash val="solid"/>
          </a:ln>
        </p:spPr>
      </p:sp>
      <p:sp>
        <p:nvSpPr>
          <p:cNvPr id="14" name="Text 11"/>
          <p:cNvSpPr txBox="1"/>
          <p:nvPr/>
        </p:nvSpPr>
        <p:spPr>
          <a:xfrm>
            <a:off x="6748272" y="2816352"/>
            <a:ext cx="4389120" cy="365760"/>
          </a:xfrm>
          <a:prstGeom prst="rect">
            <a:avLst/>
          </a:prstGeom>
          <a:noFill/>
          <a:ln/>
        </p:spPr>
        <p:txBody>
          <a:bodyPr wrap="square" lIns="0" tIns="0" rIns="0" bIns="0" rtlCol="0" anchor="t"/>
          <a:lstStyle/>
          <a:p>
            <a:pPr indent="0" marL="0">
              <a:lnSpc>
                <a:spcPct val="115000"/>
              </a:lnSpc>
              <a:buNone/>
            </a:pPr>
            <a:r>
              <a:rPr lang="en-US" sz="1700" dirty="0">
                <a:solidFill>
                  <a:srgbClr val="E6EDF3"/>
                </a:solidFill>
                <a:latin typeface="Courier New" pitchFamily="34" charset="0"/>
                <a:ea typeface="Courier New" pitchFamily="34" charset="-122"/>
                <a:cs typeface="Courier New" pitchFamily="34" charset="-120"/>
              </a:rPr>
              <a:t>area = width * height</a:t>
            </a:r>
            <a:endParaRPr lang="en-US" sz="1700" dirty="0"/>
          </a:p>
        </p:txBody>
      </p:sp>
      <p:sp>
        <p:nvSpPr>
          <p:cNvPr id="15" name="Text 12"/>
          <p:cNvSpPr txBox="1"/>
          <p:nvPr/>
        </p:nvSpPr>
        <p:spPr>
          <a:xfrm>
            <a:off x="548640" y="3886200"/>
            <a:ext cx="54864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Statements run in order</a:t>
            </a:r>
            <a:endParaRPr lang="en-US" sz="1700" dirty="0"/>
          </a:p>
        </p:txBody>
      </p:sp>
      <p:sp>
        <p:nvSpPr>
          <p:cNvPr id="16" name="Shape 13"/>
          <p:cNvSpPr/>
          <p:nvPr/>
        </p:nvSpPr>
        <p:spPr>
          <a:xfrm>
            <a:off x="548640" y="4343400"/>
            <a:ext cx="3383280" cy="960120"/>
          </a:xfrm>
          <a:prstGeom prst="roundRect">
            <a:avLst>
              <a:gd name="adj" fmla="val 9524"/>
            </a:avLst>
          </a:prstGeom>
          <a:solidFill>
            <a:srgbClr val="161B22"/>
          </a:solidFill>
          <a:ln w="12700">
            <a:solidFill>
              <a:srgbClr val="30363D"/>
            </a:solidFill>
            <a:prstDash val="solid"/>
          </a:ln>
        </p:spPr>
      </p:sp>
      <p:sp>
        <p:nvSpPr>
          <p:cNvPr id="17" name="Text 14"/>
          <p:cNvSpPr txBox="1"/>
          <p:nvPr/>
        </p:nvSpPr>
        <p:spPr>
          <a:xfrm>
            <a:off x="548640" y="4434840"/>
            <a:ext cx="3383280" cy="411480"/>
          </a:xfrm>
          <a:prstGeom prst="rect">
            <a:avLst/>
          </a:prstGeom>
          <a:noFill/>
          <a:ln/>
        </p:spPr>
        <p:txBody>
          <a:bodyPr wrap="square" lIns="0" tIns="0" rIns="0" bIns="0" rtlCol="0" anchor="t"/>
          <a:lstStyle/>
          <a:p>
            <a:pPr algn="ctr" indent="0" marL="0">
              <a:buNone/>
            </a:pPr>
            <a:r>
              <a:rPr lang="en-US" sz="1800" b="1" dirty="0">
                <a:solidFill>
                  <a:srgbClr val="E6EDF3"/>
                </a:solidFill>
                <a:latin typeface="Calibri" pitchFamily="34" charset="0"/>
                <a:ea typeface="Calibri" pitchFamily="34" charset="-122"/>
                <a:cs typeface="Calibri" pitchFamily="34" charset="-120"/>
              </a:rPr>
              <a:t>Read input</a:t>
            </a:r>
            <a:endParaRPr lang="en-US" sz="1800" dirty="0"/>
          </a:p>
        </p:txBody>
      </p:sp>
      <p:sp>
        <p:nvSpPr>
          <p:cNvPr id="18" name="Text 15"/>
          <p:cNvSpPr txBox="1"/>
          <p:nvPr/>
        </p:nvSpPr>
        <p:spPr>
          <a:xfrm>
            <a:off x="548640" y="4846320"/>
            <a:ext cx="33832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statement 1</a:t>
            </a:r>
            <a:endParaRPr lang="en-US" sz="1400" dirty="0"/>
          </a:p>
        </p:txBody>
      </p:sp>
      <p:sp>
        <p:nvSpPr>
          <p:cNvPr id="19" name="Shape 16"/>
          <p:cNvSpPr/>
          <p:nvPr/>
        </p:nvSpPr>
        <p:spPr>
          <a:xfrm>
            <a:off x="3977640" y="4818888"/>
            <a:ext cx="365760" cy="0"/>
          </a:xfrm>
          <a:prstGeom prst="line">
            <a:avLst/>
          </a:prstGeom>
          <a:noFill/>
          <a:ln w="22225">
            <a:solidFill>
              <a:srgbClr val="8B949E"/>
            </a:solidFill>
            <a:prstDash val="solid"/>
            <a:tailEnd type="triangle"/>
          </a:ln>
        </p:spPr>
      </p:sp>
      <p:sp>
        <p:nvSpPr>
          <p:cNvPr id="20" name="Shape 17"/>
          <p:cNvSpPr/>
          <p:nvPr/>
        </p:nvSpPr>
        <p:spPr>
          <a:xfrm>
            <a:off x="4389120" y="4343400"/>
            <a:ext cx="3383280" cy="960120"/>
          </a:xfrm>
          <a:prstGeom prst="roundRect">
            <a:avLst>
              <a:gd name="adj" fmla="val 9524"/>
            </a:avLst>
          </a:prstGeom>
          <a:solidFill>
            <a:srgbClr val="161B22"/>
          </a:solidFill>
          <a:ln w="12700">
            <a:solidFill>
              <a:srgbClr val="30363D"/>
            </a:solidFill>
            <a:prstDash val="solid"/>
          </a:ln>
        </p:spPr>
      </p:sp>
      <p:sp>
        <p:nvSpPr>
          <p:cNvPr id="21" name="Text 18"/>
          <p:cNvSpPr txBox="1"/>
          <p:nvPr/>
        </p:nvSpPr>
        <p:spPr>
          <a:xfrm>
            <a:off x="4389120" y="4434840"/>
            <a:ext cx="3383280" cy="411480"/>
          </a:xfrm>
          <a:prstGeom prst="rect">
            <a:avLst/>
          </a:prstGeom>
          <a:noFill/>
          <a:ln/>
        </p:spPr>
        <p:txBody>
          <a:bodyPr wrap="square" lIns="0" tIns="0" rIns="0" bIns="0" rtlCol="0" anchor="t"/>
          <a:lstStyle/>
          <a:p>
            <a:pPr algn="ctr" indent="0" marL="0">
              <a:buNone/>
            </a:pPr>
            <a:r>
              <a:rPr lang="en-US" sz="1800" b="1" dirty="0">
                <a:solidFill>
                  <a:srgbClr val="E6EDF3"/>
                </a:solidFill>
                <a:latin typeface="Calibri" pitchFamily="34" charset="0"/>
                <a:ea typeface="Calibri" pitchFamily="34" charset="-122"/>
                <a:cs typeface="Calibri" pitchFamily="34" charset="-120"/>
              </a:rPr>
              <a:t>Calculate</a:t>
            </a:r>
            <a:endParaRPr lang="en-US" sz="1800" dirty="0"/>
          </a:p>
        </p:txBody>
      </p:sp>
      <p:sp>
        <p:nvSpPr>
          <p:cNvPr id="22" name="Text 19"/>
          <p:cNvSpPr txBox="1"/>
          <p:nvPr/>
        </p:nvSpPr>
        <p:spPr>
          <a:xfrm>
            <a:off x="4389120" y="4846320"/>
            <a:ext cx="33832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statement 2</a:t>
            </a:r>
            <a:endParaRPr lang="en-US" sz="1400" dirty="0"/>
          </a:p>
        </p:txBody>
      </p:sp>
      <p:sp>
        <p:nvSpPr>
          <p:cNvPr id="23" name="Shape 20"/>
          <p:cNvSpPr/>
          <p:nvPr/>
        </p:nvSpPr>
        <p:spPr>
          <a:xfrm>
            <a:off x="7818120" y="4818888"/>
            <a:ext cx="365760" cy="0"/>
          </a:xfrm>
          <a:prstGeom prst="line">
            <a:avLst/>
          </a:prstGeom>
          <a:noFill/>
          <a:ln w="22225">
            <a:solidFill>
              <a:srgbClr val="8B949E"/>
            </a:solidFill>
            <a:prstDash val="solid"/>
            <a:tailEnd type="triangle"/>
          </a:ln>
        </p:spPr>
      </p:sp>
      <p:sp>
        <p:nvSpPr>
          <p:cNvPr id="24" name="Shape 21"/>
          <p:cNvSpPr/>
          <p:nvPr/>
        </p:nvSpPr>
        <p:spPr>
          <a:xfrm>
            <a:off x="8229600" y="4343400"/>
            <a:ext cx="3383280" cy="960120"/>
          </a:xfrm>
          <a:prstGeom prst="roundRect">
            <a:avLst>
              <a:gd name="adj" fmla="val 9524"/>
            </a:avLst>
          </a:prstGeom>
          <a:solidFill>
            <a:srgbClr val="161B22"/>
          </a:solidFill>
          <a:ln w="12700">
            <a:solidFill>
              <a:srgbClr val="30363D"/>
            </a:solidFill>
            <a:prstDash val="solid"/>
          </a:ln>
        </p:spPr>
      </p:sp>
      <p:sp>
        <p:nvSpPr>
          <p:cNvPr id="25" name="Text 22"/>
          <p:cNvSpPr txBox="1"/>
          <p:nvPr/>
        </p:nvSpPr>
        <p:spPr>
          <a:xfrm>
            <a:off x="8229600" y="4434840"/>
            <a:ext cx="3383280" cy="411480"/>
          </a:xfrm>
          <a:prstGeom prst="rect">
            <a:avLst/>
          </a:prstGeom>
          <a:noFill/>
          <a:ln/>
        </p:spPr>
        <p:txBody>
          <a:bodyPr wrap="square" lIns="0" tIns="0" rIns="0" bIns="0" rtlCol="0" anchor="t"/>
          <a:lstStyle/>
          <a:p>
            <a:pPr algn="ctr" indent="0" marL="0">
              <a:buNone/>
            </a:pPr>
            <a:r>
              <a:rPr lang="en-US" sz="1800" b="1" dirty="0">
                <a:solidFill>
                  <a:srgbClr val="E6EDF3"/>
                </a:solidFill>
                <a:latin typeface="Calibri" pitchFamily="34" charset="0"/>
                <a:ea typeface="Calibri" pitchFamily="34" charset="-122"/>
                <a:cs typeface="Calibri" pitchFamily="34" charset="-120"/>
              </a:rPr>
              <a:t>Show result</a:t>
            </a:r>
            <a:endParaRPr lang="en-US" sz="1800" dirty="0"/>
          </a:p>
        </p:txBody>
      </p:sp>
      <p:sp>
        <p:nvSpPr>
          <p:cNvPr id="26" name="Text 23"/>
          <p:cNvSpPr txBox="1"/>
          <p:nvPr/>
        </p:nvSpPr>
        <p:spPr>
          <a:xfrm>
            <a:off x="8229600" y="4846320"/>
            <a:ext cx="33832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statement 3</a:t>
            </a:r>
            <a:endParaRPr lang="en-US" sz="1400" dirty="0"/>
          </a:p>
        </p:txBody>
      </p:sp>
      <p:sp>
        <p:nvSpPr>
          <p:cNvPr id="27" name="Text 24"/>
          <p:cNvSpPr txBox="1"/>
          <p:nvPr/>
        </p:nvSpPr>
        <p:spPr>
          <a:xfrm>
            <a:off x="548640" y="5623560"/>
            <a:ext cx="11091672" cy="365760"/>
          </a:xfrm>
          <a:prstGeom prst="rect">
            <a:avLst/>
          </a:prstGeom>
          <a:noFill/>
          <a:ln/>
        </p:spPr>
        <p:txBody>
          <a:bodyPr wrap="square" lIns="0" tIns="0" rIns="0" bIns="0" rtlCol="0" anchor="t"/>
          <a:lstStyle/>
          <a:p>
            <a:pPr indent="0" marL="0">
              <a:buNone/>
            </a:pPr>
            <a:r>
              <a:rPr lang="en-US" sz="1600" dirty="0">
                <a:solidFill>
                  <a:srgbClr val="FF7B72"/>
                </a:solidFill>
                <a:latin typeface="Calibri" pitchFamily="34" charset="0"/>
                <a:ea typeface="Calibri" pitchFamily="34" charset="-122"/>
                <a:cs typeface="Calibri" pitchFamily="34" charset="-120"/>
              </a:rPr>
              <a:t>Print before calculating → wrong result. Order is part of correctness.</a:t>
            </a:r>
            <a:endParaRPr lang="en-US" sz="1600" dirty="0"/>
          </a:p>
        </p:txBody>
      </p:sp>
      <p:sp>
        <p:nvSpPr>
          <p:cNvPr id="28" name="Text 25"/>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9" name="Text 26"/>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09</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Conditions</a:t>
            </a:r>
            <a:endParaRPr lang="en-US" sz="3400" dirty="0"/>
          </a:p>
        </p:txBody>
      </p:sp>
      <p:sp>
        <p:nvSpPr>
          <p:cNvPr id="5" name="Shape 2"/>
          <p:cNvSpPr/>
          <p:nvPr/>
        </p:nvSpPr>
        <p:spPr>
          <a:xfrm>
            <a:off x="1737360" y="1600200"/>
            <a:ext cx="3291840" cy="1188720"/>
          </a:xfrm>
          <a:prstGeom prst="flowChartDecision">
            <a:avLst/>
          </a:prstGeom>
          <a:solidFill>
            <a:srgbClr val="161B22"/>
          </a:solidFill>
          <a:ln w="22225">
            <a:solidFill>
              <a:srgbClr val="58A6FF"/>
            </a:solidFill>
            <a:prstDash val="solid"/>
          </a:ln>
        </p:spPr>
      </p:sp>
      <p:sp>
        <p:nvSpPr>
          <p:cNvPr id="6" name="Text 3"/>
          <p:cNvSpPr txBox="1"/>
          <p:nvPr/>
        </p:nvSpPr>
        <p:spPr>
          <a:xfrm>
            <a:off x="1737360" y="1600200"/>
            <a:ext cx="3291840" cy="1188720"/>
          </a:xfrm>
          <a:prstGeom prst="rect">
            <a:avLst/>
          </a:prstGeom>
          <a:noFill/>
          <a:ln/>
        </p:spPr>
        <p:txBody>
          <a:bodyPr wrap="square" lIns="0" tIns="0" rIns="0" bIns="0" rtlCol="0" anchor="ctr"/>
          <a:lstStyle/>
          <a:p>
            <a:pPr algn="ctr" indent="0" marL="0">
              <a:buNone/>
            </a:pPr>
            <a:r>
              <a:rPr lang="en-US" sz="1500" dirty="0">
                <a:solidFill>
                  <a:srgbClr val="E6EDF3"/>
                </a:solidFill>
                <a:latin typeface="Courier New" pitchFamily="34" charset="0"/>
                <a:ea typeface="Courier New" pitchFamily="34" charset="-122"/>
                <a:cs typeface="Courier New" pitchFamily="34" charset="-120"/>
              </a:rPr>
              <a:t>number % 2 == 0 ?</a:t>
            </a:r>
            <a:endParaRPr lang="en-US" sz="1500" dirty="0"/>
          </a:p>
        </p:txBody>
      </p:sp>
      <p:sp>
        <p:nvSpPr>
          <p:cNvPr id="7" name="Shape 4"/>
          <p:cNvSpPr/>
          <p:nvPr/>
        </p:nvSpPr>
        <p:spPr>
          <a:xfrm flipH="1">
            <a:off x="1508760" y="2194560"/>
            <a:ext cx="228600" cy="0"/>
          </a:xfrm>
          <a:prstGeom prst="line">
            <a:avLst/>
          </a:prstGeom>
          <a:noFill/>
          <a:ln w="22225">
            <a:solidFill>
              <a:srgbClr val="8B949E"/>
            </a:solidFill>
            <a:prstDash val="solid"/>
          </a:ln>
        </p:spPr>
      </p:sp>
      <p:sp>
        <p:nvSpPr>
          <p:cNvPr id="8" name="Shape 5"/>
          <p:cNvSpPr/>
          <p:nvPr/>
        </p:nvSpPr>
        <p:spPr>
          <a:xfrm>
            <a:off x="1508760" y="2194560"/>
            <a:ext cx="0" cy="1234440"/>
          </a:xfrm>
          <a:prstGeom prst="line">
            <a:avLst/>
          </a:prstGeom>
          <a:noFill/>
          <a:ln w="22225">
            <a:solidFill>
              <a:srgbClr val="8B949E"/>
            </a:solidFill>
            <a:prstDash val="solid"/>
            <a:tailEnd type="triangle"/>
          </a:ln>
        </p:spPr>
      </p:sp>
      <p:sp>
        <p:nvSpPr>
          <p:cNvPr id="9" name="Shape 6"/>
          <p:cNvSpPr/>
          <p:nvPr/>
        </p:nvSpPr>
        <p:spPr>
          <a:xfrm>
            <a:off x="5029200" y="2194560"/>
            <a:ext cx="228600" cy="0"/>
          </a:xfrm>
          <a:prstGeom prst="line">
            <a:avLst/>
          </a:prstGeom>
          <a:noFill/>
          <a:ln w="22225">
            <a:solidFill>
              <a:srgbClr val="8B949E"/>
            </a:solidFill>
            <a:prstDash val="solid"/>
          </a:ln>
        </p:spPr>
      </p:sp>
      <p:sp>
        <p:nvSpPr>
          <p:cNvPr id="10" name="Shape 7"/>
          <p:cNvSpPr/>
          <p:nvPr/>
        </p:nvSpPr>
        <p:spPr>
          <a:xfrm>
            <a:off x="5257800" y="2194560"/>
            <a:ext cx="0" cy="1234440"/>
          </a:xfrm>
          <a:prstGeom prst="line">
            <a:avLst/>
          </a:prstGeom>
          <a:noFill/>
          <a:ln w="22225">
            <a:solidFill>
              <a:srgbClr val="8B949E"/>
            </a:solidFill>
            <a:prstDash val="solid"/>
            <a:tailEnd type="triangle"/>
          </a:ln>
        </p:spPr>
      </p:sp>
      <p:sp>
        <p:nvSpPr>
          <p:cNvPr id="11" name="Text 8"/>
          <p:cNvSpPr txBox="1"/>
          <p:nvPr/>
        </p:nvSpPr>
        <p:spPr>
          <a:xfrm>
            <a:off x="1097280" y="1828800"/>
            <a:ext cx="822960" cy="320040"/>
          </a:xfrm>
          <a:prstGeom prst="rect">
            <a:avLst/>
          </a:prstGeom>
          <a:noFill/>
          <a:ln/>
        </p:spPr>
        <p:txBody>
          <a:bodyPr wrap="square" lIns="0" tIns="0" rIns="0" bIns="0" rtlCol="0" anchor="t"/>
          <a:lstStyle/>
          <a:p>
            <a:pPr algn="ctr" indent="0" marL="0">
              <a:buNone/>
            </a:pPr>
            <a:r>
              <a:rPr lang="en-US" sz="1400" dirty="0">
                <a:solidFill>
                  <a:srgbClr val="3FB950"/>
                </a:solidFill>
                <a:latin typeface="Calibri" pitchFamily="34" charset="0"/>
                <a:ea typeface="Calibri" pitchFamily="34" charset="-122"/>
                <a:cs typeface="Calibri" pitchFamily="34" charset="-120"/>
              </a:rPr>
              <a:t>true</a:t>
            </a:r>
            <a:endParaRPr lang="en-US" sz="1400" dirty="0"/>
          </a:p>
        </p:txBody>
      </p:sp>
      <p:sp>
        <p:nvSpPr>
          <p:cNvPr id="12" name="Text 9"/>
          <p:cNvSpPr txBox="1"/>
          <p:nvPr/>
        </p:nvSpPr>
        <p:spPr>
          <a:xfrm>
            <a:off x="4846320" y="1828800"/>
            <a:ext cx="822960" cy="320040"/>
          </a:xfrm>
          <a:prstGeom prst="rect">
            <a:avLst/>
          </a:prstGeom>
          <a:noFill/>
          <a:ln/>
        </p:spPr>
        <p:txBody>
          <a:bodyPr wrap="square" lIns="0" tIns="0" rIns="0" bIns="0" rtlCol="0" anchor="t"/>
          <a:lstStyle/>
          <a:p>
            <a:pPr algn="ctr" indent="0" marL="0">
              <a:buNone/>
            </a:pPr>
            <a:r>
              <a:rPr lang="en-US" sz="1400" dirty="0">
                <a:solidFill>
                  <a:srgbClr val="FF7B72"/>
                </a:solidFill>
                <a:latin typeface="Calibri" pitchFamily="34" charset="0"/>
                <a:ea typeface="Calibri" pitchFamily="34" charset="-122"/>
                <a:cs typeface="Calibri" pitchFamily="34" charset="-120"/>
              </a:rPr>
              <a:t>false</a:t>
            </a:r>
            <a:endParaRPr lang="en-US" sz="1400" dirty="0"/>
          </a:p>
        </p:txBody>
      </p:sp>
      <p:sp>
        <p:nvSpPr>
          <p:cNvPr id="13" name="Shape 10"/>
          <p:cNvSpPr/>
          <p:nvPr/>
        </p:nvSpPr>
        <p:spPr>
          <a:xfrm>
            <a:off x="548640" y="3474720"/>
            <a:ext cx="1920240" cy="685800"/>
          </a:xfrm>
          <a:prstGeom prst="flowChartInputOutput">
            <a:avLst/>
          </a:prstGeom>
          <a:solidFill>
            <a:srgbClr val="161B22"/>
          </a:solidFill>
          <a:ln w="15875">
            <a:solidFill>
              <a:srgbClr val="8B949E"/>
            </a:solidFill>
            <a:prstDash val="solid"/>
          </a:ln>
        </p:spPr>
      </p:sp>
      <p:sp>
        <p:nvSpPr>
          <p:cNvPr id="14" name="Text 11"/>
          <p:cNvSpPr txBox="1"/>
          <p:nvPr/>
        </p:nvSpPr>
        <p:spPr>
          <a:xfrm>
            <a:off x="548640" y="3474720"/>
            <a:ext cx="1920240" cy="685800"/>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Output "even"</a:t>
            </a:r>
            <a:endParaRPr lang="en-US" sz="1500" dirty="0"/>
          </a:p>
        </p:txBody>
      </p:sp>
      <p:sp>
        <p:nvSpPr>
          <p:cNvPr id="15" name="Shape 12"/>
          <p:cNvSpPr/>
          <p:nvPr/>
        </p:nvSpPr>
        <p:spPr>
          <a:xfrm>
            <a:off x="4297680" y="3474720"/>
            <a:ext cx="1920240" cy="685800"/>
          </a:xfrm>
          <a:prstGeom prst="flowChartInputOutput">
            <a:avLst/>
          </a:prstGeom>
          <a:solidFill>
            <a:srgbClr val="161B22"/>
          </a:solidFill>
          <a:ln w="15875">
            <a:solidFill>
              <a:srgbClr val="8B949E"/>
            </a:solidFill>
            <a:prstDash val="solid"/>
          </a:ln>
        </p:spPr>
      </p:sp>
      <p:sp>
        <p:nvSpPr>
          <p:cNvPr id="16" name="Text 13"/>
          <p:cNvSpPr txBox="1"/>
          <p:nvPr/>
        </p:nvSpPr>
        <p:spPr>
          <a:xfrm>
            <a:off x="4297680" y="3474720"/>
            <a:ext cx="1920240" cy="685800"/>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Output "odd"</a:t>
            </a:r>
            <a:endParaRPr lang="en-US" sz="1500" dirty="0"/>
          </a:p>
        </p:txBody>
      </p:sp>
      <p:sp>
        <p:nvSpPr>
          <p:cNvPr id="17" name="Text 14"/>
          <p:cNvSpPr txBox="1"/>
          <p:nvPr/>
        </p:nvSpPr>
        <p:spPr>
          <a:xfrm>
            <a:off x="6492240" y="1554480"/>
            <a:ext cx="512064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Grade classification: order matters</a:t>
            </a:r>
            <a:endParaRPr lang="en-US" sz="1700" dirty="0"/>
          </a:p>
        </p:txBody>
      </p:sp>
      <p:sp>
        <p:nvSpPr>
          <p:cNvPr id="18" name="Shape 15"/>
          <p:cNvSpPr/>
          <p:nvPr/>
        </p:nvSpPr>
        <p:spPr>
          <a:xfrm>
            <a:off x="6492240" y="1965960"/>
            <a:ext cx="5148072" cy="1600200"/>
          </a:xfrm>
          <a:prstGeom prst="roundRect">
            <a:avLst>
              <a:gd name="adj" fmla="val 5714"/>
            </a:avLst>
          </a:prstGeom>
          <a:solidFill>
            <a:srgbClr val="0D1117"/>
          </a:solidFill>
          <a:ln w="12700">
            <a:solidFill>
              <a:srgbClr val="30363D"/>
            </a:solidFill>
            <a:prstDash val="solid"/>
          </a:ln>
        </p:spPr>
      </p:sp>
      <p:sp>
        <p:nvSpPr>
          <p:cNvPr id="19" name="Text 16"/>
          <p:cNvSpPr txBox="1"/>
          <p:nvPr/>
        </p:nvSpPr>
        <p:spPr>
          <a:xfrm>
            <a:off x="6720840" y="2130552"/>
            <a:ext cx="4690872" cy="1325880"/>
          </a:xfrm>
          <a:prstGeom prst="rect">
            <a:avLst/>
          </a:prstGeom>
          <a:noFill/>
          <a:ln/>
        </p:spPr>
        <p:txBody>
          <a:bodyPr wrap="square" lIns="0" tIns="0" rIns="0" bIns="0" rtlCol="0" anchor="t"/>
          <a:lstStyle/>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IF marks ≥ 75 THEN      "Distinction"</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ELSE IF marks ≥ 40 THEN "Pass"</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ELSE                    "Fail"</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END IF</a:t>
            </a:r>
            <a:endParaRPr lang="en-US" sz="1400" dirty="0"/>
          </a:p>
        </p:txBody>
      </p:sp>
      <p:sp>
        <p:nvSpPr>
          <p:cNvPr id="20" name="Text 17"/>
          <p:cNvSpPr txBox="1"/>
          <p:nvPr/>
        </p:nvSpPr>
        <p:spPr>
          <a:xfrm>
            <a:off x="6492240" y="3703320"/>
            <a:ext cx="5148072" cy="365760"/>
          </a:xfrm>
          <a:prstGeom prst="rect">
            <a:avLst/>
          </a:prstGeom>
          <a:noFill/>
          <a:ln/>
        </p:spPr>
        <p:txBody>
          <a:bodyPr wrap="square" lIns="0" tIns="0" rIns="0" bIns="0" rtlCol="0" anchor="t"/>
          <a:lstStyle/>
          <a:p>
            <a:pPr indent="0" marL="0">
              <a:buNone/>
            </a:pPr>
            <a:r>
              <a:rPr lang="en-US" sz="1500" dirty="0">
                <a:solidFill>
                  <a:srgbClr val="ADBAC7"/>
                </a:solidFill>
                <a:latin typeface="Calibri" pitchFamily="34" charset="0"/>
                <a:ea typeface="Calibri" pitchFamily="34" charset="-122"/>
                <a:cs typeface="Calibri" pitchFamily="34" charset="-120"/>
              </a:rPr>
              <a:t>The first true branch runs; the rest are skipped.</a:t>
            </a:r>
            <a:endParaRPr lang="en-US" sz="1500" dirty="0"/>
          </a:p>
        </p:txBody>
      </p:sp>
      <p:sp>
        <p:nvSpPr>
          <p:cNvPr id="21" name="Shape 18"/>
          <p:cNvSpPr/>
          <p:nvPr/>
        </p:nvSpPr>
        <p:spPr>
          <a:xfrm>
            <a:off x="548640" y="4663440"/>
            <a:ext cx="11091672" cy="1005840"/>
          </a:xfrm>
          <a:prstGeom prst="roundRect">
            <a:avLst>
              <a:gd name="adj" fmla="val 9091"/>
            </a:avLst>
          </a:prstGeom>
          <a:solidFill>
            <a:srgbClr val="2D1215"/>
          </a:solidFill>
          <a:ln w="12700">
            <a:solidFill>
              <a:srgbClr val="2D1215"/>
            </a:solidFill>
            <a:prstDash val="solid"/>
          </a:ln>
        </p:spPr>
      </p:sp>
      <p:sp>
        <p:nvSpPr>
          <p:cNvPr id="22" name="Text 19"/>
          <p:cNvSpPr txBox="1"/>
          <p:nvPr/>
        </p:nvSpPr>
        <p:spPr>
          <a:xfrm>
            <a:off x="749808" y="4791456"/>
            <a:ext cx="10689336" cy="78638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Boundary errors</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Using &gt; where the rule says "75 or more" (≥). Test the exact boundary values: 74, 75, 39, 40.</a:t>
            </a:r>
            <a:endParaRPr lang="en-US" sz="1600" dirty="0"/>
          </a:p>
        </p:txBody>
      </p:sp>
      <p:sp>
        <p:nvSpPr>
          <p:cNvPr id="23" name="Text 20"/>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4" name="Text 21"/>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10</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Repetition</a:t>
            </a:r>
            <a:endParaRPr lang="en-US" sz="3400" dirty="0"/>
          </a:p>
        </p:txBody>
      </p:sp>
      <p:sp>
        <p:nvSpPr>
          <p:cNvPr id="5" name="Shape 2"/>
          <p:cNvSpPr/>
          <p:nvPr/>
        </p:nvSpPr>
        <p:spPr>
          <a:xfrm>
            <a:off x="960120" y="1508760"/>
            <a:ext cx="2286000" cy="548640"/>
          </a:xfrm>
          <a:prstGeom prst="roundRect">
            <a:avLst>
              <a:gd name="adj" fmla="val 16667"/>
            </a:avLst>
          </a:prstGeom>
          <a:solidFill>
            <a:srgbClr val="161B22"/>
          </a:solidFill>
          <a:ln w="12700">
            <a:solidFill>
              <a:srgbClr val="30363D"/>
            </a:solidFill>
            <a:prstDash val="solid"/>
          </a:ln>
        </p:spPr>
      </p:sp>
      <p:sp>
        <p:nvSpPr>
          <p:cNvPr id="6" name="Text 3"/>
          <p:cNvSpPr txBox="1"/>
          <p:nvPr/>
        </p:nvSpPr>
        <p:spPr>
          <a:xfrm>
            <a:off x="1033272" y="1508760"/>
            <a:ext cx="2139696" cy="548640"/>
          </a:xfrm>
          <a:prstGeom prst="rect">
            <a:avLst/>
          </a:prstGeom>
          <a:noFill/>
          <a:ln/>
        </p:spPr>
        <p:txBody>
          <a:bodyPr wrap="square" lIns="0" tIns="0" rIns="0" bIns="0" rtlCol="0" anchor="ctr"/>
          <a:lstStyle/>
          <a:p>
            <a:pPr algn="ctr" indent="0" marL="0">
              <a:buNone/>
            </a:pPr>
            <a:r>
              <a:rPr lang="en-US" sz="1400" dirty="0">
                <a:solidFill>
                  <a:srgbClr val="E6EDF3"/>
                </a:solidFill>
                <a:latin typeface="Courier New" pitchFamily="34" charset="0"/>
                <a:ea typeface="Courier New" pitchFamily="34" charset="-122"/>
                <a:cs typeface="Courier New" pitchFamily="34" charset="-120"/>
              </a:rPr>
              <a:t>i = 1, sum = 0</a:t>
            </a:r>
            <a:endParaRPr lang="en-US" sz="1400" dirty="0"/>
          </a:p>
        </p:txBody>
      </p:sp>
      <p:sp>
        <p:nvSpPr>
          <p:cNvPr id="7" name="Shape 4"/>
          <p:cNvSpPr/>
          <p:nvPr/>
        </p:nvSpPr>
        <p:spPr>
          <a:xfrm>
            <a:off x="2103120" y="2075688"/>
            <a:ext cx="0" cy="320040"/>
          </a:xfrm>
          <a:prstGeom prst="line">
            <a:avLst/>
          </a:prstGeom>
          <a:noFill/>
          <a:ln w="22225">
            <a:solidFill>
              <a:srgbClr val="8B949E"/>
            </a:solidFill>
            <a:prstDash val="solid"/>
            <a:tailEnd type="triangle"/>
          </a:ln>
        </p:spPr>
      </p:sp>
      <p:sp>
        <p:nvSpPr>
          <p:cNvPr id="8" name="Shape 5"/>
          <p:cNvSpPr/>
          <p:nvPr/>
        </p:nvSpPr>
        <p:spPr>
          <a:xfrm>
            <a:off x="914400" y="2423160"/>
            <a:ext cx="2377440" cy="914400"/>
          </a:xfrm>
          <a:prstGeom prst="flowChartDecision">
            <a:avLst/>
          </a:prstGeom>
          <a:solidFill>
            <a:srgbClr val="161B22"/>
          </a:solidFill>
          <a:ln w="22225">
            <a:solidFill>
              <a:srgbClr val="58A6FF"/>
            </a:solidFill>
            <a:prstDash val="solid"/>
          </a:ln>
        </p:spPr>
      </p:sp>
      <p:sp>
        <p:nvSpPr>
          <p:cNvPr id="9" name="Text 6"/>
          <p:cNvSpPr txBox="1"/>
          <p:nvPr/>
        </p:nvSpPr>
        <p:spPr>
          <a:xfrm>
            <a:off x="914400" y="2423160"/>
            <a:ext cx="2377440" cy="914400"/>
          </a:xfrm>
          <a:prstGeom prst="rect">
            <a:avLst/>
          </a:prstGeom>
          <a:noFill/>
          <a:ln/>
        </p:spPr>
        <p:txBody>
          <a:bodyPr wrap="square" lIns="0" tIns="0" rIns="0" bIns="0" rtlCol="0" anchor="ctr"/>
          <a:lstStyle/>
          <a:p>
            <a:pPr algn="ctr" indent="0" marL="0">
              <a:buNone/>
            </a:pPr>
            <a:r>
              <a:rPr lang="en-US" sz="1500" dirty="0">
                <a:solidFill>
                  <a:srgbClr val="E6EDF3"/>
                </a:solidFill>
                <a:latin typeface="Courier New" pitchFamily="34" charset="0"/>
                <a:ea typeface="Courier New" pitchFamily="34" charset="-122"/>
                <a:cs typeface="Courier New" pitchFamily="34" charset="-120"/>
              </a:rPr>
              <a:t>i ≤ n ?</a:t>
            </a:r>
            <a:endParaRPr lang="en-US" sz="1500" dirty="0"/>
          </a:p>
        </p:txBody>
      </p:sp>
      <p:sp>
        <p:nvSpPr>
          <p:cNvPr id="10" name="Shape 7"/>
          <p:cNvSpPr/>
          <p:nvPr/>
        </p:nvSpPr>
        <p:spPr>
          <a:xfrm>
            <a:off x="2103120" y="3346704"/>
            <a:ext cx="0" cy="329184"/>
          </a:xfrm>
          <a:prstGeom prst="line">
            <a:avLst/>
          </a:prstGeom>
          <a:noFill/>
          <a:ln w="22225">
            <a:solidFill>
              <a:srgbClr val="8B949E"/>
            </a:solidFill>
            <a:prstDash val="solid"/>
            <a:tailEnd type="triangle"/>
          </a:ln>
        </p:spPr>
      </p:sp>
      <p:sp>
        <p:nvSpPr>
          <p:cNvPr id="11" name="Text 8"/>
          <p:cNvSpPr txBox="1"/>
          <p:nvPr/>
        </p:nvSpPr>
        <p:spPr>
          <a:xfrm>
            <a:off x="2194560" y="3364992"/>
            <a:ext cx="731520" cy="274320"/>
          </a:xfrm>
          <a:prstGeom prst="rect">
            <a:avLst/>
          </a:prstGeom>
          <a:noFill/>
          <a:ln/>
        </p:spPr>
        <p:txBody>
          <a:bodyPr wrap="square" lIns="0" tIns="0" rIns="0" bIns="0" rtlCol="0" anchor="t"/>
          <a:lstStyle/>
          <a:p>
            <a:pPr indent="0" marL="0">
              <a:buNone/>
            </a:pPr>
            <a:r>
              <a:rPr lang="en-US" sz="1300" dirty="0">
                <a:solidFill>
                  <a:srgbClr val="3FB950"/>
                </a:solidFill>
                <a:latin typeface="Calibri" pitchFamily="34" charset="0"/>
                <a:ea typeface="Calibri" pitchFamily="34" charset="-122"/>
                <a:cs typeface="Calibri" pitchFamily="34" charset="-120"/>
              </a:rPr>
              <a:t>true</a:t>
            </a:r>
            <a:endParaRPr lang="en-US" sz="1300" dirty="0"/>
          </a:p>
        </p:txBody>
      </p:sp>
      <p:sp>
        <p:nvSpPr>
          <p:cNvPr id="12" name="Shape 9"/>
          <p:cNvSpPr/>
          <p:nvPr/>
        </p:nvSpPr>
        <p:spPr>
          <a:xfrm>
            <a:off x="960120" y="3703320"/>
            <a:ext cx="2286000" cy="548640"/>
          </a:xfrm>
          <a:prstGeom prst="roundRect">
            <a:avLst>
              <a:gd name="adj" fmla="val 16667"/>
            </a:avLst>
          </a:prstGeom>
          <a:solidFill>
            <a:srgbClr val="161B22"/>
          </a:solidFill>
          <a:ln w="12700">
            <a:solidFill>
              <a:srgbClr val="30363D"/>
            </a:solidFill>
            <a:prstDash val="solid"/>
          </a:ln>
        </p:spPr>
      </p:sp>
      <p:sp>
        <p:nvSpPr>
          <p:cNvPr id="13" name="Text 10"/>
          <p:cNvSpPr txBox="1"/>
          <p:nvPr/>
        </p:nvSpPr>
        <p:spPr>
          <a:xfrm>
            <a:off x="1033272" y="3703320"/>
            <a:ext cx="2139696" cy="548640"/>
          </a:xfrm>
          <a:prstGeom prst="rect">
            <a:avLst/>
          </a:prstGeom>
          <a:noFill/>
          <a:ln/>
        </p:spPr>
        <p:txBody>
          <a:bodyPr wrap="square" lIns="0" tIns="0" rIns="0" bIns="0" rtlCol="0" anchor="ctr"/>
          <a:lstStyle/>
          <a:p>
            <a:pPr algn="ctr" indent="0" marL="0">
              <a:buNone/>
            </a:pPr>
            <a:r>
              <a:rPr lang="en-US" sz="1400" dirty="0">
                <a:solidFill>
                  <a:srgbClr val="E6EDF3"/>
                </a:solidFill>
                <a:latin typeface="Courier New" pitchFamily="34" charset="0"/>
                <a:ea typeface="Courier New" pitchFamily="34" charset="-122"/>
                <a:cs typeface="Courier New" pitchFamily="34" charset="-120"/>
              </a:rPr>
              <a:t>sum = sum + i</a:t>
            </a:r>
            <a:endParaRPr lang="en-US" sz="1400" dirty="0"/>
          </a:p>
        </p:txBody>
      </p:sp>
      <p:sp>
        <p:nvSpPr>
          <p:cNvPr id="14" name="Shape 11"/>
          <p:cNvSpPr/>
          <p:nvPr/>
        </p:nvSpPr>
        <p:spPr>
          <a:xfrm>
            <a:off x="2103120" y="4270248"/>
            <a:ext cx="0" cy="301752"/>
          </a:xfrm>
          <a:prstGeom prst="line">
            <a:avLst/>
          </a:prstGeom>
          <a:noFill/>
          <a:ln w="22225">
            <a:solidFill>
              <a:srgbClr val="8B949E"/>
            </a:solidFill>
            <a:prstDash val="solid"/>
            <a:tailEnd type="triangle"/>
          </a:ln>
        </p:spPr>
      </p:sp>
      <p:sp>
        <p:nvSpPr>
          <p:cNvPr id="15" name="Shape 12"/>
          <p:cNvSpPr/>
          <p:nvPr/>
        </p:nvSpPr>
        <p:spPr>
          <a:xfrm>
            <a:off x="960120" y="4599432"/>
            <a:ext cx="2286000" cy="548640"/>
          </a:xfrm>
          <a:prstGeom prst="roundRect">
            <a:avLst>
              <a:gd name="adj" fmla="val 16667"/>
            </a:avLst>
          </a:prstGeom>
          <a:solidFill>
            <a:srgbClr val="161B22"/>
          </a:solidFill>
          <a:ln w="12700">
            <a:solidFill>
              <a:srgbClr val="30363D"/>
            </a:solidFill>
            <a:prstDash val="solid"/>
          </a:ln>
        </p:spPr>
      </p:sp>
      <p:sp>
        <p:nvSpPr>
          <p:cNvPr id="16" name="Text 13"/>
          <p:cNvSpPr txBox="1"/>
          <p:nvPr/>
        </p:nvSpPr>
        <p:spPr>
          <a:xfrm>
            <a:off x="1033272" y="4599432"/>
            <a:ext cx="2139696" cy="548640"/>
          </a:xfrm>
          <a:prstGeom prst="rect">
            <a:avLst/>
          </a:prstGeom>
          <a:noFill/>
          <a:ln/>
        </p:spPr>
        <p:txBody>
          <a:bodyPr wrap="square" lIns="0" tIns="0" rIns="0" bIns="0" rtlCol="0" anchor="ctr"/>
          <a:lstStyle/>
          <a:p>
            <a:pPr algn="ctr" indent="0" marL="0">
              <a:buNone/>
            </a:pPr>
            <a:r>
              <a:rPr lang="en-US" sz="1400" dirty="0">
                <a:solidFill>
                  <a:srgbClr val="E6EDF3"/>
                </a:solidFill>
                <a:latin typeface="Courier New" pitchFamily="34" charset="0"/>
                <a:ea typeface="Courier New" pitchFamily="34" charset="-122"/>
                <a:cs typeface="Courier New" pitchFamily="34" charset="-120"/>
              </a:rPr>
              <a:t>i = i + 1</a:t>
            </a:r>
            <a:endParaRPr lang="en-US" sz="1400" dirty="0"/>
          </a:p>
        </p:txBody>
      </p:sp>
      <p:sp>
        <p:nvSpPr>
          <p:cNvPr id="17" name="Shape 14"/>
          <p:cNvSpPr/>
          <p:nvPr/>
        </p:nvSpPr>
        <p:spPr>
          <a:xfrm flipH="1">
            <a:off x="640080" y="4873752"/>
            <a:ext cx="320040" cy="0"/>
          </a:xfrm>
          <a:prstGeom prst="line">
            <a:avLst/>
          </a:prstGeom>
          <a:noFill/>
          <a:ln w="22225">
            <a:solidFill>
              <a:srgbClr val="8B949E"/>
            </a:solidFill>
            <a:prstDash val="solid"/>
          </a:ln>
        </p:spPr>
      </p:sp>
      <p:sp>
        <p:nvSpPr>
          <p:cNvPr id="18" name="Shape 15"/>
          <p:cNvSpPr/>
          <p:nvPr/>
        </p:nvSpPr>
        <p:spPr>
          <a:xfrm flipV="1">
            <a:off x="640080" y="2880360"/>
            <a:ext cx="0" cy="1993392"/>
          </a:xfrm>
          <a:prstGeom prst="line">
            <a:avLst/>
          </a:prstGeom>
          <a:noFill/>
          <a:ln w="22225">
            <a:solidFill>
              <a:srgbClr val="8B949E"/>
            </a:solidFill>
            <a:prstDash val="solid"/>
          </a:ln>
        </p:spPr>
      </p:sp>
      <p:sp>
        <p:nvSpPr>
          <p:cNvPr id="19" name="Shape 16"/>
          <p:cNvSpPr/>
          <p:nvPr/>
        </p:nvSpPr>
        <p:spPr>
          <a:xfrm>
            <a:off x="640080" y="2880360"/>
            <a:ext cx="256032" cy="0"/>
          </a:xfrm>
          <a:prstGeom prst="line">
            <a:avLst/>
          </a:prstGeom>
          <a:noFill/>
          <a:ln w="22225">
            <a:solidFill>
              <a:srgbClr val="8B949E"/>
            </a:solidFill>
            <a:prstDash val="solid"/>
            <a:tailEnd type="triangle"/>
          </a:ln>
        </p:spPr>
      </p:sp>
      <p:sp>
        <p:nvSpPr>
          <p:cNvPr id="20" name="Shape 17"/>
          <p:cNvSpPr/>
          <p:nvPr/>
        </p:nvSpPr>
        <p:spPr>
          <a:xfrm>
            <a:off x="3291840" y="2880360"/>
            <a:ext cx="640080" cy="0"/>
          </a:xfrm>
          <a:prstGeom prst="line">
            <a:avLst/>
          </a:prstGeom>
          <a:noFill/>
          <a:ln w="22225">
            <a:solidFill>
              <a:srgbClr val="8B949E"/>
            </a:solidFill>
            <a:prstDash val="solid"/>
            <a:tailEnd type="triangle"/>
          </a:ln>
        </p:spPr>
      </p:sp>
      <p:sp>
        <p:nvSpPr>
          <p:cNvPr id="21" name="Text 18"/>
          <p:cNvSpPr txBox="1"/>
          <p:nvPr/>
        </p:nvSpPr>
        <p:spPr>
          <a:xfrm>
            <a:off x="3337560" y="2560320"/>
            <a:ext cx="640080" cy="274320"/>
          </a:xfrm>
          <a:prstGeom prst="rect">
            <a:avLst/>
          </a:prstGeom>
          <a:noFill/>
          <a:ln/>
        </p:spPr>
        <p:txBody>
          <a:bodyPr wrap="square" lIns="0" tIns="0" rIns="0" bIns="0" rtlCol="0" anchor="t"/>
          <a:lstStyle/>
          <a:p>
            <a:pPr indent="0" marL="0">
              <a:buNone/>
            </a:pPr>
            <a:r>
              <a:rPr lang="en-US" sz="1300" dirty="0">
                <a:solidFill>
                  <a:srgbClr val="FF7B72"/>
                </a:solidFill>
                <a:latin typeface="Calibri" pitchFamily="34" charset="0"/>
                <a:ea typeface="Calibri" pitchFamily="34" charset="-122"/>
                <a:cs typeface="Calibri" pitchFamily="34" charset="-120"/>
              </a:rPr>
              <a:t>false</a:t>
            </a:r>
            <a:endParaRPr lang="en-US" sz="1300" dirty="0"/>
          </a:p>
        </p:txBody>
      </p:sp>
      <p:sp>
        <p:nvSpPr>
          <p:cNvPr id="22" name="Shape 19"/>
          <p:cNvSpPr/>
          <p:nvPr/>
        </p:nvSpPr>
        <p:spPr>
          <a:xfrm>
            <a:off x="3977640" y="2624328"/>
            <a:ext cx="1188720" cy="512064"/>
          </a:xfrm>
          <a:prstGeom prst="roundRect">
            <a:avLst>
              <a:gd name="adj" fmla="val 50000"/>
            </a:avLst>
          </a:prstGeom>
          <a:solidFill>
            <a:srgbClr val="161B22"/>
          </a:solidFill>
          <a:ln w="12700">
            <a:solidFill>
              <a:srgbClr val="30363D"/>
            </a:solidFill>
            <a:prstDash val="solid"/>
          </a:ln>
        </p:spPr>
      </p:sp>
      <p:sp>
        <p:nvSpPr>
          <p:cNvPr id="23" name="Text 20"/>
          <p:cNvSpPr txBox="1"/>
          <p:nvPr/>
        </p:nvSpPr>
        <p:spPr>
          <a:xfrm>
            <a:off x="4050792" y="2624328"/>
            <a:ext cx="1042416" cy="512064"/>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exit</a:t>
            </a:r>
            <a:endParaRPr lang="en-US" sz="1500" dirty="0"/>
          </a:p>
        </p:txBody>
      </p:sp>
      <p:sp>
        <p:nvSpPr>
          <p:cNvPr id="24" name="Text 21"/>
          <p:cNvSpPr txBox="1"/>
          <p:nvPr/>
        </p:nvSpPr>
        <p:spPr>
          <a:xfrm>
            <a:off x="3337560" y="1645920"/>
            <a:ext cx="1097280" cy="27432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initialise</a:t>
            </a:r>
            <a:endParaRPr lang="en-US" sz="1300" dirty="0"/>
          </a:p>
        </p:txBody>
      </p:sp>
      <p:sp>
        <p:nvSpPr>
          <p:cNvPr id="25" name="Text 22"/>
          <p:cNvSpPr txBox="1"/>
          <p:nvPr/>
        </p:nvSpPr>
        <p:spPr>
          <a:xfrm>
            <a:off x="3337560" y="3017520"/>
            <a:ext cx="1097280" cy="27432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check</a:t>
            </a:r>
            <a:endParaRPr lang="en-US" sz="1300" dirty="0"/>
          </a:p>
        </p:txBody>
      </p:sp>
      <p:sp>
        <p:nvSpPr>
          <p:cNvPr id="26" name="Text 23"/>
          <p:cNvSpPr txBox="1"/>
          <p:nvPr/>
        </p:nvSpPr>
        <p:spPr>
          <a:xfrm>
            <a:off x="3337560" y="3840480"/>
            <a:ext cx="1097280" cy="27432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body</a:t>
            </a:r>
            <a:endParaRPr lang="en-US" sz="1300" dirty="0"/>
          </a:p>
        </p:txBody>
      </p:sp>
      <p:sp>
        <p:nvSpPr>
          <p:cNvPr id="27" name="Text 24"/>
          <p:cNvSpPr txBox="1"/>
          <p:nvPr/>
        </p:nvSpPr>
        <p:spPr>
          <a:xfrm>
            <a:off x="3337560" y="4736592"/>
            <a:ext cx="1097280" cy="27432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update</a:t>
            </a:r>
            <a:endParaRPr lang="en-US" sz="1300" dirty="0"/>
          </a:p>
        </p:txBody>
      </p:sp>
      <p:sp>
        <p:nvSpPr>
          <p:cNvPr id="28" name="Text 25"/>
          <p:cNvSpPr txBox="1"/>
          <p:nvPr/>
        </p:nvSpPr>
        <p:spPr>
          <a:xfrm>
            <a:off x="6309360" y="1508760"/>
            <a:ext cx="530352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Trace: sum of 1 to 4</a:t>
            </a:r>
            <a:endParaRPr lang="en-US" sz="1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0" y="1920240"/>
          <a:ext cx="5330952" cy="914400"/>
        </p:xfrm>
        <a:graphic>
          <a:graphicData uri="http://schemas.openxmlformats.org/drawingml/2006/table">
            <a:tbl>
              <a:tblPr/>
              <a:tblGrid>
                <a:gridCol w="914400"/>
                <a:gridCol w="1280160"/>
                <a:gridCol w="3136392"/>
              </a:tblGrid>
              <a:tr h="365760">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i ≤ 4?</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sum after body</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365760">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65760">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65760">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65760">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65760">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false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loop ends · sum = 10</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30" name="Shape 26"/>
          <p:cNvSpPr/>
          <p:nvPr/>
        </p:nvSpPr>
        <p:spPr>
          <a:xfrm>
            <a:off x="6309360" y="4343400"/>
            <a:ext cx="2560320" cy="1371600"/>
          </a:xfrm>
          <a:prstGeom prst="roundRect">
            <a:avLst>
              <a:gd name="adj" fmla="val 6667"/>
            </a:avLst>
          </a:prstGeom>
          <a:solidFill>
            <a:srgbClr val="2D1215"/>
          </a:solidFill>
          <a:ln w="12700">
            <a:solidFill>
              <a:srgbClr val="2D1215"/>
            </a:solidFill>
            <a:prstDash val="solid"/>
          </a:ln>
        </p:spPr>
      </p:sp>
      <p:sp>
        <p:nvSpPr>
          <p:cNvPr id="31" name="Text 27"/>
          <p:cNvSpPr txBox="1"/>
          <p:nvPr/>
        </p:nvSpPr>
        <p:spPr>
          <a:xfrm>
            <a:off x="6510528" y="4471416"/>
            <a:ext cx="2157984" cy="115214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Infinite loop</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The update is missing, so the condition never becomes false.</a:t>
            </a:r>
            <a:endParaRPr lang="en-US" sz="1600" dirty="0"/>
          </a:p>
        </p:txBody>
      </p:sp>
      <p:sp>
        <p:nvSpPr>
          <p:cNvPr id="32" name="Shape 28"/>
          <p:cNvSpPr/>
          <p:nvPr/>
        </p:nvSpPr>
        <p:spPr>
          <a:xfrm>
            <a:off x="9079992" y="4343400"/>
            <a:ext cx="2560320" cy="1371600"/>
          </a:xfrm>
          <a:prstGeom prst="roundRect">
            <a:avLst>
              <a:gd name="adj" fmla="val 6667"/>
            </a:avLst>
          </a:prstGeom>
          <a:solidFill>
            <a:srgbClr val="2D1215"/>
          </a:solidFill>
          <a:ln w="12700">
            <a:solidFill>
              <a:srgbClr val="2D1215"/>
            </a:solidFill>
            <a:prstDash val="solid"/>
          </a:ln>
        </p:spPr>
      </p:sp>
      <p:sp>
        <p:nvSpPr>
          <p:cNvPr id="33" name="Text 29"/>
          <p:cNvSpPr txBox="1"/>
          <p:nvPr/>
        </p:nvSpPr>
        <p:spPr>
          <a:xfrm>
            <a:off x="9281160" y="4471416"/>
            <a:ext cx="2157984" cy="115214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Off-by-one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&lt; versus ≤. Trace the first and last iteration.</a:t>
            </a:r>
            <a:endParaRPr lang="en-US" sz="1600" dirty="0"/>
          </a:p>
        </p:txBody>
      </p:sp>
      <p:sp>
        <p:nvSpPr>
          <p:cNvPr id="34" name="Text 30"/>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35" name="Text 31"/>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11</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Functions as reusable logic</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A named, reusable block of steps that receives inputs (parameters) and gives back a result (return value).</a:t>
            </a:r>
            <a:endParaRPr lang="en-US" sz="1800" dirty="0"/>
          </a:p>
        </p:txBody>
      </p:sp>
      <p:sp>
        <p:nvSpPr>
          <p:cNvPr id="7" name="Shape 4"/>
          <p:cNvSpPr/>
          <p:nvPr/>
        </p:nvSpPr>
        <p:spPr>
          <a:xfrm>
            <a:off x="548640" y="2743200"/>
            <a:ext cx="2468880" cy="1280160"/>
          </a:xfrm>
          <a:prstGeom prst="roundRect">
            <a:avLst>
              <a:gd name="adj" fmla="val 7143"/>
            </a:avLst>
          </a:prstGeom>
          <a:solidFill>
            <a:srgbClr val="161B22"/>
          </a:solidFill>
          <a:ln w="12700">
            <a:solidFill>
              <a:srgbClr val="30363D"/>
            </a:solidFill>
            <a:prstDash val="solid"/>
          </a:ln>
        </p:spPr>
      </p:sp>
      <p:sp>
        <p:nvSpPr>
          <p:cNvPr id="8" name="Text 5"/>
          <p:cNvSpPr txBox="1"/>
          <p:nvPr/>
        </p:nvSpPr>
        <p:spPr>
          <a:xfrm>
            <a:off x="621792" y="2743200"/>
            <a:ext cx="2322576" cy="1280160"/>
          </a:xfrm>
          <a:prstGeom prst="rect">
            <a:avLst/>
          </a:prstGeom>
          <a:noFill/>
          <a:ln/>
        </p:spPr>
        <p:txBody>
          <a:bodyPr wrap="square" lIns="0" tIns="0" rIns="0" bIns="0" rtlCol="0" anchor="ctr"/>
          <a:lstStyle/>
          <a:p>
            <a:pPr algn="ctr" indent="0" marL="0">
              <a:buNone/>
            </a:pPr>
            <a:r>
              <a:rPr lang="en-US" sz="1600" dirty="0">
                <a:solidFill>
                  <a:srgbClr val="E6EDF3"/>
                </a:solidFill>
                <a:latin typeface="Courier New" pitchFamily="34" charset="0"/>
                <a:ea typeface="Courier New" pitchFamily="34" charset="-122"/>
                <a:cs typeface="Courier New" pitchFamily="34" charset="-120"/>
              </a:rPr>
              <a:t>width = 5</a:t>
            </a:r>
            <a:endParaRPr lang="en-US" sz="1600" dirty="0"/>
          </a:p>
          <a:p>
            <a:pPr algn="ctr" indent="0" marL="0">
              <a:buNone/>
            </a:pPr>
            <a:r>
              <a:rPr lang="en-US" sz="1600" dirty="0">
                <a:solidFill>
                  <a:srgbClr val="E6EDF3"/>
                </a:solidFill>
                <a:latin typeface="Courier New" pitchFamily="34" charset="0"/>
                <a:ea typeface="Courier New" pitchFamily="34" charset="-122"/>
                <a:cs typeface="Courier New" pitchFamily="34" charset="-120"/>
              </a:rPr>
              <a:t>height = 3</a:t>
            </a:r>
            <a:endParaRPr lang="en-US" sz="1600" dirty="0"/>
          </a:p>
        </p:txBody>
      </p:sp>
      <p:sp>
        <p:nvSpPr>
          <p:cNvPr id="9" name="Shape 6"/>
          <p:cNvSpPr/>
          <p:nvPr/>
        </p:nvSpPr>
        <p:spPr>
          <a:xfrm>
            <a:off x="3063240" y="3383280"/>
            <a:ext cx="731520" cy="0"/>
          </a:xfrm>
          <a:prstGeom prst="line">
            <a:avLst/>
          </a:prstGeom>
          <a:noFill/>
          <a:ln w="22225">
            <a:solidFill>
              <a:srgbClr val="8B949E"/>
            </a:solidFill>
            <a:prstDash val="solid"/>
            <a:tailEnd type="triangle"/>
          </a:ln>
        </p:spPr>
      </p:sp>
      <p:sp>
        <p:nvSpPr>
          <p:cNvPr id="10" name="Shape 7"/>
          <p:cNvSpPr/>
          <p:nvPr/>
        </p:nvSpPr>
        <p:spPr>
          <a:xfrm>
            <a:off x="3840480" y="2514600"/>
            <a:ext cx="4023360" cy="1737360"/>
          </a:xfrm>
          <a:prstGeom prst="roundRect">
            <a:avLst>
              <a:gd name="adj" fmla="val 5263"/>
            </a:avLst>
          </a:prstGeom>
          <a:solidFill>
            <a:srgbClr val="0F2440"/>
          </a:solidFill>
          <a:ln w="22225">
            <a:solidFill>
              <a:srgbClr val="58A6FF"/>
            </a:solidFill>
            <a:prstDash val="solid"/>
          </a:ln>
        </p:spPr>
      </p:sp>
      <p:sp>
        <p:nvSpPr>
          <p:cNvPr id="11" name="Text 8"/>
          <p:cNvSpPr txBox="1"/>
          <p:nvPr/>
        </p:nvSpPr>
        <p:spPr>
          <a:xfrm>
            <a:off x="3840480" y="2697480"/>
            <a:ext cx="4023360" cy="457200"/>
          </a:xfrm>
          <a:prstGeom prst="rect">
            <a:avLst/>
          </a:prstGeom>
          <a:noFill/>
          <a:ln/>
        </p:spPr>
        <p:txBody>
          <a:bodyPr wrap="square" lIns="0" tIns="0" rIns="0" bIns="0" rtlCol="0" anchor="t"/>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area(width, height)</a:t>
            </a:r>
            <a:endParaRPr lang="en-US" sz="1800" dirty="0"/>
          </a:p>
        </p:txBody>
      </p:sp>
      <p:sp>
        <p:nvSpPr>
          <p:cNvPr id="12" name="Text 9"/>
          <p:cNvSpPr txBox="1"/>
          <p:nvPr/>
        </p:nvSpPr>
        <p:spPr>
          <a:xfrm>
            <a:off x="3840480" y="3246120"/>
            <a:ext cx="4023360" cy="411480"/>
          </a:xfrm>
          <a:prstGeom prst="rect">
            <a:avLst/>
          </a:prstGeom>
          <a:noFill/>
          <a:ln/>
        </p:spPr>
        <p:txBody>
          <a:bodyPr wrap="square" lIns="0" tIns="0" rIns="0" bIns="0" rtlCol="0" anchor="t"/>
          <a:lstStyle/>
          <a:p>
            <a:pPr algn="ctr" indent="0" marL="0">
              <a:buNone/>
            </a:pPr>
            <a:r>
              <a:rPr lang="en-US" sz="1500" dirty="0">
                <a:solidFill>
                  <a:srgbClr val="ADBAC7"/>
                </a:solidFill>
                <a:latin typeface="Courier New" pitchFamily="34" charset="0"/>
                <a:ea typeface="Courier New" pitchFamily="34" charset="-122"/>
                <a:cs typeface="Courier New" pitchFamily="34" charset="-120"/>
              </a:rPr>
              <a:t>return width × height</a:t>
            </a:r>
            <a:endParaRPr lang="en-US" sz="1500" dirty="0"/>
          </a:p>
        </p:txBody>
      </p:sp>
      <p:sp>
        <p:nvSpPr>
          <p:cNvPr id="13" name="Text 10"/>
          <p:cNvSpPr txBox="1"/>
          <p:nvPr/>
        </p:nvSpPr>
        <p:spPr>
          <a:xfrm>
            <a:off x="3840480" y="3703320"/>
            <a:ext cx="4023360" cy="36576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inside is hidden from the caller</a:t>
            </a:r>
            <a:endParaRPr lang="en-US" sz="1300" dirty="0"/>
          </a:p>
        </p:txBody>
      </p:sp>
      <p:sp>
        <p:nvSpPr>
          <p:cNvPr id="14" name="Shape 11"/>
          <p:cNvSpPr/>
          <p:nvPr/>
        </p:nvSpPr>
        <p:spPr>
          <a:xfrm>
            <a:off x="7909560" y="3383280"/>
            <a:ext cx="731520" cy="0"/>
          </a:xfrm>
          <a:prstGeom prst="line">
            <a:avLst/>
          </a:prstGeom>
          <a:noFill/>
          <a:ln w="22225">
            <a:solidFill>
              <a:srgbClr val="8B949E"/>
            </a:solidFill>
            <a:prstDash val="solid"/>
            <a:tailEnd type="triangle"/>
          </a:ln>
        </p:spPr>
      </p:sp>
      <p:sp>
        <p:nvSpPr>
          <p:cNvPr id="15" name="Shape 12"/>
          <p:cNvSpPr/>
          <p:nvPr/>
        </p:nvSpPr>
        <p:spPr>
          <a:xfrm>
            <a:off x="8686800" y="2743200"/>
            <a:ext cx="2953512" cy="1280160"/>
          </a:xfrm>
          <a:prstGeom prst="roundRect">
            <a:avLst>
              <a:gd name="adj" fmla="val 7143"/>
            </a:avLst>
          </a:prstGeom>
          <a:solidFill>
            <a:srgbClr val="12261A"/>
          </a:solidFill>
          <a:ln w="12700">
            <a:solidFill>
              <a:srgbClr val="3FB950"/>
            </a:solidFill>
            <a:prstDash val="solid"/>
          </a:ln>
        </p:spPr>
      </p:sp>
      <p:sp>
        <p:nvSpPr>
          <p:cNvPr id="16" name="Text 13"/>
          <p:cNvSpPr txBox="1"/>
          <p:nvPr/>
        </p:nvSpPr>
        <p:spPr>
          <a:xfrm>
            <a:off x="8759952" y="2743200"/>
            <a:ext cx="2807208" cy="1280160"/>
          </a:xfrm>
          <a:prstGeom prst="rect">
            <a:avLst/>
          </a:prstGeom>
          <a:noFill/>
          <a:ln/>
        </p:spPr>
        <p:txBody>
          <a:bodyPr wrap="square" lIns="0" tIns="0" rIns="0" bIns="0" rtlCol="0" anchor="ctr"/>
          <a:lstStyle/>
          <a:p>
            <a:pPr algn="ctr" indent="0" marL="0">
              <a:buNone/>
            </a:pPr>
            <a:r>
              <a:rPr lang="en-US" sz="3000" b="1" dirty="0">
                <a:solidFill>
                  <a:srgbClr val="3FB950"/>
                </a:solidFill>
                <a:latin typeface="Courier New" pitchFamily="34" charset="0"/>
                <a:ea typeface="Courier New" pitchFamily="34" charset="-122"/>
                <a:cs typeface="Courier New" pitchFamily="34" charset="-120"/>
              </a:rPr>
              <a:t>15</a:t>
            </a:r>
            <a:endParaRPr lang="en-US" sz="3000" dirty="0"/>
          </a:p>
        </p:txBody>
      </p:sp>
      <p:sp>
        <p:nvSpPr>
          <p:cNvPr id="17" name="Text 14"/>
          <p:cNvSpPr txBox="1"/>
          <p:nvPr/>
        </p:nvSpPr>
        <p:spPr>
          <a:xfrm>
            <a:off x="548640" y="4114800"/>
            <a:ext cx="24688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inputs</a:t>
            </a:r>
            <a:endParaRPr lang="en-US" sz="1400" dirty="0"/>
          </a:p>
        </p:txBody>
      </p:sp>
      <p:sp>
        <p:nvSpPr>
          <p:cNvPr id="18" name="Text 15"/>
          <p:cNvSpPr txBox="1"/>
          <p:nvPr/>
        </p:nvSpPr>
        <p:spPr>
          <a:xfrm>
            <a:off x="8686800" y="4114800"/>
            <a:ext cx="2953512"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result</a:t>
            </a:r>
            <a:endParaRPr lang="en-US" sz="1400" dirty="0"/>
          </a:p>
        </p:txBody>
      </p:sp>
      <p:sp>
        <p:nvSpPr>
          <p:cNvPr id="19" name="Shape 16"/>
          <p:cNvSpPr/>
          <p:nvPr/>
        </p:nvSpPr>
        <p:spPr>
          <a:xfrm>
            <a:off x="548640" y="4846320"/>
            <a:ext cx="5394960" cy="1005840"/>
          </a:xfrm>
          <a:prstGeom prst="roundRect">
            <a:avLst>
              <a:gd name="adj" fmla="val 9091"/>
            </a:avLst>
          </a:prstGeom>
          <a:solidFill>
            <a:srgbClr val="12261A"/>
          </a:solidFill>
          <a:ln w="12700">
            <a:solidFill>
              <a:srgbClr val="12261A"/>
            </a:solidFill>
            <a:prstDash val="solid"/>
          </a:ln>
        </p:spPr>
      </p:sp>
      <p:sp>
        <p:nvSpPr>
          <p:cNvPr id="20" name="Text 17"/>
          <p:cNvSpPr txBox="1"/>
          <p:nvPr/>
        </p:nvSpPr>
        <p:spPr>
          <a:xfrm>
            <a:off x="749808" y="4974336"/>
            <a:ext cx="4992624" cy="786384"/>
          </a:xfrm>
          <a:prstGeom prst="rect">
            <a:avLst/>
          </a:prstGeom>
          <a:noFill/>
          <a:ln/>
        </p:spPr>
        <p:txBody>
          <a:bodyPr wrap="square" lIns="0" tIns="0" rIns="0" bIns="0" rtlCol="0" anchor="t"/>
          <a:lstStyle/>
          <a:p>
            <a:pPr indent="0" marL="0">
              <a:buNone/>
            </a:pPr>
            <a:r>
              <a:rPr lang="en-US" sz="1500" b="1" dirty="0">
                <a:solidFill>
                  <a:srgbClr val="3FB950"/>
                </a:solidFill>
                <a:latin typeface="Calibri" pitchFamily="34" charset="0"/>
                <a:ea typeface="Calibri" pitchFamily="34" charset="-122"/>
                <a:cs typeface="Calibri" pitchFamily="34" charset="-120"/>
              </a:rPr>
              <a:t>Why</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No duplicated steps, and logic gets a name that explains its purpose.</a:t>
            </a:r>
            <a:endParaRPr lang="en-US" sz="1600" dirty="0"/>
          </a:p>
        </p:txBody>
      </p:sp>
      <p:sp>
        <p:nvSpPr>
          <p:cNvPr id="21" name="Shape 18"/>
          <p:cNvSpPr/>
          <p:nvPr/>
        </p:nvSpPr>
        <p:spPr>
          <a:xfrm>
            <a:off x="6245352" y="4846320"/>
            <a:ext cx="5394960" cy="1005840"/>
          </a:xfrm>
          <a:prstGeom prst="roundRect">
            <a:avLst>
              <a:gd name="adj" fmla="val 9091"/>
            </a:avLst>
          </a:prstGeom>
          <a:solidFill>
            <a:srgbClr val="2D1215"/>
          </a:solidFill>
          <a:ln w="12700">
            <a:solidFill>
              <a:srgbClr val="2D1215"/>
            </a:solidFill>
            <a:prstDash val="solid"/>
          </a:ln>
        </p:spPr>
      </p:sp>
      <p:sp>
        <p:nvSpPr>
          <p:cNvPr id="22" name="Text 19"/>
          <p:cNvSpPr txBox="1"/>
          <p:nvPr/>
        </p:nvSpPr>
        <p:spPr>
          <a:xfrm>
            <a:off x="6446520" y="4974336"/>
            <a:ext cx="4992624" cy="78638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Common mistake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One function that reads, calculates and prints. One function, one job.</a:t>
            </a:r>
            <a:endParaRPr lang="en-US" sz="1600" dirty="0"/>
          </a:p>
        </p:txBody>
      </p:sp>
      <p:sp>
        <p:nvSpPr>
          <p:cNvPr id="23" name="Text 20"/>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4" name="Text 21"/>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12</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Breaking a problem into smaller problems</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Decomposition: split a large problem into subproblems simple enough to solve on their own.</a:t>
            </a:r>
            <a:endParaRPr lang="en-US" sz="1800" dirty="0"/>
          </a:p>
        </p:txBody>
      </p:sp>
      <p:sp>
        <p:nvSpPr>
          <p:cNvPr id="7" name="Shape 4"/>
          <p:cNvSpPr/>
          <p:nvPr/>
        </p:nvSpPr>
        <p:spPr>
          <a:xfrm>
            <a:off x="4087368" y="2468880"/>
            <a:ext cx="4023360" cy="731520"/>
          </a:xfrm>
          <a:prstGeom prst="roundRect">
            <a:avLst>
              <a:gd name="adj" fmla="val 12500"/>
            </a:avLst>
          </a:prstGeom>
          <a:solidFill>
            <a:srgbClr val="0F2440"/>
          </a:solidFill>
          <a:ln w="19050">
            <a:solidFill>
              <a:srgbClr val="58A6FF"/>
            </a:solidFill>
            <a:prstDash val="solid"/>
          </a:ln>
        </p:spPr>
      </p:sp>
      <p:sp>
        <p:nvSpPr>
          <p:cNvPr id="8" name="Text 5"/>
          <p:cNvSpPr txBox="1"/>
          <p:nvPr/>
        </p:nvSpPr>
        <p:spPr>
          <a:xfrm>
            <a:off x="4160520" y="2468880"/>
            <a:ext cx="3877056" cy="731520"/>
          </a:xfrm>
          <a:prstGeom prst="rect">
            <a:avLst/>
          </a:prstGeom>
          <a:noFill/>
          <a:ln/>
        </p:spPr>
        <p:txBody>
          <a:bodyPr wrap="square" lIns="0" tIns="0" rIns="0" bIns="0" rtlCol="0" anchor="ctr"/>
          <a:lstStyle/>
          <a:p>
            <a:pPr algn="ctr" indent="0" marL="0">
              <a:buNone/>
            </a:pPr>
            <a:r>
              <a:rPr lang="en-US" sz="1900" b="1" dirty="0">
                <a:solidFill>
                  <a:srgbClr val="E6EDF3"/>
                </a:solidFill>
                <a:latin typeface="Calibri" pitchFamily="34" charset="0"/>
                <a:ea typeface="Calibri" pitchFamily="34" charset="-122"/>
                <a:cs typeface="Calibri" pitchFamily="34" charset="-120"/>
              </a:rPr>
              <a:t>Produce a grade report</a:t>
            </a:r>
            <a:endParaRPr lang="en-US" sz="1900" dirty="0"/>
          </a:p>
        </p:txBody>
      </p:sp>
      <p:sp>
        <p:nvSpPr>
          <p:cNvPr id="9" name="Shape 6"/>
          <p:cNvSpPr/>
          <p:nvPr/>
        </p:nvSpPr>
        <p:spPr>
          <a:xfrm>
            <a:off x="6099048" y="3218688"/>
            <a:ext cx="0" cy="347472"/>
          </a:xfrm>
          <a:prstGeom prst="line">
            <a:avLst/>
          </a:prstGeom>
          <a:noFill/>
          <a:ln w="22225">
            <a:solidFill>
              <a:srgbClr val="8B949E"/>
            </a:solidFill>
            <a:prstDash val="solid"/>
          </a:ln>
        </p:spPr>
      </p:sp>
      <p:sp>
        <p:nvSpPr>
          <p:cNvPr id="10" name="Shape 7"/>
          <p:cNvSpPr/>
          <p:nvPr/>
        </p:nvSpPr>
        <p:spPr>
          <a:xfrm>
            <a:off x="1783080" y="3566160"/>
            <a:ext cx="8723376" cy="0"/>
          </a:xfrm>
          <a:prstGeom prst="line">
            <a:avLst/>
          </a:prstGeom>
          <a:noFill/>
          <a:ln w="22225">
            <a:solidFill>
              <a:srgbClr val="8B949E"/>
            </a:solidFill>
            <a:prstDash val="solid"/>
          </a:ln>
        </p:spPr>
      </p:sp>
      <p:sp>
        <p:nvSpPr>
          <p:cNvPr id="11" name="Shape 8"/>
          <p:cNvSpPr/>
          <p:nvPr/>
        </p:nvSpPr>
        <p:spPr>
          <a:xfrm>
            <a:off x="1783080" y="3566160"/>
            <a:ext cx="0" cy="365760"/>
          </a:xfrm>
          <a:prstGeom prst="line">
            <a:avLst/>
          </a:prstGeom>
          <a:noFill/>
          <a:ln w="22225">
            <a:solidFill>
              <a:srgbClr val="8B949E"/>
            </a:solidFill>
            <a:prstDash val="solid"/>
            <a:tailEnd type="triangle"/>
          </a:ln>
        </p:spPr>
      </p:sp>
      <p:sp>
        <p:nvSpPr>
          <p:cNvPr id="12" name="Shape 9"/>
          <p:cNvSpPr/>
          <p:nvPr/>
        </p:nvSpPr>
        <p:spPr>
          <a:xfrm>
            <a:off x="548640" y="3959352"/>
            <a:ext cx="2468880" cy="1005840"/>
          </a:xfrm>
          <a:prstGeom prst="roundRect">
            <a:avLst>
              <a:gd name="adj" fmla="val 9091"/>
            </a:avLst>
          </a:prstGeom>
          <a:solidFill>
            <a:srgbClr val="161B22"/>
          </a:solidFill>
          <a:ln w="12700">
            <a:solidFill>
              <a:srgbClr val="30363D"/>
            </a:solidFill>
            <a:prstDash val="solid"/>
          </a:ln>
        </p:spPr>
      </p:sp>
      <p:sp>
        <p:nvSpPr>
          <p:cNvPr id="13" name="Text 10"/>
          <p:cNvSpPr txBox="1"/>
          <p:nvPr/>
        </p:nvSpPr>
        <p:spPr>
          <a:xfrm>
            <a:off x="548640" y="4069080"/>
            <a:ext cx="2468880" cy="411480"/>
          </a:xfrm>
          <a:prstGeom prst="rect">
            <a:avLst/>
          </a:prstGeom>
          <a:noFill/>
          <a:ln/>
        </p:spPr>
        <p:txBody>
          <a:bodyPr wrap="square" lIns="0" tIns="0" rIns="0" bIns="0" rtlCol="0" anchor="t"/>
          <a:lstStyle/>
          <a:p>
            <a:pPr algn="ctr" indent="0" marL="0">
              <a:buNone/>
            </a:pPr>
            <a:r>
              <a:rPr lang="en-US" sz="1700" b="1" dirty="0">
                <a:solidFill>
                  <a:srgbClr val="E6EDF3"/>
                </a:solidFill>
                <a:latin typeface="Calibri" pitchFamily="34" charset="0"/>
                <a:ea typeface="Calibri" pitchFamily="34" charset="-122"/>
                <a:cs typeface="Calibri" pitchFamily="34" charset="-120"/>
              </a:rPr>
              <a:t>Read marks</a:t>
            </a:r>
            <a:endParaRPr lang="en-US" sz="1700" dirty="0"/>
          </a:p>
        </p:txBody>
      </p:sp>
      <p:sp>
        <p:nvSpPr>
          <p:cNvPr id="14" name="Text 11"/>
          <p:cNvSpPr txBox="1"/>
          <p:nvPr/>
        </p:nvSpPr>
        <p:spPr>
          <a:xfrm>
            <a:off x="548640" y="4498848"/>
            <a:ext cx="24688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validate input</a:t>
            </a:r>
            <a:endParaRPr lang="en-US" sz="1400" dirty="0"/>
          </a:p>
        </p:txBody>
      </p:sp>
      <p:sp>
        <p:nvSpPr>
          <p:cNvPr id="15" name="Shape 12"/>
          <p:cNvSpPr/>
          <p:nvPr/>
        </p:nvSpPr>
        <p:spPr>
          <a:xfrm>
            <a:off x="4690872" y="3566160"/>
            <a:ext cx="0" cy="365760"/>
          </a:xfrm>
          <a:prstGeom prst="line">
            <a:avLst/>
          </a:prstGeom>
          <a:noFill/>
          <a:ln w="22225">
            <a:solidFill>
              <a:srgbClr val="8B949E"/>
            </a:solidFill>
            <a:prstDash val="solid"/>
            <a:tailEnd type="triangle"/>
          </a:ln>
        </p:spPr>
      </p:sp>
      <p:sp>
        <p:nvSpPr>
          <p:cNvPr id="16" name="Shape 13"/>
          <p:cNvSpPr/>
          <p:nvPr/>
        </p:nvSpPr>
        <p:spPr>
          <a:xfrm>
            <a:off x="3456432" y="3959352"/>
            <a:ext cx="2468880" cy="1005840"/>
          </a:xfrm>
          <a:prstGeom prst="roundRect">
            <a:avLst>
              <a:gd name="adj" fmla="val 9091"/>
            </a:avLst>
          </a:prstGeom>
          <a:solidFill>
            <a:srgbClr val="161B22"/>
          </a:solidFill>
          <a:ln w="12700">
            <a:solidFill>
              <a:srgbClr val="30363D"/>
            </a:solidFill>
            <a:prstDash val="solid"/>
          </a:ln>
        </p:spPr>
      </p:sp>
      <p:sp>
        <p:nvSpPr>
          <p:cNvPr id="17" name="Text 14"/>
          <p:cNvSpPr txBox="1"/>
          <p:nvPr/>
        </p:nvSpPr>
        <p:spPr>
          <a:xfrm>
            <a:off x="3456432" y="4069080"/>
            <a:ext cx="2468880" cy="411480"/>
          </a:xfrm>
          <a:prstGeom prst="rect">
            <a:avLst/>
          </a:prstGeom>
          <a:noFill/>
          <a:ln/>
        </p:spPr>
        <p:txBody>
          <a:bodyPr wrap="square" lIns="0" tIns="0" rIns="0" bIns="0" rtlCol="0" anchor="t"/>
          <a:lstStyle/>
          <a:p>
            <a:pPr algn="ctr" indent="0" marL="0">
              <a:buNone/>
            </a:pPr>
            <a:r>
              <a:rPr lang="en-US" sz="1700" b="1" dirty="0">
                <a:solidFill>
                  <a:srgbClr val="E6EDF3"/>
                </a:solidFill>
                <a:latin typeface="Calibri" pitchFamily="34" charset="0"/>
                <a:ea typeface="Calibri" pitchFamily="34" charset="-122"/>
                <a:cs typeface="Calibri" pitchFamily="34" charset="-120"/>
              </a:rPr>
              <a:t>Calculate</a:t>
            </a:r>
            <a:endParaRPr lang="en-US" sz="1700" dirty="0"/>
          </a:p>
        </p:txBody>
      </p:sp>
      <p:sp>
        <p:nvSpPr>
          <p:cNvPr id="18" name="Text 15"/>
          <p:cNvSpPr txBox="1"/>
          <p:nvPr/>
        </p:nvSpPr>
        <p:spPr>
          <a:xfrm>
            <a:off x="3456432" y="4498848"/>
            <a:ext cx="24688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the average</a:t>
            </a:r>
            <a:endParaRPr lang="en-US" sz="1400" dirty="0"/>
          </a:p>
        </p:txBody>
      </p:sp>
      <p:sp>
        <p:nvSpPr>
          <p:cNvPr id="19" name="Shape 16"/>
          <p:cNvSpPr/>
          <p:nvPr/>
        </p:nvSpPr>
        <p:spPr>
          <a:xfrm>
            <a:off x="7598664" y="3566160"/>
            <a:ext cx="0" cy="365760"/>
          </a:xfrm>
          <a:prstGeom prst="line">
            <a:avLst/>
          </a:prstGeom>
          <a:noFill/>
          <a:ln w="22225">
            <a:solidFill>
              <a:srgbClr val="8B949E"/>
            </a:solidFill>
            <a:prstDash val="solid"/>
            <a:tailEnd type="triangle"/>
          </a:ln>
        </p:spPr>
      </p:sp>
      <p:sp>
        <p:nvSpPr>
          <p:cNvPr id="20" name="Shape 17"/>
          <p:cNvSpPr/>
          <p:nvPr/>
        </p:nvSpPr>
        <p:spPr>
          <a:xfrm>
            <a:off x="6364224" y="3959352"/>
            <a:ext cx="2468880" cy="1005840"/>
          </a:xfrm>
          <a:prstGeom prst="roundRect">
            <a:avLst>
              <a:gd name="adj" fmla="val 9091"/>
            </a:avLst>
          </a:prstGeom>
          <a:solidFill>
            <a:srgbClr val="161B22"/>
          </a:solidFill>
          <a:ln w="12700">
            <a:solidFill>
              <a:srgbClr val="30363D"/>
            </a:solidFill>
            <a:prstDash val="solid"/>
          </a:ln>
        </p:spPr>
      </p:sp>
      <p:sp>
        <p:nvSpPr>
          <p:cNvPr id="21" name="Text 18"/>
          <p:cNvSpPr txBox="1"/>
          <p:nvPr/>
        </p:nvSpPr>
        <p:spPr>
          <a:xfrm>
            <a:off x="6364224" y="4069080"/>
            <a:ext cx="2468880" cy="411480"/>
          </a:xfrm>
          <a:prstGeom prst="rect">
            <a:avLst/>
          </a:prstGeom>
          <a:noFill/>
          <a:ln/>
        </p:spPr>
        <p:txBody>
          <a:bodyPr wrap="square" lIns="0" tIns="0" rIns="0" bIns="0" rtlCol="0" anchor="t"/>
          <a:lstStyle/>
          <a:p>
            <a:pPr algn="ctr" indent="0" marL="0">
              <a:buNone/>
            </a:pPr>
            <a:r>
              <a:rPr lang="en-US" sz="1700" b="1" dirty="0">
                <a:solidFill>
                  <a:srgbClr val="E6EDF3"/>
                </a:solidFill>
                <a:latin typeface="Calibri" pitchFamily="34" charset="0"/>
                <a:ea typeface="Calibri" pitchFamily="34" charset="-122"/>
                <a:cs typeface="Calibri" pitchFamily="34" charset="-120"/>
              </a:rPr>
              <a:t>Decide grade</a:t>
            </a:r>
            <a:endParaRPr lang="en-US" sz="1700" dirty="0"/>
          </a:p>
        </p:txBody>
      </p:sp>
      <p:sp>
        <p:nvSpPr>
          <p:cNvPr id="22" name="Text 19"/>
          <p:cNvSpPr txBox="1"/>
          <p:nvPr/>
        </p:nvSpPr>
        <p:spPr>
          <a:xfrm>
            <a:off x="6364224" y="4498848"/>
            <a:ext cx="24688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from the average</a:t>
            </a:r>
            <a:endParaRPr lang="en-US" sz="1400" dirty="0"/>
          </a:p>
        </p:txBody>
      </p:sp>
      <p:sp>
        <p:nvSpPr>
          <p:cNvPr id="23" name="Shape 20"/>
          <p:cNvSpPr/>
          <p:nvPr/>
        </p:nvSpPr>
        <p:spPr>
          <a:xfrm>
            <a:off x="10506456" y="3566160"/>
            <a:ext cx="0" cy="365760"/>
          </a:xfrm>
          <a:prstGeom prst="line">
            <a:avLst/>
          </a:prstGeom>
          <a:noFill/>
          <a:ln w="22225">
            <a:solidFill>
              <a:srgbClr val="8B949E"/>
            </a:solidFill>
            <a:prstDash val="solid"/>
            <a:tailEnd type="triangle"/>
          </a:ln>
        </p:spPr>
      </p:sp>
      <p:sp>
        <p:nvSpPr>
          <p:cNvPr id="24" name="Shape 21"/>
          <p:cNvSpPr/>
          <p:nvPr/>
        </p:nvSpPr>
        <p:spPr>
          <a:xfrm>
            <a:off x="9272016" y="3959352"/>
            <a:ext cx="2468880" cy="1005840"/>
          </a:xfrm>
          <a:prstGeom prst="roundRect">
            <a:avLst>
              <a:gd name="adj" fmla="val 9091"/>
            </a:avLst>
          </a:prstGeom>
          <a:solidFill>
            <a:srgbClr val="161B22"/>
          </a:solidFill>
          <a:ln w="12700">
            <a:solidFill>
              <a:srgbClr val="30363D"/>
            </a:solidFill>
            <a:prstDash val="solid"/>
          </a:ln>
        </p:spPr>
      </p:sp>
      <p:sp>
        <p:nvSpPr>
          <p:cNvPr id="25" name="Text 22"/>
          <p:cNvSpPr txBox="1"/>
          <p:nvPr/>
        </p:nvSpPr>
        <p:spPr>
          <a:xfrm>
            <a:off x="9272016" y="4069080"/>
            <a:ext cx="2468880" cy="411480"/>
          </a:xfrm>
          <a:prstGeom prst="rect">
            <a:avLst/>
          </a:prstGeom>
          <a:noFill/>
          <a:ln/>
        </p:spPr>
        <p:txBody>
          <a:bodyPr wrap="square" lIns="0" tIns="0" rIns="0" bIns="0" rtlCol="0" anchor="t"/>
          <a:lstStyle/>
          <a:p>
            <a:pPr algn="ctr" indent="0" marL="0">
              <a:buNone/>
            </a:pPr>
            <a:r>
              <a:rPr lang="en-US" sz="1700" b="1" dirty="0">
                <a:solidFill>
                  <a:srgbClr val="E6EDF3"/>
                </a:solidFill>
                <a:latin typeface="Calibri" pitchFamily="34" charset="0"/>
                <a:ea typeface="Calibri" pitchFamily="34" charset="-122"/>
                <a:cs typeface="Calibri" pitchFamily="34" charset="-120"/>
              </a:rPr>
              <a:t>Print</a:t>
            </a:r>
            <a:endParaRPr lang="en-US" sz="1700" dirty="0"/>
          </a:p>
        </p:txBody>
      </p:sp>
      <p:sp>
        <p:nvSpPr>
          <p:cNvPr id="26" name="Text 23"/>
          <p:cNvSpPr txBox="1"/>
          <p:nvPr/>
        </p:nvSpPr>
        <p:spPr>
          <a:xfrm>
            <a:off x="9272016" y="4498848"/>
            <a:ext cx="2468880" cy="320040"/>
          </a:xfrm>
          <a:prstGeom prst="rect">
            <a:avLst/>
          </a:prstGeom>
          <a:noFill/>
          <a:ln/>
        </p:spPr>
        <p:txBody>
          <a:bodyPr wrap="square" lIns="0" tIns="0" rIns="0" bIns="0" rtlCol="0" anchor="t"/>
          <a:lstStyle/>
          <a:p>
            <a:pPr algn="ctr" indent="0" marL="0">
              <a:buNone/>
            </a:pPr>
            <a:r>
              <a:rPr lang="en-US" sz="1400" dirty="0">
                <a:solidFill>
                  <a:srgbClr val="8B949E"/>
                </a:solidFill>
                <a:latin typeface="Calibri" pitchFamily="34" charset="0"/>
                <a:ea typeface="Calibri" pitchFamily="34" charset="-122"/>
                <a:cs typeface="Calibri" pitchFamily="34" charset="-120"/>
              </a:rPr>
              <a:t>the report</a:t>
            </a:r>
            <a:endParaRPr lang="en-US" sz="1400" dirty="0"/>
          </a:p>
        </p:txBody>
      </p:sp>
      <p:sp>
        <p:nvSpPr>
          <p:cNvPr id="27" name="Text 24"/>
          <p:cNvSpPr txBox="1"/>
          <p:nvPr/>
        </p:nvSpPr>
        <p:spPr>
          <a:xfrm>
            <a:off x="548640" y="5349240"/>
            <a:ext cx="11091672" cy="411480"/>
          </a:xfrm>
          <a:prstGeom prst="rect">
            <a:avLst/>
          </a:prstGeom>
          <a:noFill/>
          <a:ln/>
        </p:spPr>
        <p:txBody>
          <a:bodyPr wrap="square" lIns="0" tIns="0" rIns="0" bIns="0" rtlCol="0" anchor="t"/>
          <a:lstStyle/>
          <a:p>
            <a:pPr algn="ctr" indent="0" marL="0">
              <a:buNone/>
            </a:pPr>
            <a:r>
              <a:rPr lang="en-US" sz="1600" dirty="0">
                <a:solidFill>
                  <a:srgbClr val="ADBAC7"/>
                </a:solidFill>
                <a:latin typeface="Calibri" pitchFamily="34" charset="0"/>
                <a:ea typeface="Calibri" pitchFamily="34" charset="-122"/>
                <a:cs typeface="Calibri" pitchFamily="34" charset="-120"/>
              </a:rPr>
              <a:t>Top-down: refine each step until it is simple. Each piece often becomes a function.</a:t>
            </a:r>
            <a:endParaRPr lang="en-US" sz="1600" dirty="0"/>
          </a:p>
        </p:txBody>
      </p:sp>
      <p:sp>
        <p:nvSpPr>
          <p:cNvPr id="28" name="Text 25"/>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9" name="Text 26"/>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13</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Pseudocode</a:t>
            </a:r>
            <a:endParaRPr lang="en-US" sz="3400" dirty="0"/>
          </a:p>
        </p:txBody>
      </p:sp>
      <p:sp>
        <p:nvSpPr>
          <p:cNvPr id="5" name="Shape 2"/>
          <p:cNvSpPr/>
          <p:nvPr/>
        </p:nvSpPr>
        <p:spPr>
          <a:xfrm>
            <a:off x="548640" y="1417320"/>
            <a:ext cx="11091672" cy="713232"/>
          </a:xfrm>
          <a:prstGeom prst="roundRect">
            <a:avLst>
              <a:gd name="adj" fmla="val 12821"/>
            </a:avLst>
          </a:prstGeom>
          <a:solidFill>
            <a:srgbClr val="0F2440"/>
          </a:solidFill>
          <a:ln w="12700">
            <a:solidFill>
              <a:srgbClr val="0F2440"/>
            </a:solidFill>
            <a:prstDash val="solid"/>
          </a:ln>
        </p:spPr>
      </p:sp>
      <p:sp>
        <p:nvSpPr>
          <p:cNvPr id="6" name="Text 3"/>
          <p:cNvSpPr txBox="1"/>
          <p:nvPr/>
        </p:nvSpPr>
        <p:spPr>
          <a:xfrm>
            <a:off x="777240" y="1417320"/>
            <a:ext cx="10634472" cy="713232"/>
          </a:xfrm>
          <a:prstGeom prst="rect">
            <a:avLst/>
          </a:prstGeom>
          <a:noFill/>
          <a:ln/>
        </p:spPr>
        <p:txBody>
          <a:bodyPr wrap="square" lIns="0" tIns="0" rIns="0" bIns="0" rtlCol="0" anchor="ctr"/>
          <a:lstStyle/>
          <a:p>
            <a:pPr indent="0" marL="0">
              <a:buNone/>
            </a:pPr>
            <a:r>
              <a:rPr lang="en-US" sz="1800" dirty="0">
                <a:solidFill>
                  <a:srgbClr val="E6EDF3"/>
                </a:solidFill>
                <a:latin typeface="Calibri" pitchFamily="34" charset="0"/>
                <a:ea typeface="Calibri" pitchFamily="34" charset="-122"/>
                <a:cs typeface="Calibri" pitchFamily="34" charset="-120"/>
              </a:rPr>
              <a:t>Precise, structured plain-language logic, without the syntax of any real programming language.</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5120640" cy="914400"/>
        </p:xfrm>
        <a:graphic>
          <a:graphicData uri="http://schemas.openxmlformats.org/drawingml/2006/table">
            <a:tbl>
              <a:tblPr/>
              <a:tblGrid>
                <a:gridCol w="2377440"/>
                <a:gridCol w="2743200"/>
              </a:tblGrid>
              <a:tr h="402336">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Keyword</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402336">
                <a:tc>
                  <a:txBody>
                    <a:bodyPr/>
                    <a:lstStyle/>
                    <a:p>
                      <a:pPr indent="0" marL="0">
                        <a:buNone/>
                      </a:pPr>
                      <a:r>
                        <a:rPr lang="en-US" sz="1400" dirty="0">
                          <a:solidFill>
                            <a:srgbClr val="ADBAC7"/>
                          </a:solidFill>
                          <a:latin typeface="Courier New" pitchFamily="34" charset="0"/>
                          <a:ea typeface="Courier New" pitchFamily="34" charset="-122"/>
                          <a:cs typeface="Courier New" pitchFamily="34" charset="-120"/>
                        </a:rPr>
                        <a:t>INPUT / OUTPUT</a:t>
                      </a:r>
                      <a:endParaRPr lang="en-US" sz="1400" dirty="0">
                        <a:latin typeface="Courier New" charset="0"/>
                        <a:ea typeface="Courier New" charset="0"/>
                        <a:cs typeface="Courier New"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receive or display data</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02336">
                <a:tc>
                  <a:txBody>
                    <a:bodyPr/>
                    <a:lstStyle/>
                    <a:p>
                      <a:pPr indent="0" marL="0">
                        <a:buNone/>
                      </a:pPr>
                      <a:r>
                        <a:rPr lang="en-US" sz="1400" dirty="0">
                          <a:solidFill>
                            <a:srgbClr val="ADBAC7"/>
                          </a:solidFill>
                          <a:latin typeface="Courier New" pitchFamily="34" charset="0"/>
                          <a:ea typeface="Courier New" pitchFamily="34" charset="-122"/>
                          <a:cs typeface="Courier New" pitchFamily="34" charset="-120"/>
                        </a:rPr>
                        <a:t>SET x TO value</a:t>
                      </a:r>
                      <a:endParaRPr lang="en-US" sz="1400" dirty="0">
                        <a:latin typeface="Courier New" charset="0"/>
                        <a:ea typeface="Courier New" charset="0"/>
                        <a:cs typeface="Courier New"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store a value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02336">
                <a:tc>
                  <a:txBody>
                    <a:bodyPr/>
                    <a:lstStyle/>
                    <a:p>
                      <a:pPr indent="0" marL="0">
                        <a:buNone/>
                      </a:pPr>
                      <a:r>
                        <a:rPr lang="en-US" sz="1400" dirty="0">
                          <a:solidFill>
                            <a:srgbClr val="ADBAC7"/>
                          </a:solidFill>
                          <a:latin typeface="Courier New" pitchFamily="34" charset="0"/>
                          <a:ea typeface="Courier New" pitchFamily="34" charset="-122"/>
                          <a:cs typeface="Courier New" pitchFamily="34" charset="-120"/>
                        </a:rPr>
                        <a:t>IF … THEN … ELSE</a:t>
                      </a:r>
                      <a:endParaRPr lang="en-US" sz="1400" dirty="0">
                        <a:latin typeface="Courier New" charset="0"/>
                        <a:ea typeface="Courier New" charset="0"/>
                        <a:cs typeface="Courier New"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02336">
                <a:tc>
                  <a:txBody>
                    <a:bodyPr/>
                    <a:lstStyle/>
                    <a:p>
                      <a:pPr indent="0" marL="0">
                        <a:buNone/>
                      </a:pPr>
                      <a:r>
                        <a:rPr lang="en-US" sz="1400" dirty="0">
                          <a:solidFill>
                            <a:srgbClr val="ADBAC7"/>
                          </a:solidFill>
                          <a:latin typeface="Courier New" pitchFamily="34" charset="0"/>
                          <a:ea typeface="Courier New" pitchFamily="34" charset="-122"/>
                          <a:cs typeface="Courier New" pitchFamily="34" charset="-120"/>
                        </a:rPr>
                        <a:t>WHILE … DO</a:t>
                      </a:r>
                      <a:endParaRPr lang="en-US" sz="1400" dirty="0">
                        <a:latin typeface="Courier New" charset="0"/>
                        <a:ea typeface="Courier New" charset="0"/>
                        <a:cs typeface="Courier New"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repeat while true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02336">
                <a:tc>
                  <a:txBody>
                    <a:bodyPr/>
                    <a:lstStyle/>
                    <a:p>
                      <a:pPr indent="0" marL="0">
                        <a:buNone/>
                      </a:pPr>
                      <a:r>
                        <a:rPr lang="en-US" sz="1400" dirty="0">
                          <a:solidFill>
                            <a:srgbClr val="ADBAC7"/>
                          </a:solidFill>
                          <a:latin typeface="Courier New" pitchFamily="34" charset="0"/>
                          <a:ea typeface="Courier New" pitchFamily="34" charset="-122"/>
                          <a:cs typeface="Courier New" pitchFamily="34" charset="-120"/>
                        </a:rPr>
                        <a:t>FOR i FROM 1 TO n</a:t>
                      </a:r>
                      <a:endParaRPr lang="en-US" sz="1400" dirty="0">
                        <a:latin typeface="Courier New" charset="0"/>
                        <a:ea typeface="Courier New" charset="0"/>
                        <a:cs typeface="Courier New"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repeat n times</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8" name="Text 4"/>
          <p:cNvSpPr txBox="1"/>
          <p:nvPr/>
        </p:nvSpPr>
        <p:spPr>
          <a:xfrm>
            <a:off x="6035040" y="2377440"/>
            <a:ext cx="54864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Average of n valid marks</a:t>
            </a:r>
            <a:endParaRPr lang="en-US" sz="1700" dirty="0"/>
          </a:p>
        </p:txBody>
      </p:sp>
      <p:sp>
        <p:nvSpPr>
          <p:cNvPr id="9" name="Shape 5"/>
          <p:cNvSpPr/>
          <p:nvPr/>
        </p:nvSpPr>
        <p:spPr>
          <a:xfrm>
            <a:off x="6035040" y="2788920"/>
            <a:ext cx="5605272" cy="2788920"/>
          </a:xfrm>
          <a:prstGeom prst="roundRect">
            <a:avLst>
              <a:gd name="adj" fmla="val 3279"/>
            </a:avLst>
          </a:prstGeom>
          <a:solidFill>
            <a:srgbClr val="0D1117"/>
          </a:solidFill>
          <a:ln w="12700">
            <a:solidFill>
              <a:srgbClr val="30363D"/>
            </a:solidFill>
            <a:prstDash val="solid"/>
          </a:ln>
        </p:spPr>
      </p:sp>
      <p:sp>
        <p:nvSpPr>
          <p:cNvPr id="10" name="Text 6"/>
          <p:cNvSpPr txBox="1"/>
          <p:nvPr/>
        </p:nvSpPr>
        <p:spPr>
          <a:xfrm>
            <a:off x="6263640" y="2953512"/>
            <a:ext cx="5148072" cy="2514600"/>
          </a:xfrm>
          <a:prstGeom prst="rect">
            <a:avLst/>
          </a:prstGeom>
          <a:noFill/>
          <a:ln/>
        </p:spPr>
        <p:txBody>
          <a:bodyPr wrap="square" lIns="0" tIns="0" rIns="0" bIns="0" rtlCol="0" anchor="t"/>
          <a:lstStyle/>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INPUT n</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SET total TO 0</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FOR i FROM 1 TO n</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    INPUT mark</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    WHILE mark &lt; 0 OR mark &gt; 100 DO</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        INPUT mark</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    END WHILE</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    SET total TO total + mark</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END FOR</a:t>
            </a:r>
            <a:endParaRPr lang="en-US" sz="1300" dirty="0"/>
          </a:p>
          <a:p>
            <a:pPr indent="0" marL="0">
              <a:lnSpc>
                <a:spcPct val="115000"/>
              </a:lnSpc>
              <a:buNone/>
            </a:pPr>
            <a:r>
              <a:rPr lang="en-US" sz="1300" dirty="0">
                <a:solidFill>
                  <a:srgbClr val="E6EDF3"/>
                </a:solidFill>
                <a:latin typeface="Courier New" pitchFamily="34" charset="0"/>
                <a:ea typeface="Courier New" pitchFamily="34" charset="-122"/>
                <a:cs typeface="Courier New" pitchFamily="34" charset="-120"/>
              </a:rPr>
              <a:t>OUTPUT total / n</a:t>
            </a:r>
            <a:endParaRPr lang="en-US" sz="1300" dirty="0"/>
          </a:p>
        </p:txBody>
      </p:sp>
      <p:sp>
        <p:nvSpPr>
          <p:cNvPr id="11" name="Text 7"/>
          <p:cNvSpPr txBox="1"/>
          <p:nvPr/>
        </p:nvSpPr>
        <p:spPr>
          <a:xfrm>
            <a:off x="6035040" y="5669280"/>
            <a:ext cx="5605272" cy="320040"/>
          </a:xfrm>
          <a:prstGeom prst="rect">
            <a:avLst/>
          </a:prstGeom>
          <a:noFill/>
          <a:ln/>
        </p:spPr>
        <p:txBody>
          <a:bodyPr wrap="square" lIns="0" tIns="0" rIns="0" bIns="0" rtlCol="0" anchor="t"/>
          <a:lstStyle/>
          <a:p>
            <a:pPr indent="0" marL="0">
              <a:buNone/>
            </a:pPr>
            <a:r>
              <a:rPr lang="en-US" sz="1400" dirty="0">
                <a:solidFill>
                  <a:srgbClr val="E3B341"/>
                </a:solidFill>
                <a:latin typeface="Calibri" pitchFamily="34" charset="0"/>
                <a:ea typeface="Calibri" pitchFamily="34" charset="-122"/>
                <a:cs typeface="Calibri" pitchFamily="34" charset="-120"/>
              </a:rPr>
              <a:t>Edge case left open: n = 0 divides by zero.</a:t>
            </a:r>
            <a:endParaRPr lang="en-US" sz="1400" dirty="0"/>
          </a:p>
        </p:txBody>
      </p:sp>
      <p:sp>
        <p:nvSpPr>
          <p:cNvPr id="12" name="Text 8"/>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13" name="Text 9"/>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14</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Flowcharts: symbols and structures</a:t>
            </a:r>
            <a:endParaRPr lang="en-US" sz="3400" dirty="0"/>
          </a:p>
        </p:txBody>
      </p:sp>
      <p:sp>
        <p:nvSpPr>
          <p:cNvPr id="5" name="Shape 2"/>
          <p:cNvSpPr/>
          <p:nvPr/>
        </p:nvSpPr>
        <p:spPr>
          <a:xfrm>
            <a:off x="777240" y="1508760"/>
            <a:ext cx="1554480" cy="685800"/>
          </a:xfrm>
          <a:prstGeom prst="flowChartTerminator">
            <a:avLst/>
          </a:prstGeom>
          <a:solidFill>
            <a:srgbClr val="161B22"/>
          </a:solidFill>
          <a:ln w="19050">
            <a:solidFill>
              <a:srgbClr val="8B949E"/>
            </a:solidFill>
            <a:prstDash val="solid"/>
          </a:ln>
        </p:spPr>
      </p:sp>
      <p:sp>
        <p:nvSpPr>
          <p:cNvPr id="6" name="Text 3"/>
          <p:cNvSpPr txBox="1"/>
          <p:nvPr/>
        </p:nvSpPr>
        <p:spPr>
          <a:xfrm>
            <a:off x="548640" y="2286000"/>
            <a:ext cx="2011680" cy="320040"/>
          </a:xfrm>
          <a:prstGeom prst="rect">
            <a:avLst/>
          </a:prstGeom>
          <a:noFill/>
          <a:ln/>
        </p:spPr>
        <p:txBody>
          <a:bodyPr wrap="square" lIns="0" tIns="0" rIns="0" bIns="0" rtlCol="0" anchor="t"/>
          <a:lstStyle/>
          <a:p>
            <a:pPr algn="ctr" indent="0" marL="0">
              <a:buNone/>
            </a:pPr>
            <a:r>
              <a:rPr lang="en-US" sz="1500" b="1" dirty="0">
                <a:solidFill>
                  <a:srgbClr val="E6EDF3"/>
                </a:solidFill>
                <a:latin typeface="Calibri" pitchFamily="34" charset="0"/>
                <a:ea typeface="Calibri" pitchFamily="34" charset="-122"/>
                <a:cs typeface="Calibri" pitchFamily="34" charset="-120"/>
              </a:rPr>
              <a:t>Terminal</a:t>
            </a:r>
            <a:endParaRPr lang="en-US" sz="1500" dirty="0"/>
          </a:p>
        </p:txBody>
      </p:sp>
      <p:sp>
        <p:nvSpPr>
          <p:cNvPr id="7" name="Text 4"/>
          <p:cNvSpPr txBox="1"/>
          <p:nvPr/>
        </p:nvSpPr>
        <p:spPr>
          <a:xfrm>
            <a:off x="548640" y="2587752"/>
            <a:ext cx="2011680" cy="27432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start / end</a:t>
            </a:r>
            <a:endParaRPr lang="en-US" sz="1300" dirty="0"/>
          </a:p>
        </p:txBody>
      </p:sp>
      <p:sp>
        <p:nvSpPr>
          <p:cNvPr id="8" name="Shape 5"/>
          <p:cNvSpPr/>
          <p:nvPr/>
        </p:nvSpPr>
        <p:spPr>
          <a:xfrm>
            <a:off x="3063240" y="1508760"/>
            <a:ext cx="1554480" cy="685800"/>
          </a:xfrm>
          <a:prstGeom prst="flowChartInputOutput">
            <a:avLst/>
          </a:prstGeom>
          <a:solidFill>
            <a:srgbClr val="161B22"/>
          </a:solidFill>
          <a:ln w="19050">
            <a:solidFill>
              <a:srgbClr val="8B949E"/>
            </a:solidFill>
            <a:prstDash val="solid"/>
          </a:ln>
        </p:spPr>
      </p:sp>
      <p:sp>
        <p:nvSpPr>
          <p:cNvPr id="9" name="Text 6"/>
          <p:cNvSpPr txBox="1"/>
          <p:nvPr/>
        </p:nvSpPr>
        <p:spPr>
          <a:xfrm>
            <a:off x="2834640" y="2286000"/>
            <a:ext cx="2011680" cy="320040"/>
          </a:xfrm>
          <a:prstGeom prst="rect">
            <a:avLst/>
          </a:prstGeom>
          <a:noFill/>
          <a:ln/>
        </p:spPr>
        <p:txBody>
          <a:bodyPr wrap="square" lIns="0" tIns="0" rIns="0" bIns="0" rtlCol="0" anchor="t"/>
          <a:lstStyle/>
          <a:p>
            <a:pPr algn="ctr" indent="0" marL="0">
              <a:buNone/>
            </a:pPr>
            <a:r>
              <a:rPr lang="en-US" sz="1500" b="1" dirty="0">
                <a:solidFill>
                  <a:srgbClr val="E6EDF3"/>
                </a:solidFill>
                <a:latin typeface="Calibri" pitchFamily="34" charset="0"/>
                <a:ea typeface="Calibri" pitchFamily="34" charset="-122"/>
                <a:cs typeface="Calibri" pitchFamily="34" charset="-120"/>
              </a:rPr>
              <a:t>Input / Output</a:t>
            </a:r>
            <a:endParaRPr lang="en-US" sz="1500" dirty="0"/>
          </a:p>
        </p:txBody>
      </p:sp>
      <p:sp>
        <p:nvSpPr>
          <p:cNvPr id="10" name="Text 7"/>
          <p:cNvSpPr txBox="1"/>
          <p:nvPr/>
        </p:nvSpPr>
        <p:spPr>
          <a:xfrm>
            <a:off x="2834640" y="2587752"/>
            <a:ext cx="2011680" cy="27432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read / show</a:t>
            </a:r>
            <a:endParaRPr lang="en-US" sz="1300" dirty="0"/>
          </a:p>
        </p:txBody>
      </p:sp>
      <p:sp>
        <p:nvSpPr>
          <p:cNvPr id="11" name="Shape 8"/>
          <p:cNvSpPr/>
          <p:nvPr/>
        </p:nvSpPr>
        <p:spPr>
          <a:xfrm>
            <a:off x="5349240" y="1508760"/>
            <a:ext cx="1554480" cy="685800"/>
          </a:xfrm>
          <a:prstGeom prst="rect">
            <a:avLst/>
          </a:prstGeom>
          <a:solidFill>
            <a:srgbClr val="161B22"/>
          </a:solidFill>
          <a:ln w="19050">
            <a:solidFill>
              <a:srgbClr val="8B949E"/>
            </a:solidFill>
            <a:prstDash val="solid"/>
          </a:ln>
        </p:spPr>
      </p:sp>
      <p:sp>
        <p:nvSpPr>
          <p:cNvPr id="12" name="Text 9"/>
          <p:cNvSpPr txBox="1"/>
          <p:nvPr/>
        </p:nvSpPr>
        <p:spPr>
          <a:xfrm>
            <a:off x="5120640" y="2286000"/>
            <a:ext cx="2011680" cy="320040"/>
          </a:xfrm>
          <a:prstGeom prst="rect">
            <a:avLst/>
          </a:prstGeom>
          <a:noFill/>
          <a:ln/>
        </p:spPr>
        <p:txBody>
          <a:bodyPr wrap="square" lIns="0" tIns="0" rIns="0" bIns="0" rtlCol="0" anchor="t"/>
          <a:lstStyle/>
          <a:p>
            <a:pPr algn="ctr" indent="0" marL="0">
              <a:buNone/>
            </a:pPr>
            <a:r>
              <a:rPr lang="en-US" sz="1500" b="1" dirty="0">
                <a:solidFill>
                  <a:srgbClr val="E6EDF3"/>
                </a:solidFill>
                <a:latin typeface="Calibri" pitchFamily="34" charset="0"/>
                <a:ea typeface="Calibri" pitchFamily="34" charset="-122"/>
                <a:cs typeface="Calibri" pitchFamily="34" charset="-120"/>
              </a:rPr>
              <a:t>Process</a:t>
            </a:r>
            <a:endParaRPr lang="en-US" sz="1500" dirty="0"/>
          </a:p>
        </p:txBody>
      </p:sp>
      <p:sp>
        <p:nvSpPr>
          <p:cNvPr id="13" name="Text 10"/>
          <p:cNvSpPr txBox="1"/>
          <p:nvPr/>
        </p:nvSpPr>
        <p:spPr>
          <a:xfrm>
            <a:off x="5120640" y="2587752"/>
            <a:ext cx="2011680" cy="27432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calculate</a:t>
            </a:r>
            <a:endParaRPr lang="en-US" sz="1300" dirty="0"/>
          </a:p>
        </p:txBody>
      </p:sp>
      <p:sp>
        <p:nvSpPr>
          <p:cNvPr id="14" name="Shape 11"/>
          <p:cNvSpPr/>
          <p:nvPr/>
        </p:nvSpPr>
        <p:spPr>
          <a:xfrm>
            <a:off x="7635240" y="1508760"/>
            <a:ext cx="1554480" cy="685800"/>
          </a:xfrm>
          <a:prstGeom prst="flowChartDecision">
            <a:avLst/>
          </a:prstGeom>
          <a:solidFill>
            <a:srgbClr val="161B22"/>
          </a:solidFill>
          <a:ln w="19050">
            <a:solidFill>
              <a:srgbClr val="58A6FF"/>
            </a:solidFill>
            <a:prstDash val="solid"/>
          </a:ln>
        </p:spPr>
      </p:sp>
      <p:sp>
        <p:nvSpPr>
          <p:cNvPr id="15" name="Text 12"/>
          <p:cNvSpPr txBox="1"/>
          <p:nvPr/>
        </p:nvSpPr>
        <p:spPr>
          <a:xfrm>
            <a:off x="7406640" y="2286000"/>
            <a:ext cx="2011680" cy="320040"/>
          </a:xfrm>
          <a:prstGeom prst="rect">
            <a:avLst/>
          </a:prstGeom>
          <a:noFill/>
          <a:ln/>
        </p:spPr>
        <p:txBody>
          <a:bodyPr wrap="square" lIns="0" tIns="0" rIns="0" bIns="0" rtlCol="0" anchor="t"/>
          <a:lstStyle/>
          <a:p>
            <a:pPr algn="ctr" indent="0" marL="0">
              <a:buNone/>
            </a:pPr>
            <a:r>
              <a:rPr lang="en-US" sz="1500" b="1" dirty="0">
                <a:solidFill>
                  <a:srgbClr val="E6EDF3"/>
                </a:solidFill>
                <a:latin typeface="Calibri" pitchFamily="34" charset="0"/>
                <a:ea typeface="Calibri" pitchFamily="34" charset="-122"/>
                <a:cs typeface="Calibri" pitchFamily="34" charset="-120"/>
              </a:rPr>
              <a:t>Decision</a:t>
            </a:r>
            <a:endParaRPr lang="en-US" sz="1500" dirty="0"/>
          </a:p>
        </p:txBody>
      </p:sp>
      <p:sp>
        <p:nvSpPr>
          <p:cNvPr id="16" name="Text 13"/>
          <p:cNvSpPr txBox="1"/>
          <p:nvPr/>
        </p:nvSpPr>
        <p:spPr>
          <a:xfrm>
            <a:off x="7406640" y="2587752"/>
            <a:ext cx="2011680" cy="27432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true / false</a:t>
            </a:r>
            <a:endParaRPr lang="en-US" sz="1300" dirty="0"/>
          </a:p>
        </p:txBody>
      </p:sp>
      <p:sp>
        <p:nvSpPr>
          <p:cNvPr id="17" name="Shape 14"/>
          <p:cNvSpPr/>
          <p:nvPr/>
        </p:nvSpPr>
        <p:spPr>
          <a:xfrm>
            <a:off x="9921240" y="1847088"/>
            <a:ext cx="1508760" cy="0"/>
          </a:xfrm>
          <a:prstGeom prst="line">
            <a:avLst/>
          </a:prstGeom>
          <a:noFill/>
          <a:ln w="25400">
            <a:solidFill>
              <a:srgbClr val="8B949E"/>
            </a:solidFill>
            <a:prstDash val="solid"/>
            <a:tailEnd type="triangle"/>
          </a:ln>
        </p:spPr>
      </p:sp>
      <p:sp>
        <p:nvSpPr>
          <p:cNvPr id="18" name="Text 15"/>
          <p:cNvSpPr txBox="1"/>
          <p:nvPr/>
        </p:nvSpPr>
        <p:spPr>
          <a:xfrm>
            <a:off x="9692640" y="2286000"/>
            <a:ext cx="2011680" cy="320040"/>
          </a:xfrm>
          <a:prstGeom prst="rect">
            <a:avLst/>
          </a:prstGeom>
          <a:noFill/>
          <a:ln/>
        </p:spPr>
        <p:txBody>
          <a:bodyPr wrap="square" lIns="0" tIns="0" rIns="0" bIns="0" rtlCol="0" anchor="t"/>
          <a:lstStyle/>
          <a:p>
            <a:pPr algn="ctr" indent="0" marL="0">
              <a:buNone/>
            </a:pPr>
            <a:r>
              <a:rPr lang="en-US" sz="1500" b="1" dirty="0">
                <a:solidFill>
                  <a:srgbClr val="E6EDF3"/>
                </a:solidFill>
                <a:latin typeface="Calibri" pitchFamily="34" charset="0"/>
                <a:ea typeface="Calibri" pitchFamily="34" charset="-122"/>
                <a:cs typeface="Calibri" pitchFamily="34" charset="-120"/>
              </a:rPr>
              <a:t>Flow line</a:t>
            </a:r>
            <a:endParaRPr lang="en-US" sz="1500" dirty="0"/>
          </a:p>
        </p:txBody>
      </p:sp>
      <p:sp>
        <p:nvSpPr>
          <p:cNvPr id="19" name="Text 16"/>
          <p:cNvSpPr txBox="1"/>
          <p:nvPr/>
        </p:nvSpPr>
        <p:spPr>
          <a:xfrm>
            <a:off x="9692640" y="2587752"/>
            <a:ext cx="2011680" cy="274320"/>
          </a:xfrm>
          <a:prstGeom prst="rect">
            <a:avLst/>
          </a:prstGeom>
          <a:noFill/>
          <a:ln/>
        </p:spPr>
        <p:txBody>
          <a:bodyPr wrap="square" lIns="0" tIns="0" rIns="0" bIns="0" rtlCol="0" anchor="t"/>
          <a:lstStyle/>
          <a:p>
            <a:pPr algn="ctr" indent="0" marL="0">
              <a:buNone/>
            </a:pPr>
            <a:r>
              <a:rPr lang="en-US" sz="1300" dirty="0">
                <a:solidFill>
                  <a:srgbClr val="8B949E"/>
                </a:solidFill>
                <a:latin typeface="Calibri" pitchFamily="34" charset="0"/>
                <a:ea typeface="Calibri" pitchFamily="34" charset="-122"/>
                <a:cs typeface="Calibri" pitchFamily="34" charset="-120"/>
              </a:rPr>
              <a:t>order</a:t>
            </a:r>
            <a:endParaRPr lang="en-US" sz="1300" dirty="0"/>
          </a:p>
        </p:txBody>
      </p:sp>
      <p:sp>
        <p:nvSpPr>
          <p:cNvPr id="20" name="Shape 17"/>
          <p:cNvSpPr/>
          <p:nvPr/>
        </p:nvSpPr>
        <p:spPr>
          <a:xfrm>
            <a:off x="548640" y="3246120"/>
            <a:ext cx="11091672" cy="2926080"/>
          </a:xfrm>
          <a:prstGeom prst="roundRect">
            <a:avLst>
              <a:gd name="adj" fmla="val 3125"/>
            </a:avLst>
          </a:prstGeom>
          <a:solidFill>
            <a:srgbClr val="161B22"/>
          </a:solidFill>
          <a:ln w="12700">
            <a:solidFill>
              <a:srgbClr val="30363D"/>
            </a:solidFill>
            <a:prstDash val="solid"/>
          </a:ln>
        </p:spPr>
      </p:sp>
      <p:sp>
        <p:nvSpPr>
          <p:cNvPr id="21" name="Text 18"/>
          <p:cNvSpPr txBox="1"/>
          <p:nvPr/>
        </p:nvSpPr>
        <p:spPr>
          <a:xfrm>
            <a:off x="640080" y="3383280"/>
            <a:ext cx="2194560" cy="320040"/>
          </a:xfrm>
          <a:prstGeom prst="rect">
            <a:avLst/>
          </a:prstGeom>
          <a:noFill/>
          <a:ln/>
        </p:spPr>
        <p:txBody>
          <a:bodyPr wrap="square" lIns="0" tIns="0" rIns="0" bIns="0" rtlCol="0" anchor="t"/>
          <a:lstStyle/>
          <a:p>
            <a:pPr algn="ctr" indent="0" marL="0">
              <a:buNone/>
            </a:pPr>
            <a:r>
              <a:rPr lang="en-US" sz="1600" b="1" dirty="0">
                <a:solidFill>
                  <a:srgbClr val="E6EDF3"/>
                </a:solidFill>
                <a:latin typeface="Calibri" pitchFamily="34" charset="0"/>
                <a:ea typeface="Calibri" pitchFamily="34" charset="-122"/>
                <a:cs typeface="Calibri" pitchFamily="34" charset="-120"/>
              </a:rPr>
              <a:t>Sequence</a:t>
            </a:r>
            <a:endParaRPr lang="en-US" sz="1600" dirty="0"/>
          </a:p>
        </p:txBody>
      </p:sp>
      <p:sp>
        <p:nvSpPr>
          <p:cNvPr id="22" name="Text 19"/>
          <p:cNvSpPr txBox="1"/>
          <p:nvPr/>
        </p:nvSpPr>
        <p:spPr>
          <a:xfrm>
            <a:off x="4480560" y="3383280"/>
            <a:ext cx="2194560" cy="320040"/>
          </a:xfrm>
          <a:prstGeom prst="rect">
            <a:avLst/>
          </a:prstGeom>
          <a:noFill/>
          <a:ln/>
        </p:spPr>
        <p:txBody>
          <a:bodyPr wrap="square" lIns="0" tIns="0" rIns="0" bIns="0" rtlCol="0" anchor="t"/>
          <a:lstStyle/>
          <a:p>
            <a:pPr algn="ctr" indent="0" marL="0">
              <a:buNone/>
            </a:pPr>
            <a:r>
              <a:rPr lang="en-US" sz="1600" b="1" dirty="0">
                <a:solidFill>
                  <a:srgbClr val="E6EDF3"/>
                </a:solidFill>
                <a:latin typeface="Calibri" pitchFamily="34" charset="0"/>
                <a:ea typeface="Calibri" pitchFamily="34" charset="-122"/>
                <a:cs typeface="Calibri" pitchFamily="34" charset="-120"/>
              </a:rPr>
              <a:t>Selection</a:t>
            </a:r>
            <a:endParaRPr lang="en-US" sz="1600" dirty="0"/>
          </a:p>
        </p:txBody>
      </p:sp>
      <p:sp>
        <p:nvSpPr>
          <p:cNvPr id="23" name="Text 20"/>
          <p:cNvSpPr txBox="1"/>
          <p:nvPr/>
        </p:nvSpPr>
        <p:spPr>
          <a:xfrm>
            <a:off x="8412480" y="3383280"/>
            <a:ext cx="2194560" cy="320040"/>
          </a:xfrm>
          <a:prstGeom prst="rect">
            <a:avLst/>
          </a:prstGeom>
          <a:noFill/>
          <a:ln/>
        </p:spPr>
        <p:txBody>
          <a:bodyPr wrap="square" lIns="0" tIns="0" rIns="0" bIns="0" rtlCol="0" anchor="t"/>
          <a:lstStyle/>
          <a:p>
            <a:pPr algn="ctr" indent="0" marL="0">
              <a:buNone/>
            </a:pPr>
            <a:r>
              <a:rPr lang="en-US" sz="1600" b="1" dirty="0">
                <a:solidFill>
                  <a:srgbClr val="E6EDF3"/>
                </a:solidFill>
                <a:latin typeface="Calibri" pitchFamily="34" charset="0"/>
                <a:ea typeface="Calibri" pitchFamily="34" charset="-122"/>
                <a:cs typeface="Calibri" pitchFamily="34" charset="-120"/>
              </a:rPr>
              <a:t>Iteration</a:t>
            </a:r>
            <a:endParaRPr lang="en-US" sz="1600" dirty="0"/>
          </a:p>
        </p:txBody>
      </p:sp>
      <p:sp>
        <p:nvSpPr>
          <p:cNvPr id="24" name="Shape 21"/>
          <p:cNvSpPr/>
          <p:nvPr/>
        </p:nvSpPr>
        <p:spPr>
          <a:xfrm>
            <a:off x="1280160" y="3794760"/>
            <a:ext cx="914400" cy="457200"/>
          </a:xfrm>
          <a:prstGeom prst="roundRect">
            <a:avLst>
              <a:gd name="adj" fmla="val 20000"/>
            </a:avLst>
          </a:prstGeom>
          <a:solidFill>
            <a:srgbClr val="0D1117"/>
          </a:solidFill>
          <a:ln w="12700">
            <a:solidFill>
              <a:srgbClr val="30363D"/>
            </a:solidFill>
            <a:prstDash val="solid"/>
          </a:ln>
        </p:spPr>
      </p:sp>
      <p:sp>
        <p:nvSpPr>
          <p:cNvPr id="25" name="Text 22"/>
          <p:cNvSpPr txBox="1"/>
          <p:nvPr/>
        </p:nvSpPr>
        <p:spPr>
          <a:xfrm>
            <a:off x="1353312" y="3794760"/>
            <a:ext cx="76809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A</a:t>
            </a:r>
            <a:endParaRPr lang="en-US" sz="1400" dirty="0"/>
          </a:p>
        </p:txBody>
      </p:sp>
      <p:sp>
        <p:nvSpPr>
          <p:cNvPr id="26" name="Shape 23"/>
          <p:cNvSpPr/>
          <p:nvPr/>
        </p:nvSpPr>
        <p:spPr>
          <a:xfrm>
            <a:off x="1737360" y="4261104"/>
            <a:ext cx="0" cy="292608"/>
          </a:xfrm>
          <a:prstGeom prst="line">
            <a:avLst/>
          </a:prstGeom>
          <a:noFill/>
          <a:ln w="22225">
            <a:solidFill>
              <a:srgbClr val="8B949E"/>
            </a:solidFill>
            <a:prstDash val="solid"/>
            <a:tailEnd type="triangle"/>
          </a:ln>
        </p:spPr>
      </p:sp>
      <p:sp>
        <p:nvSpPr>
          <p:cNvPr id="27" name="Shape 24"/>
          <p:cNvSpPr/>
          <p:nvPr/>
        </p:nvSpPr>
        <p:spPr>
          <a:xfrm>
            <a:off x="1280160" y="4572000"/>
            <a:ext cx="914400" cy="457200"/>
          </a:xfrm>
          <a:prstGeom prst="roundRect">
            <a:avLst>
              <a:gd name="adj" fmla="val 20000"/>
            </a:avLst>
          </a:prstGeom>
          <a:solidFill>
            <a:srgbClr val="0D1117"/>
          </a:solidFill>
          <a:ln w="12700">
            <a:solidFill>
              <a:srgbClr val="30363D"/>
            </a:solidFill>
            <a:prstDash val="solid"/>
          </a:ln>
        </p:spPr>
      </p:sp>
      <p:sp>
        <p:nvSpPr>
          <p:cNvPr id="28" name="Text 25"/>
          <p:cNvSpPr txBox="1"/>
          <p:nvPr/>
        </p:nvSpPr>
        <p:spPr>
          <a:xfrm>
            <a:off x="1353312" y="4572000"/>
            <a:ext cx="76809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B</a:t>
            </a:r>
            <a:endParaRPr lang="en-US" sz="1400" dirty="0"/>
          </a:p>
        </p:txBody>
      </p:sp>
      <p:sp>
        <p:nvSpPr>
          <p:cNvPr id="29" name="Shape 26"/>
          <p:cNvSpPr/>
          <p:nvPr/>
        </p:nvSpPr>
        <p:spPr>
          <a:xfrm>
            <a:off x="1737360" y="5038344"/>
            <a:ext cx="0" cy="292608"/>
          </a:xfrm>
          <a:prstGeom prst="line">
            <a:avLst/>
          </a:prstGeom>
          <a:noFill/>
          <a:ln w="22225">
            <a:solidFill>
              <a:srgbClr val="8B949E"/>
            </a:solidFill>
            <a:prstDash val="solid"/>
            <a:tailEnd type="triangle"/>
          </a:ln>
        </p:spPr>
      </p:sp>
      <p:sp>
        <p:nvSpPr>
          <p:cNvPr id="30" name="Shape 27"/>
          <p:cNvSpPr/>
          <p:nvPr/>
        </p:nvSpPr>
        <p:spPr>
          <a:xfrm>
            <a:off x="1280160" y="5349240"/>
            <a:ext cx="914400" cy="457200"/>
          </a:xfrm>
          <a:prstGeom prst="roundRect">
            <a:avLst>
              <a:gd name="adj" fmla="val 20000"/>
            </a:avLst>
          </a:prstGeom>
          <a:solidFill>
            <a:srgbClr val="0D1117"/>
          </a:solidFill>
          <a:ln w="12700">
            <a:solidFill>
              <a:srgbClr val="30363D"/>
            </a:solidFill>
            <a:prstDash val="solid"/>
          </a:ln>
        </p:spPr>
      </p:sp>
      <p:sp>
        <p:nvSpPr>
          <p:cNvPr id="31" name="Text 28"/>
          <p:cNvSpPr txBox="1"/>
          <p:nvPr/>
        </p:nvSpPr>
        <p:spPr>
          <a:xfrm>
            <a:off x="1353312" y="5349240"/>
            <a:ext cx="76809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C</a:t>
            </a:r>
            <a:endParaRPr lang="en-US" sz="1400" dirty="0"/>
          </a:p>
        </p:txBody>
      </p:sp>
      <p:sp>
        <p:nvSpPr>
          <p:cNvPr id="32" name="Shape 29"/>
          <p:cNvSpPr/>
          <p:nvPr/>
        </p:nvSpPr>
        <p:spPr>
          <a:xfrm>
            <a:off x="4800600" y="3794760"/>
            <a:ext cx="1554480" cy="640080"/>
          </a:xfrm>
          <a:prstGeom prst="flowChartDecision">
            <a:avLst/>
          </a:prstGeom>
          <a:solidFill>
            <a:srgbClr val="0D1117"/>
          </a:solidFill>
          <a:ln w="19050">
            <a:solidFill>
              <a:srgbClr val="58A6FF"/>
            </a:solidFill>
            <a:prstDash val="solid"/>
          </a:ln>
        </p:spPr>
      </p:sp>
      <p:sp>
        <p:nvSpPr>
          <p:cNvPr id="33" name="Text 30"/>
          <p:cNvSpPr txBox="1"/>
          <p:nvPr/>
        </p:nvSpPr>
        <p:spPr>
          <a:xfrm>
            <a:off x="4800600" y="3794760"/>
            <a:ext cx="1554480" cy="640080"/>
          </a:xfrm>
          <a:prstGeom prst="rect">
            <a:avLst/>
          </a:prstGeom>
          <a:noFill/>
          <a:ln/>
        </p:spPr>
        <p:txBody>
          <a:bodyPr wrap="square" lIns="0" tIns="0" rIns="0" bIns="0" rtlCol="0" anchor="ctr"/>
          <a:lstStyle/>
          <a:p>
            <a:pPr algn="ctr" indent="0" marL="0">
              <a:buNone/>
            </a:pPr>
            <a:r>
              <a:rPr lang="en-US" sz="1200" dirty="0">
                <a:solidFill>
                  <a:srgbClr val="E6EDF3"/>
                </a:solidFill>
                <a:latin typeface="Calibri" pitchFamily="34" charset="0"/>
                <a:ea typeface="Calibri" pitchFamily="34" charset="-122"/>
                <a:cs typeface="Calibri" pitchFamily="34" charset="-120"/>
              </a:rPr>
              <a:t>condition?</a:t>
            </a:r>
            <a:endParaRPr lang="en-US" sz="1200" dirty="0"/>
          </a:p>
        </p:txBody>
      </p:sp>
      <p:sp>
        <p:nvSpPr>
          <p:cNvPr id="34" name="Shape 31"/>
          <p:cNvSpPr/>
          <p:nvPr/>
        </p:nvSpPr>
        <p:spPr>
          <a:xfrm flipH="1">
            <a:off x="4480560" y="4114800"/>
            <a:ext cx="320040" cy="0"/>
          </a:xfrm>
          <a:prstGeom prst="line">
            <a:avLst/>
          </a:prstGeom>
          <a:noFill/>
          <a:ln w="22225">
            <a:solidFill>
              <a:srgbClr val="8B949E"/>
            </a:solidFill>
            <a:prstDash val="solid"/>
          </a:ln>
        </p:spPr>
      </p:sp>
      <p:sp>
        <p:nvSpPr>
          <p:cNvPr id="35" name="Shape 32"/>
          <p:cNvSpPr/>
          <p:nvPr/>
        </p:nvSpPr>
        <p:spPr>
          <a:xfrm>
            <a:off x="4480560" y="4114800"/>
            <a:ext cx="0" cy="548640"/>
          </a:xfrm>
          <a:prstGeom prst="line">
            <a:avLst/>
          </a:prstGeom>
          <a:noFill/>
          <a:ln w="22225">
            <a:solidFill>
              <a:srgbClr val="8B949E"/>
            </a:solidFill>
            <a:prstDash val="solid"/>
            <a:tailEnd type="triangle"/>
          </a:ln>
        </p:spPr>
      </p:sp>
      <p:sp>
        <p:nvSpPr>
          <p:cNvPr id="36" name="Shape 33"/>
          <p:cNvSpPr/>
          <p:nvPr/>
        </p:nvSpPr>
        <p:spPr>
          <a:xfrm>
            <a:off x="6355080" y="4114800"/>
            <a:ext cx="320040" cy="0"/>
          </a:xfrm>
          <a:prstGeom prst="line">
            <a:avLst/>
          </a:prstGeom>
          <a:noFill/>
          <a:ln w="22225">
            <a:solidFill>
              <a:srgbClr val="8B949E"/>
            </a:solidFill>
            <a:prstDash val="solid"/>
          </a:ln>
        </p:spPr>
      </p:sp>
      <p:sp>
        <p:nvSpPr>
          <p:cNvPr id="37" name="Shape 34"/>
          <p:cNvSpPr/>
          <p:nvPr/>
        </p:nvSpPr>
        <p:spPr>
          <a:xfrm>
            <a:off x="6675120" y="4114800"/>
            <a:ext cx="0" cy="548640"/>
          </a:xfrm>
          <a:prstGeom prst="line">
            <a:avLst/>
          </a:prstGeom>
          <a:noFill/>
          <a:ln w="22225">
            <a:solidFill>
              <a:srgbClr val="8B949E"/>
            </a:solidFill>
            <a:prstDash val="solid"/>
            <a:tailEnd type="triangle"/>
          </a:ln>
        </p:spPr>
      </p:sp>
      <p:sp>
        <p:nvSpPr>
          <p:cNvPr id="38" name="Text 35"/>
          <p:cNvSpPr txBox="1"/>
          <p:nvPr/>
        </p:nvSpPr>
        <p:spPr>
          <a:xfrm>
            <a:off x="4069080" y="3813048"/>
            <a:ext cx="640080" cy="274320"/>
          </a:xfrm>
          <a:prstGeom prst="rect">
            <a:avLst/>
          </a:prstGeom>
          <a:noFill/>
          <a:ln/>
        </p:spPr>
        <p:txBody>
          <a:bodyPr wrap="square" lIns="0" tIns="0" rIns="0" bIns="0" rtlCol="0" anchor="t"/>
          <a:lstStyle/>
          <a:p>
            <a:pPr indent="0" marL="0">
              <a:buNone/>
            </a:pPr>
            <a:r>
              <a:rPr lang="en-US" sz="1200" dirty="0">
                <a:solidFill>
                  <a:srgbClr val="3FB950"/>
                </a:solidFill>
                <a:latin typeface="Calibri" pitchFamily="34" charset="0"/>
                <a:ea typeface="Calibri" pitchFamily="34" charset="-122"/>
                <a:cs typeface="Calibri" pitchFamily="34" charset="-120"/>
              </a:rPr>
              <a:t>true</a:t>
            </a:r>
            <a:endParaRPr lang="en-US" sz="1200" dirty="0"/>
          </a:p>
        </p:txBody>
      </p:sp>
      <p:sp>
        <p:nvSpPr>
          <p:cNvPr id="39" name="Text 36"/>
          <p:cNvSpPr txBox="1"/>
          <p:nvPr/>
        </p:nvSpPr>
        <p:spPr>
          <a:xfrm>
            <a:off x="6492240" y="3813048"/>
            <a:ext cx="640080" cy="274320"/>
          </a:xfrm>
          <a:prstGeom prst="rect">
            <a:avLst/>
          </a:prstGeom>
          <a:noFill/>
          <a:ln/>
        </p:spPr>
        <p:txBody>
          <a:bodyPr wrap="square" lIns="0" tIns="0" rIns="0" bIns="0" rtlCol="0" anchor="t"/>
          <a:lstStyle/>
          <a:p>
            <a:pPr indent="0" marL="0">
              <a:buNone/>
            </a:pPr>
            <a:r>
              <a:rPr lang="en-US" sz="1200" dirty="0">
                <a:solidFill>
                  <a:srgbClr val="FF7B72"/>
                </a:solidFill>
                <a:latin typeface="Calibri" pitchFamily="34" charset="0"/>
                <a:ea typeface="Calibri" pitchFamily="34" charset="-122"/>
                <a:cs typeface="Calibri" pitchFamily="34" charset="-120"/>
              </a:rPr>
              <a:t>false</a:t>
            </a:r>
            <a:endParaRPr lang="en-US" sz="1200" dirty="0"/>
          </a:p>
        </p:txBody>
      </p:sp>
      <p:sp>
        <p:nvSpPr>
          <p:cNvPr id="40" name="Shape 37"/>
          <p:cNvSpPr/>
          <p:nvPr/>
        </p:nvSpPr>
        <p:spPr>
          <a:xfrm>
            <a:off x="4069080" y="4690872"/>
            <a:ext cx="822960" cy="457200"/>
          </a:xfrm>
          <a:prstGeom prst="roundRect">
            <a:avLst>
              <a:gd name="adj" fmla="val 20000"/>
            </a:avLst>
          </a:prstGeom>
          <a:solidFill>
            <a:srgbClr val="0D1117"/>
          </a:solidFill>
          <a:ln w="12700">
            <a:solidFill>
              <a:srgbClr val="30363D"/>
            </a:solidFill>
            <a:prstDash val="solid"/>
          </a:ln>
        </p:spPr>
      </p:sp>
      <p:sp>
        <p:nvSpPr>
          <p:cNvPr id="41" name="Text 38"/>
          <p:cNvSpPr txBox="1"/>
          <p:nvPr/>
        </p:nvSpPr>
        <p:spPr>
          <a:xfrm>
            <a:off x="4142232" y="4690872"/>
            <a:ext cx="67665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A</a:t>
            </a:r>
            <a:endParaRPr lang="en-US" sz="1400" dirty="0"/>
          </a:p>
        </p:txBody>
      </p:sp>
      <p:sp>
        <p:nvSpPr>
          <p:cNvPr id="42" name="Shape 39"/>
          <p:cNvSpPr/>
          <p:nvPr/>
        </p:nvSpPr>
        <p:spPr>
          <a:xfrm>
            <a:off x="6263640" y="4690872"/>
            <a:ext cx="822960" cy="457200"/>
          </a:xfrm>
          <a:prstGeom prst="roundRect">
            <a:avLst>
              <a:gd name="adj" fmla="val 20000"/>
            </a:avLst>
          </a:prstGeom>
          <a:solidFill>
            <a:srgbClr val="0D1117"/>
          </a:solidFill>
          <a:ln w="12700">
            <a:solidFill>
              <a:srgbClr val="30363D"/>
            </a:solidFill>
            <a:prstDash val="solid"/>
          </a:ln>
        </p:spPr>
      </p:sp>
      <p:sp>
        <p:nvSpPr>
          <p:cNvPr id="43" name="Text 40"/>
          <p:cNvSpPr txBox="1"/>
          <p:nvPr/>
        </p:nvSpPr>
        <p:spPr>
          <a:xfrm>
            <a:off x="6336792" y="4690872"/>
            <a:ext cx="67665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B</a:t>
            </a:r>
            <a:endParaRPr lang="en-US" sz="1400" dirty="0"/>
          </a:p>
        </p:txBody>
      </p:sp>
      <p:sp>
        <p:nvSpPr>
          <p:cNvPr id="44" name="Shape 41"/>
          <p:cNvSpPr/>
          <p:nvPr/>
        </p:nvSpPr>
        <p:spPr>
          <a:xfrm>
            <a:off x="4480560" y="5166360"/>
            <a:ext cx="0" cy="274320"/>
          </a:xfrm>
          <a:prstGeom prst="line">
            <a:avLst/>
          </a:prstGeom>
          <a:noFill/>
          <a:ln w="22225">
            <a:solidFill>
              <a:srgbClr val="8B949E"/>
            </a:solidFill>
            <a:prstDash val="solid"/>
          </a:ln>
        </p:spPr>
      </p:sp>
      <p:sp>
        <p:nvSpPr>
          <p:cNvPr id="45" name="Shape 42"/>
          <p:cNvSpPr/>
          <p:nvPr/>
        </p:nvSpPr>
        <p:spPr>
          <a:xfrm>
            <a:off x="6675120" y="5166360"/>
            <a:ext cx="0" cy="274320"/>
          </a:xfrm>
          <a:prstGeom prst="line">
            <a:avLst/>
          </a:prstGeom>
          <a:noFill/>
          <a:ln w="22225">
            <a:solidFill>
              <a:srgbClr val="8B949E"/>
            </a:solidFill>
            <a:prstDash val="solid"/>
          </a:ln>
        </p:spPr>
      </p:sp>
      <p:sp>
        <p:nvSpPr>
          <p:cNvPr id="46" name="Shape 43"/>
          <p:cNvSpPr/>
          <p:nvPr/>
        </p:nvSpPr>
        <p:spPr>
          <a:xfrm>
            <a:off x="4480560" y="5440680"/>
            <a:ext cx="2194560" cy="0"/>
          </a:xfrm>
          <a:prstGeom prst="line">
            <a:avLst/>
          </a:prstGeom>
          <a:noFill/>
          <a:ln w="22225">
            <a:solidFill>
              <a:srgbClr val="8B949E"/>
            </a:solidFill>
            <a:prstDash val="solid"/>
          </a:ln>
        </p:spPr>
      </p:sp>
      <p:sp>
        <p:nvSpPr>
          <p:cNvPr id="47" name="Shape 44"/>
          <p:cNvSpPr/>
          <p:nvPr/>
        </p:nvSpPr>
        <p:spPr>
          <a:xfrm>
            <a:off x="5577840" y="5440680"/>
            <a:ext cx="0" cy="365760"/>
          </a:xfrm>
          <a:prstGeom prst="line">
            <a:avLst/>
          </a:prstGeom>
          <a:noFill/>
          <a:ln w="22225">
            <a:solidFill>
              <a:srgbClr val="8B949E"/>
            </a:solidFill>
            <a:prstDash val="solid"/>
            <a:tailEnd type="triangle"/>
          </a:ln>
        </p:spPr>
      </p:sp>
      <p:sp>
        <p:nvSpPr>
          <p:cNvPr id="48" name="Shape 45"/>
          <p:cNvSpPr/>
          <p:nvPr/>
        </p:nvSpPr>
        <p:spPr>
          <a:xfrm>
            <a:off x="8503920" y="3794760"/>
            <a:ext cx="1554480" cy="640080"/>
          </a:xfrm>
          <a:prstGeom prst="flowChartDecision">
            <a:avLst/>
          </a:prstGeom>
          <a:solidFill>
            <a:srgbClr val="0D1117"/>
          </a:solidFill>
          <a:ln w="19050">
            <a:solidFill>
              <a:srgbClr val="58A6FF"/>
            </a:solidFill>
            <a:prstDash val="solid"/>
          </a:ln>
        </p:spPr>
      </p:sp>
      <p:sp>
        <p:nvSpPr>
          <p:cNvPr id="49" name="Text 46"/>
          <p:cNvSpPr txBox="1"/>
          <p:nvPr/>
        </p:nvSpPr>
        <p:spPr>
          <a:xfrm>
            <a:off x="8503920" y="3794760"/>
            <a:ext cx="1554480" cy="640080"/>
          </a:xfrm>
          <a:prstGeom prst="rect">
            <a:avLst/>
          </a:prstGeom>
          <a:noFill/>
          <a:ln/>
        </p:spPr>
        <p:txBody>
          <a:bodyPr wrap="square" lIns="0" tIns="0" rIns="0" bIns="0" rtlCol="0" anchor="ctr"/>
          <a:lstStyle/>
          <a:p>
            <a:pPr algn="ctr" indent="0" marL="0">
              <a:buNone/>
            </a:pPr>
            <a:r>
              <a:rPr lang="en-US" sz="1200" dirty="0">
                <a:solidFill>
                  <a:srgbClr val="E6EDF3"/>
                </a:solidFill>
                <a:latin typeface="Calibri" pitchFamily="34" charset="0"/>
                <a:ea typeface="Calibri" pitchFamily="34" charset="-122"/>
                <a:cs typeface="Calibri" pitchFamily="34" charset="-120"/>
              </a:rPr>
              <a:t>condition?</a:t>
            </a:r>
            <a:endParaRPr lang="en-US" sz="1200" dirty="0"/>
          </a:p>
        </p:txBody>
      </p:sp>
      <p:sp>
        <p:nvSpPr>
          <p:cNvPr id="50" name="Shape 47"/>
          <p:cNvSpPr/>
          <p:nvPr/>
        </p:nvSpPr>
        <p:spPr>
          <a:xfrm>
            <a:off x="9281160" y="4443984"/>
            <a:ext cx="0" cy="283464"/>
          </a:xfrm>
          <a:prstGeom prst="line">
            <a:avLst/>
          </a:prstGeom>
          <a:noFill/>
          <a:ln w="22225">
            <a:solidFill>
              <a:srgbClr val="8B949E"/>
            </a:solidFill>
            <a:prstDash val="solid"/>
            <a:tailEnd type="triangle"/>
          </a:ln>
        </p:spPr>
      </p:sp>
      <p:sp>
        <p:nvSpPr>
          <p:cNvPr id="51" name="Text 48"/>
          <p:cNvSpPr txBox="1"/>
          <p:nvPr/>
        </p:nvSpPr>
        <p:spPr>
          <a:xfrm>
            <a:off x="9372600" y="4434840"/>
            <a:ext cx="548640" cy="274320"/>
          </a:xfrm>
          <a:prstGeom prst="rect">
            <a:avLst/>
          </a:prstGeom>
          <a:noFill/>
          <a:ln/>
        </p:spPr>
        <p:txBody>
          <a:bodyPr wrap="square" lIns="0" tIns="0" rIns="0" bIns="0" rtlCol="0" anchor="t"/>
          <a:lstStyle/>
          <a:p>
            <a:pPr indent="0" marL="0">
              <a:buNone/>
            </a:pPr>
            <a:r>
              <a:rPr lang="en-US" sz="1200" dirty="0">
                <a:solidFill>
                  <a:srgbClr val="3FB950"/>
                </a:solidFill>
                <a:latin typeface="Calibri" pitchFamily="34" charset="0"/>
                <a:ea typeface="Calibri" pitchFamily="34" charset="-122"/>
                <a:cs typeface="Calibri" pitchFamily="34" charset="-120"/>
              </a:rPr>
              <a:t>true</a:t>
            </a:r>
            <a:endParaRPr lang="en-US" sz="1200" dirty="0"/>
          </a:p>
        </p:txBody>
      </p:sp>
      <p:sp>
        <p:nvSpPr>
          <p:cNvPr id="52" name="Shape 49"/>
          <p:cNvSpPr/>
          <p:nvPr/>
        </p:nvSpPr>
        <p:spPr>
          <a:xfrm>
            <a:off x="8778240" y="4754880"/>
            <a:ext cx="1005840" cy="457200"/>
          </a:xfrm>
          <a:prstGeom prst="roundRect">
            <a:avLst>
              <a:gd name="adj" fmla="val 20000"/>
            </a:avLst>
          </a:prstGeom>
          <a:solidFill>
            <a:srgbClr val="0D1117"/>
          </a:solidFill>
          <a:ln w="12700">
            <a:solidFill>
              <a:srgbClr val="30363D"/>
            </a:solidFill>
            <a:prstDash val="solid"/>
          </a:ln>
        </p:spPr>
      </p:sp>
      <p:sp>
        <p:nvSpPr>
          <p:cNvPr id="53" name="Text 50"/>
          <p:cNvSpPr txBox="1"/>
          <p:nvPr/>
        </p:nvSpPr>
        <p:spPr>
          <a:xfrm>
            <a:off x="8851392" y="4754880"/>
            <a:ext cx="859536" cy="45720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body</a:t>
            </a:r>
            <a:endParaRPr lang="en-US" sz="1400" dirty="0"/>
          </a:p>
        </p:txBody>
      </p:sp>
      <p:sp>
        <p:nvSpPr>
          <p:cNvPr id="54" name="Shape 51"/>
          <p:cNvSpPr/>
          <p:nvPr/>
        </p:nvSpPr>
        <p:spPr>
          <a:xfrm flipH="1">
            <a:off x="8229600" y="4983480"/>
            <a:ext cx="548640" cy="0"/>
          </a:xfrm>
          <a:prstGeom prst="line">
            <a:avLst/>
          </a:prstGeom>
          <a:noFill/>
          <a:ln w="22225">
            <a:solidFill>
              <a:srgbClr val="8B949E"/>
            </a:solidFill>
            <a:prstDash val="solid"/>
          </a:ln>
        </p:spPr>
      </p:sp>
      <p:sp>
        <p:nvSpPr>
          <p:cNvPr id="55" name="Shape 52"/>
          <p:cNvSpPr/>
          <p:nvPr/>
        </p:nvSpPr>
        <p:spPr>
          <a:xfrm flipV="1">
            <a:off x="8229600" y="4114800"/>
            <a:ext cx="0" cy="868680"/>
          </a:xfrm>
          <a:prstGeom prst="line">
            <a:avLst/>
          </a:prstGeom>
          <a:noFill/>
          <a:ln w="22225">
            <a:solidFill>
              <a:srgbClr val="8B949E"/>
            </a:solidFill>
            <a:prstDash val="solid"/>
          </a:ln>
        </p:spPr>
      </p:sp>
      <p:sp>
        <p:nvSpPr>
          <p:cNvPr id="56" name="Shape 53"/>
          <p:cNvSpPr/>
          <p:nvPr/>
        </p:nvSpPr>
        <p:spPr>
          <a:xfrm>
            <a:off x="8229600" y="4114800"/>
            <a:ext cx="256032" cy="0"/>
          </a:xfrm>
          <a:prstGeom prst="line">
            <a:avLst/>
          </a:prstGeom>
          <a:noFill/>
          <a:ln w="22225">
            <a:solidFill>
              <a:srgbClr val="8B949E"/>
            </a:solidFill>
            <a:prstDash val="solid"/>
            <a:tailEnd type="triangle"/>
          </a:ln>
        </p:spPr>
      </p:sp>
      <p:sp>
        <p:nvSpPr>
          <p:cNvPr id="57" name="Shape 54"/>
          <p:cNvSpPr/>
          <p:nvPr/>
        </p:nvSpPr>
        <p:spPr>
          <a:xfrm>
            <a:off x="10058400" y="4114800"/>
            <a:ext cx="640080" cy="0"/>
          </a:xfrm>
          <a:prstGeom prst="line">
            <a:avLst/>
          </a:prstGeom>
          <a:noFill/>
          <a:ln w="22225">
            <a:solidFill>
              <a:srgbClr val="8B949E"/>
            </a:solidFill>
            <a:prstDash val="solid"/>
            <a:tailEnd type="triangle"/>
          </a:ln>
        </p:spPr>
      </p:sp>
      <p:sp>
        <p:nvSpPr>
          <p:cNvPr id="58" name="Text 55"/>
          <p:cNvSpPr txBox="1"/>
          <p:nvPr/>
        </p:nvSpPr>
        <p:spPr>
          <a:xfrm>
            <a:off x="10058400" y="3813048"/>
            <a:ext cx="640080" cy="274320"/>
          </a:xfrm>
          <a:prstGeom prst="rect">
            <a:avLst/>
          </a:prstGeom>
          <a:noFill/>
          <a:ln/>
        </p:spPr>
        <p:txBody>
          <a:bodyPr wrap="square" lIns="0" tIns="0" rIns="0" bIns="0" rtlCol="0" anchor="t"/>
          <a:lstStyle/>
          <a:p>
            <a:pPr indent="0" marL="0">
              <a:buNone/>
            </a:pPr>
            <a:r>
              <a:rPr lang="en-US" sz="1200" dirty="0">
                <a:solidFill>
                  <a:srgbClr val="FF7B72"/>
                </a:solidFill>
                <a:latin typeface="Calibri" pitchFamily="34" charset="0"/>
                <a:ea typeface="Calibri" pitchFamily="34" charset="-122"/>
                <a:cs typeface="Calibri" pitchFamily="34" charset="-120"/>
              </a:rPr>
              <a:t>false</a:t>
            </a:r>
            <a:endParaRPr lang="en-US" sz="1200" dirty="0"/>
          </a:p>
        </p:txBody>
      </p:sp>
      <p:sp>
        <p:nvSpPr>
          <p:cNvPr id="59" name="Text 56"/>
          <p:cNvSpPr txBox="1"/>
          <p:nvPr/>
        </p:nvSpPr>
        <p:spPr>
          <a:xfrm>
            <a:off x="10744200" y="3977640"/>
            <a:ext cx="731520" cy="274320"/>
          </a:xfrm>
          <a:prstGeom prst="rect">
            <a:avLst/>
          </a:prstGeom>
          <a:noFill/>
          <a:ln/>
        </p:spPr>
        <p:txBody>
          <a:bodyPr wrap="square" lIns="0" tIns="0" rIns="0" bIns="0" rtlCol="0" anchor="t"/>
          <a:lstStyle/>
          <a:p>
            <a:pPr indent="0" marL="0">
              <a:buNone/>
            </a:pPr>
            <a:r>
              <a:rPr lang="en-US" sz="1300" dirty="0">
                <a:solidFill>
                  <a:srgbClr val="E6EDF3"/>
                </a:solidFill>
                <a:latin typeface="Calibri" pitchFamily="34" charset="0"/>
                <a:ea typeface="Calibri" pitchFamily="34" charset="-122"/>
                <a:cs typeface="Calibri" pitchFamily="34" charset="-120"/>
              </a:rPr>
              <a:t>exit</a:t>
            </a:r>
            <a:endParaRPr lang="en-US" sz="1300" dirty="0"/>
          </a:p>
        </p:txBody>
      </p:sp>
      <p:sp>
        <p:nvSpPr>
          <p:cNvPr id="60" name="Text 57"/>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61" name="Text 58"/>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14</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Flowchart example: even or odd</a:t>
            </a:r>
            <a:endParaRPr lang="en-US" sz="3400" dirty="0"/>
          </a:p>
        </p:txBody>
      </p:sp>
      <p:sp>
        <p:nvSpPr>
          <p:cNvPr id="5" name="Shape 2"/>
          <p:cNvSpPr/>
          <p:nvPr/>
        </p:nvSpPr>
        <p:spPr>
          <a:xfrm>
            <a:off x="2834640" y="1417320"/>
            <a:ext cx="1645920" cy="502920"/>
          </a:xfrm>
          <a:prstGeom prst="flowChartTerminator">
            <a:avLst/>
          </a:prstGeom>
          <a:solidFill>
            <a:srgbClr val="161B22"/>
          </a:solidFill>
          <a:ln w="19050">
            <a:solidFill>
              <a:srgbClr val="8B949E"/>
            </a:solidFill>
            <a:prstDash val="solid"/>
          </a:ln>
        </p:spPr>
      </p:sp>
      <p:sp>
        <p:nvSpPr>
          <p:cNvPr id="6" name="Text 3"/>
          <p:cNvSpPr txBox="1"/>
          <p:nvPr/>
        </p:nvSpPr>
        <p:spPr>
          <a:xfrm>
            <a:off x="2834640" y="1417320"/>
            <a:ext cx="1645920" cy="502920"/>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Start</a:t>
            </a:r>
            <a:endParaRPr lang="en-US" sz="1500" dirty="0"/>
          </a:p>
        </p:txBody>
      </p:sp>
      <p:sp>
        <p:nvSpPr>
          <p:cNvPr id="7" name="Shape 4"/>
          <p:cNvSpPr/>
          <p:nvPr/>
        </p:nvSpPr>
        <p:spPr>
          <a:xfrm>
            <a:off x="3657600" y="1938528"/>
            <a:ext cx="0" cy="274320"/>
          </a:xfrm>
          <a:prstGeom prst="line">
            <a:avLst/>
          </a:prstGeom>
          <a:noFill/>
          <a:ln w="22225">
            <a:solidFill>
              <a:srgbClr val="8B949E"/>
            </a:solidFill>
            <a:prstDash val="solid"/>
            <a:tailEnd type="triangle"/>
          </a:ln>
        </p:spPr>
      </p:sp>
      <p:sp>
        <p:nvSpPr>
          <p:cNvPr id="8" name="Shape 5"/>
          <p:cNvSpPr/>
          <p:nvPr/>
        </p:nvSpPr>
        <p:spPr>
          <a:xfrm>
            <a:off x="2606040" y="2240280"/>
            <a:ext cx="2103120" cy="548640"/>
          </a:xfrm>
          <a:prstGeom prst="flowChartInputOutput">
            <a:avLst/>
          </a:prstGeom>
          <a:solidFill>
            <a:srgbClr val="161B22"/>
          </a:solidFill>
          <a:ln w="19050">
            <a:solidFill>
              <a:srgbClr val="8B949E"/>
            </a:solidFill>
            <a:prstDash val="solid"/>
          </a:ln>
        </p:spPr>
      </p:sp>
      <p:sp>
        <p:nvSpPr>
          <p:cNvPr id="9" name="Text 6"/>
          <p:cNvSpPr txBox="1"/>
          <p:nvPr/>
        </p:nvSpPr>
        <p:spPr>
          <a:xfrm>
            <a:off x="2606040" y="2240280"/>
            <a:ext cx="2103120" cy="548640"/>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Input n</a:t>
            </a:r>
            <a:endParaRPr lang="en-US" sz="1500" dirty="0"/>
          </a:p>
        </p:txBody>
      </p:sp>
      <p:sp>
        <p:nvSpPr>
          <p:cNvPr id="10" name="Shape 7"/>
          <p:cNvSpPr/>
          <p:nvPr/>
        </p:nvSpPr>
        <p:spPr>
          <a:xfrm>
            <a:off x="3657600" y="2807208"/>
            <a:ext cx="0" cy="274320"/>
          </a:xfrm>
          <a:prstGeom prst="line">
            <a:avLst/>
          </a:prstGeom>
          <a:noFill/>
          <a:ln w="22225">
            <a:solidFill>
              <a:srgbClr val="8B949E"/>
            </a:solidFill>
            <a:prstDash val="solid"/>
            <a:tailEnd type="triangle"/>
          </a:ln>
        </p:spPr>
      </p:sp>
      <p:sp>
        <p:nvSpPr>
          <p:cNvPr id="11" name="Shape 8"/>
          <p:cNvSpPr/>
          <p:nvPr/>
        </p:nvSpPr>
        <p:spPr>
          <a:xfrm>
            <a:off x="2377440" y="3108960"/>
            <a:ext cx="2560320" cy="914400"/>
          </a:xfrm>
          <a:prstGeom prst="flowChartDecision">
            <a:avLst/>
          </a:prstGeom>
          <a:solidFill>
            <a:srgbClr val="161B22"/>
          </a:solidFill>
          <a:ln w="19050">
            <a:solidFill>
              <a:srgbClr val="58A6FF"/>
            </a:solidFill>
            <a:prstDash val="solid"/>
          </a:ln>
        </p:spPr>
      </p:sp>
      <p:sp>
        <p:nvSpPr>
          <p:cNvPr id="12" name="Text 9"/>
          <p:cNvSpPr txBox="1"/>
          <p:nvPr/>
        </p:nvSpPr>
        <p:spPr>
          <a:xfrm>
            <a:off x="2377440" y="3108960"/>
            <a:ext cx="2560320" cy="914400"/>
          </a:xfrm>
          <a:prstGeom prst="rect">
            <a:avLst/>
          </a:prstGeom>
          <a:noFill/>
          <a:ln/>
        </p:spPr>
        <p:txBody>
          <a:bodyPr wrap="square" lIns="0" tIns="0" rIns="0" bIns="0" rtlCol="0" anchor="ctr"/>
          <a:lstStyle/>
          <a:p>
            <a:pPr algn="ctr" indent="0" marL="0">
              <a:buNone/>
            </a:pPr>
            <a:r>
              <a:rPr lang="en-US" sz="1500" dirty="0">
                <a:solidFill>
                  <a:srgbClr val="E6EDF3"/>
                </a:solidFill>
                <a:latin typeface="Courier New" pitchFamily="34" charset="0"/>
                <a:ea typeface="Courier New" pitchFamily="34" charset="-122"/>
                <a:cs typeface="Courier New" pitchFamily="34" charset="-120"/>
              </a:rPr>
              <a:t>n % 2 == 0 ?</a:t>
            </a:r>
            <a:endParaRPr lang="en-US" sz="1500" dirty="0"/>
          </a:p>
        </p:txBody>
      </p:sp>
      <p:sp>
        <p:nvSpPr>
          <p:cNvPr id="13" name="Shape 10"/>
          <p:cNvSpPr/>
          <p:nvPr/>
        </p:nvSpPr>
        <p:spPr>
          <a:xfrm flipH="1">
            <a:off x="1554480" y="3566160"/>
            <a:ext cx="822960" cy="0"/>
          </a:xfrm>
          <a:prstGeom prst="line">
            <a:avLst/>
          </a:prstGeom>
          <a:noFill/>
          <a:ln w="22225">
            <a:solidFill>
              <a:srgbClr val="8B949E"/>
            </a:solidFill>
            <a:prstDash val="solid"/>
          </a:ln>
        </p:spPr>
      </p:sp>
      <p:sp>
        <p:nvSpPr>
          <p:cNvPr id="14" name="Shape 11"/>
          <p:cNvSpPr/>
          <p:nvPr/>
        </p:nvSpPr>
        <p:spPr>
          <a:xfrm>
            <a:off x="1554480" y="3566160"/>
            <a:ext cx="0" cy="749808"/>
          </a:xfrm>
          <a:prstGeom prst="line">
            <a:avLst/>
          </a:prstGeom>
          <a:noFill/>
          <a:ln w="22225">
            <a:solidFill>
              <a:srgbClr val="8B949E"/>
            </a:solidFill>
            <a:prstDash val="solid"/>
            <a:tailEnd type="triangle"/>
          </a:ln>
        </p:spPr>
      </p:sp>
      <p:sp>
        <p:nvSpPr>
          <p:cNvPr id="15" name="Shape 12"/>
          <p:cNvSpPr/>
          <p:nvPr/>
        </p:nvSpPr>
        <p:spPr>
          <a:xfrm>
            <a:off x="4937760" y="3566160"/>
            <a:ext cx="822960" cy="0"/>
          </a:xfrm>
          <a:prstGeom prst="line">
            <a:avLst/>
          </a:prstGeom>
          <a:noFill/>
          <a:ln w="22225">
            <a:solidFill>
              <a:srgbClr val="8B949E"/>
            </a:solidFill>
            <a:prstDash val="solid"/>
          </a:ln>
        </p:spPr>
      </p:sp>
      <p:sp>
        <p:nvSpPr>
          <p:cNvPr id="16" name="Shape 13"/>
          <p:cNvSpPr/>
          <p:nvPr/>
        </p:nvSpPr>
        <p:spPr>
          <a:xfrm>
            <a:off x="5760720" y="3566160"/>
            <a:ext cx="0" cy="749808"/>
          </a:xfrm>
          <a:prstGeom prst="line">
            <a:avLst/>
          </a:prstGeom>
          <a:noFill/>
          <a:ln w="22225">
            <a:solidFill>
              <a:srgbClr val="8B949E"/>
            </a:solidFill>
            <a:prstDash val="solid"/>
            <a:tailEnd type="triangle"/>
          </a:ln>
        </p:spPr>
      </p:sp>
      <p:sp>
        <p:nvSpPr>
          <p:cNvPr id="17" name="Text 14"/>
          <p:cNvSpPr txBox="1"/>
          <p:nvPr/>
        </p:nvSpPr>
        <p:spPr>
          <a:xfrm>
            <a:off x="1508760" y="3246120"/>
            <a:ext cx="731520" cy="274320"/>
          </a:xfrm>
          <a:prstGeom prst="rect">
            <a:avLst/>
          </a:prstGeom>
          <a:noFill/>
          <a:ln/>
        </p:spPr>
        <p:txBody>
          <a:bodyPr wrap="square" lIns="0" tIns="0" rIns="0" bIns="0" rtlCol="0" anchor="t"/>
          <a:lstStyle/>
          <a:p>
            <a:pPr indent="0" marL="0">
              <a:buNone/>
            </a:pPr>
            <a:r>
              <a:rPr lang="en-US" sz="1300" dirty="0">
                <a:solidFill>
                  <a:srgbClr val="3FB950"/>
                </a:solidFill>
                <a:latin typeface="Calibri" pitchFamily="34" charset="0"/>
                <a:ea typeface="Calibri" pitchFamily="34" charset="-122"/>
                <a:cs typeface="Calibri" pitchFamily="34" charset="-120"/>
              </a:rPr>
              <a:t>true</a:t>
            </a:r>
            <a:endParaRPr lang="en-US" sz="1300" dirty="0"/>
          </a:p>
        </p:txBody>
      </p:sp>
      <p:sp>
        <p:nvSpPr>
          <p:cNvPr id="18" name="Text 15"/>
          <p:cNvSpPr txBox="1"/>
          <p:nvPr/>
        </p:nvSpPr>
        <p:spPr>
          <a:xfrm>
            <a:off x="5166360" y="3246120"/>
            <a:ext cx="731520" cy="274320"/>
          </a:xfrm>
          <a:prstGeom prst="rect">
            <a:avLst/>
          </a:prstGeom>
          <a:noFill/>
          <a:ln/>
        </p:spPr>
        <p:txBody>
          <a:bodyPr wrap="square" lIns="0" tIns="0" rIns="0" bIns="0" rtlCol="0" anchor="t"/>
          <a:lstStyle/>
          <a:p>
            <a:pPr indent="0" marL="0">
              <a:buNone/>
            </a:pPr>
            <a:r>
              <a:rPr lang="en-US" sz="1300" dirty="0">
                <a:solidFill>
                  <a:srgbClr val="FF7B72"/>
                </a:solidFill>
                <a:latin typeface="Calibri" pitchFamily="34" charset="0"/>
                <a:ea typeface="Calibri" pitchFamily="34" charset="-122"/>
                <a:cs typeface="Calibri" pitchFamily="34" charset="-120"/>
              </a:rPr>
              <a:t>false</a:t>
            </a:r>
            <a:endParaRPr lang="en-US" sz="1300" dirty="0"/>
          </a:p>
        </p:txBody>
      </p:sp>
      <p:sp>
        <p:nvSpPr>
          <p:cNvPr id="19" name="Shape 16"/>
          <p:cNvSpPr/>
          <p:nvPr/>
        </p:nvSpPr>
        <p:spPr>
          <a:xfrm>
            <a:off x="594360" y="4343400"/>
            <a:ext cx="1920240" cy="548640"/>
          </a:xfrm>
          <a:prstGeom prst="flowChartInputOutput">
            <a:avLst/>
          </a:prstGeom>
          <a:solidFill>
            <a:srgbClr val="161B22"/>
          </a:solidFill>
          <a:ln w="19050">
            <a:solidFill>
              <a:srgbClr val="8B949E"/>
            </a:solidFill>
            <a:prstDash val="solid"/>
          </a:ln>
        </p:spPr>
      </p:sp>
      <p:sp>
        <p:nvSpPr>
          <p:cNvPr id="20" name="Text 17"/>
          <p:cNvSpPr txBox="1"/>
          <p:nvPr/>
        </p:nvSpPr>
        <p:spPr>
          <a:xfrm>
            <a:off x="594360" y="4343400"/>
            <a:ext cx="1920240" cy="54864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Output "even"</a:t>
            </a:r>
            <a:endParaRPr lang="en-US" sz="1400" dirty="0"/>
          </a:p>
        </p:txBody>
      </p:sp>
      <p:sp>
        <p:nvSpPr>
          <p:cNvPr id="21" name="Shape 18"/>
          <p:cNvSpPr/>
          <p:nvPr/>
        </p:nvSpPr>
        <p:spPr>
          <a:xfrm>
            <a:off x="1554480" y="4910328"/>
            <a:ext cx="0" cy="256032"/>
          </a:xfrm>
          <a:prstGeom prst="line">
            <a:avLst/>
          </a:prstGeom>
          <a:noFill/>
          <a:ln w="22225">
            <a:solidFill>
              <a:srgbClr val="8B949E"/>
            </a:solidFill>
            <a:prstDash val="solid"/>
          </a:ln>
        </p:spPr>
      </p:sp>
      <p:sp>
        <p:nvSpPr>
          <p:cNvPr id="22" name="Shape 19"/>
          <p:cNvSpPr/>
          <p:nvPr/>
        </p:nvSpPr>
        <p:spPr>
          <a:xfrm>
            <a:off x="4800600" y="4343400"/>
            <a:ext cx="1920240" cy="548640"/>
          </a:xfrm>
          <a:prstGeom prst="flowChartInputOutput">
            <a:avLst/>
          </a:prstGeom>
          <a:solidFill>
            <a:srgbClr val="161B22"/>
          </a:solidFill>
          <a:ln w="19050">
            <a:solidFill>
              <a:srgbClr val="8B949E"/>
            </a:solidFill>
            <a:prstDash val="solid"/>
          </a:ln>
        </p:spPr>
      </p:sp>
      <p:sp>
        <p:nvSpPr>
          <p:cNvPr id="23" name="Text 20"/>
          <p:cNvSpPr txBox="1"/>
          <p:nvPr/>
        </p:nvSpPr>
        <p:spPr>
          <a:xfrm>
            <a:off x="4800600" y="4343400"/>
            <a:ext cx="1920240" cy="548640"/>
          </a:xfrm>
          <a:prstGeom prst="rect">
            <a:avLst/>
          </a:prstGeom>
          <a:noFill/>
          <a:ln/>
        </p:spPr>
        <p:txBody>
          <a:bodyPr wrap="square" lIns="0" tIns="0" rIns="0" bIns="0" rtlCol="0" anchor="ctr"/>
          <a:lstStyle/>
          <a:p>
            <a:pPr algn="ctr" indent="0" marL="0">
              <a:buNone/>
            </a:pPr>
            <a:r>
              <a:rPr lang="en-US" sz="1400" dirty="0">
                <a:solidFill>
                  <a:srgbClr val="E6EDF3"/>
                </a:solidFill>
                <a:latin typeface="Calibri" pitchFamily="34" charset="0"/>
                <a:ea typeface="Calibri" pitchFamily="34" charset="-122"/>
                <a:cs typeface="Calibri" pitchFamily="34" charset="-120"/>
              </a:rPr>
              <a:t>Output "odd"</a:t>
            </a:r>
            <a:endParaRPr lang="en-US" sz="1400" dirty="0"/>
          </a:p>
        </p:txBody>
      </p:sp>
      <p:sp>
        <p:nvSpPr>
          <p:cNvPr id="24" name="Shape 21"/>
          <p:cNvSpPr/>
          <p:nvPr/>
        </p:nvSpPr>
        <p:spPr>
          <a:xfrm>
            <a:off x="5760720" y="4910328"/>
            <a:ext cx="0" cy="256032"/>
          </a:xfrm>
          <a:prstGeom prst="line">
            <a:avLst/>
          </a:prstGeom>
          <a:noFill/>
          <a:ln w="22225">
            <a:solidFill>
              <a:srgbClr val="8B949E"/>
            </a:solidFill>
            <a:prstDash val="solid"/>
          </a:ln>
        </p:spPr>
      </p:sp>
      <p:sp>
        <p:nvSpPr>
          <p:cNvPr id="25" name="Shape 22"/>
          <p:cNvSpPr/>
          <p:nvPr/>
        </p:nvSpPr>
        <p:spPr>
          <a:xfrm>
            <a:off x="1554480" y="5166360"/>
            <a:ext cx="4206240" cy="0"/>
          </a:xfrm>
          <a:prstGeom prst="line">
            <a:avLst/>
          </a:prstGeom>
          <a:noFill/>
          <a:ln w="22225">
            <a:solidFill>
              <a:srgbClr val="8B949E"/>
            </a:solidFill>
            <a:prstDash val="solid"/>
          </a:ln>
        </p:spPr>
      </p:sp>
      <p:sp>
        <p:nvSpPr>
          <p:cNvPr id="26" name="Shape 23"/>
          <p:cNvSpPr/>
          <p:nvPr/>
        </p:nvSpPr>
        <p:spPr>
          <a:xfrm>
            <a:off x="3657600" y="5166360"/>
            <a:ext cx="0" cy="292608"/>
          </a:xfrm>
          <a:prstGeom prst="line">
            <a:avLst/>
          </a:prstGeom>
          <a:noFill/>
          <a:ln w="22225">
            <a:solidFill>
              <a:srgbClr val="8B949E"/>
            </a:solidFill>
            <a:prstDash val="solid"/>
            <a:tailEnd type="triangle"/>
          </a:ln>
        </p:spPr>
      </p:sp>
      <p:sp>
        <p:nvSpPr>
          <p:cNvPr id="27" name="Shape 24"/>
          <p:cNvSpPr/>
          <p:nvPr/>
        </p:nvSpPr>
        <p:spPr>
          <a:xfrm>
            <a:off x="2834640" y="5486400"/>
            <a:ext cx="1645920" cy="502920"/>
          </a:xfrm>
          <a:prstGeom prst="flowChartTerminator">
            <a:avLst/>
          </a:prstGeom>
          <a:solidFill>
            <a:srgbClr val="161B22"/>
          </a:solidFill>
          <a:ln w="19050">
            <a:solidFill>
              <a:srgbClr val="8B949E"/>
            </a:solidFill>
            <a:prstDash val="solid"/>
          </a:ln>
        </p:spPr>
      </p:sp>
      <p:sp>
        <p:nvSpPr>
          <p:cNvPr id="28" name="Text 25"/>
          <p:cNvSpPr txBox="1"/>
          <p:nvPr/>
        </p:nvSpPr>
        <p:spPr>
          <a:xfrm>
            <a:off x="2834640" y="5486400"/>
            <a:ext cx="1645920" cy="502920"/>
          </a:xfrm>
          <a:prstGeom prst="rect">
            <a:avLst/>
          </a:prstGeom>
          <a:noFill/>
          <a:ln/>
        </p:spPr>
        <p:txBody>
          <a:bodyPr wrap="square" lIns="0" tIns="0" rIns="0" bIns="0" rtlCol="0" anchor="ctr"/>
          <a:lstStyle/>
          <a:p>
            <a:pPr algn="ctr" indent="0" marL="0">
              <a:buNone/>
            </a:pPr>
            <a:r>
              <a:rPr lang="en-US" sz="1500" dirty="0">
                <a:solidFill>
                  <a:srgbClr val="E6EDF3"/>
                </a:solidFill>
                <a:latin typeface="Calibri" pitchFamily="34" charset="0"/>
                <a:ea typeface="Calibri" pitchFamily="34" charset="-122"/>
                <a:cs typeface="Calibri" pitchFamily="34" charset="-120"/>
              </a:rPr>
              <a:t>End</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0" y="2011680"/>
          <a:ext cx="4325112" cy="914400"/>
        </p:xfrm>
        <a:graphic>
          <a:graphicData uri="http://schemas.openxmlformats.org/drawingml/2006/table">
            <a:tbl>
              <a:tblPr/>
              <a:tblGrid>
                <a:gridCol w="731520"/>
                <a:gridCol w="1005840"/>
                <a:gridCol w="1097280"/>
                <a:gridCol w="1490472"/>
              </a:tblGrid>
              <a:tr h="411480">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n</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n % 2</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Path</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500" b="1" dirty="0">
                          <a:solidFill>
                            <a:srgbClr val="E6EDF3"/>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even</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odd</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411480">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500" dirty="0">
                          <a:solidFill>
                            <a:srgbClr val="ADBAC7"/>
                          </a:solidFill>
                          <a:latin typeface="Calibri" pitchFamily="34" charset="0"/>
                          <a:ea typeface="Calibri" pitchFamily="34" charset="-122"/>
                          <a:cs typeface="Calibri" pitchFamily="34" charset="-120"/>
                        </a:rPr>
                        <a:t>even</a:t>
                      </a:r>
                      <a:endParaRPr lang="en-US" sz="15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30" name="Text 26"/>
          <p:cNvSpPr txBox="1"/>
          <p:nvPr/>
        </p:nvSpPr>
        <p:spPr>
          <a:xfrm>
            <a:off x="7315200" y="3886200"/>
            <a:ext cx="4325112" cy="365760"/>
          </a:xfrm>
          <a:prstGeom prst="rect">
            <a:avLst/>
          </a:prstGeom>
          <a:noFill/>
          <a:ln/>
        </p:spPr>
        <p:txBody>
          <a:bodyPr wrap="square" lIns="0" tIns="0" rIns="0" bIns="0" rtlCol="0" anchor="t"/>
          <a:lstStyle/>
          <a:p>
            <a:pPr indent="0" marL="0">
              <a:buNone/>
            </a:pPr>
            <a:r>
              <a:rPr lang="en-US" sz="1500" dirty="0">
                <a:solidFill>
                  <a:srgbClr val="ADBAC7"/>
                </a:solidFill>
                <a:latin typeface="Calibri" pitchFamily="34" charset="0"/>
                <a:ea typeface="Calibri" pitchFamily="34" charset="-122"/>
                <a:cs typeface="Calibri" pitchFamily="34" charset="-120"/>
              </a:rPr>
              <a:t>Trace it with test values, including 0.</a:t>
            </a:r>
            <a:endParaRPr lang="en-US" sz="1500" dirty="0"/>
          </a:p>
        </p:txBody>
      </p:sp>
      <p:sp>
        <p:nvSpPr>
          <p:cNvPr id="31" name="Shape 27"/>
          <p:cNvSpPr/>
          <p:nvPr/>
        </p:nvSpPr>
        <p:spPr>
          <a:xfrm>
            <a:off x="7315200" y="4389120"/>
            <a:ext cx="4325112" cy="1097280"/>
          </a:xfrm>
          <a:prstGeom prst="roundRect">
            <a:avLst>
              <a:gd name="adj" fmla="val 8333"/>
            </a:avLst>
          </a:prstGeom>
          <a:solidFill>
            <a:srgbClr val="2D1215"/>
          </a:solidFill>
          <a:ln w="12700">
            <a:solidFill>
              <a:srgbClr val="2D1215"/>
            </a:solidFill>
            <a:prstDash val="solid"/>
          </a:ln>
        </p:spPr>
      </p:sp>
      <p:sp>
        <p:nvSpPr>
          <p:cNvPr id="32" name="Text 28"/>
          <p:cNvSpPr txBox="1"/>
          <p:nvPr/>
        </p:nvSpPr>
        <p:spPr>
          <a:xfrm>
            <a:off x="7516368" y="4517136"/>
            <a:ext cx="3922776" cy="877824"/>
          </a:xfrm>
          <a:prstGeom prst="rect">
            <a:avLst/>
          </a:prstGeom>
          <a:noFill/>
          <a:ln/>
        </p:spPr>
        <p:txBody>
          <a:bodyPr wrap="square" lIns="0" tIns="0" rIns="0" bIns="0" rtlCol="0" anchor="t"/>
          <a:lstStyle/>
          <a:p>
            <a:pPr indent="0" marL="0">
              <a:buNone/>
            </a:pPr>
            <a:r>
              <a:rPr lang="en-US" sz="1500" b="1" dirty="0">
                <a:solidFill>
                  <a:srgbClr val="FF7B72"/>
                </a:solidFill>
                <a:latin typeface="Calibri" pitchFamily="34" charset="0"/>
                <a:ea typeface="Calibri" pitchFamily="34" charset="-122"/>
                <a:cs typeface="Calibri" pitchFamily="34" charset="-120"/>
              </a:rPr>
              <a:t>Common mistake</a:t>
            </a:r>
            <a:endParaRPr lang="en-US" sz="1600" dirty="0"/>
          </a:p>
          <a:p>
            <a:pPr indent="0" marL="0">
              <a:buNone/>
            </a:pPr>
            <a:r>
              <a:rPr lang="en-US" sz="1500" dirty="0">
                <a:solidFill>
                  <a:srgbClr val="E6EDF3"/>
                </a:solidFill>
                <a:latin typeface="Calibri" pitchFamily="34" charset="0"/>
                <a:ea typeface="Calibri" pitchFamily="34" charset="-122"/>
                <a:cs typeface="Calibri" pitchFamily="34" charset="-120"/>
              </a:rPr>
              <a:t>A decision with one exit or unlabelled arrows. Always two labelled exits.</a:t>
            </a:r>
            <a:endParaRPr lang="en-US" sz="1600" dirty="0"/>
          </a:p>
        </p:txBody>
      </p:sp>
      <p:sp>
        <p:nvSpPr>
          <p:cNvPr id="33" name="Text 29"/>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34" name="Text 30"/>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15</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The problem-solving method</a:t>
            </a:r>
            <a:endParaRPr lang="en-US" sz="3400" dirty="0"/>
          </a:p>
        </p:txBody>
      </p:sp>
      <p:sp>
        <p:nvSpPr>
          <p:cNvPr id="5" name="Shape 2"/>
          <p:cNvSpPr/>
          <p:nvPr/>
        </p:nvSpPr>
        <p:spPr>
          <a:xfrm>
            <a:off x="548640" y="1554480"/>
            <a:ext cx="1645920" cy="1325880"/>
          </a:xfrm>
          <a:prstGeom prst="roundRect">
            <a:avLst>
              <a:gd name="adj" fmla="val 6897"/>
            </a:avLst>
          </a:prstGeom>
          <a:solidFill>
            <a:srgbClr val="161B22"/>
          </a:solidFill>
          <a:ln w="12700">
            <a:solidFill>
              <a:srgbClr val="30363D"/>
            </a:solidFill>
            <a:prstDash val="solid"/>
          </a:ln>
        </p:spPr>
      </p:sp>
      <p:sp>
        <p:nvSpPr>
          <p:cNvPr id="6" name="Shape 3"/>
          <p:cNvSpPr/>
          <p:nvPr/>
        </p:nvSpPr>
        <p:spPr>
          <a:xfrm>
            <a:off x="685800" y="1673352"/>
            <a:ext cx="347472" cy="347472"/>
          </a:xfrm>
          <a:prstGeom prst="ellipse">
            <a:avLst/>
          </a:prstGeom>
          <a:solidFill>
            <a:srgbClr val="58A6FF"/>
          </a:solidFill>
          <a:ln w="12700">
            <a:solidFill>
              <a:srgbClr val="58A6FF"/>
            </a:solidFill>
            <a:prstDash val="solid"/>
          </a:ln>
        </p:spPr>
      </p:sp>
      <p:sp>
        <p:nvSpPr>
          <p:cNvPr id="7" name="Text 4"/>
          <p:cNvSpPr txBox="1"/>
          <p:nvPr/>
        </p:nvSpPr>
        <p:spPr>
          <a:xfrm>
            <a:off x="685800"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685800"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Understand</a:t>
            </a:r>
            <a:endParaRPr lang="en-US" sz="1700" dirty="0"/>
          </a:p>
        </p:txBody>
      </p:sp>
      <p:sp>
        <p:nvSpPr>
          <p:cNvPr id="9" name="Text 6"/>
          <p:cNvSpPr txBox="1"/>
          <p:nvPr/>
        </p:nvSpPr>
        <p:spPr>
          <a:xfrm>
            <a:off x="685800"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input, output, rules</a:t>
            </a:r>
            <a:endParaRPr lang="en-US" sz="1250" dirty="0"/>
          </a:p>
        </p:txBody>
      </p:sp>
      <p:sp>
        <p:nvSpPr>
          <p:cNvPr id="10" name="Shape 7"/>
          <p:cNvSpPr/>
          <p:nvPr/>
        </p:nvSpPr>
        <p:spPr>
          <a:xfrm>
            <a:off x="2212848" y="2212848"/>
            <a:ext cx="210312" cy="0"/>
          </a:xfrm>
          <a:prstGeom prst="line">
            <a:avLst/>
          </a:prstGeom>
          <a:noFill/>
          <a:ln w="22225">
            <a:solidFill>
              <a:srgbClr val="8B949E"/>
            </a:solidFill>
            <a:prstDash val="solid"/>
            <a:tailEnd type="triangle"/>
          </a:ln>
        </p:spPr>
      </p:sp>
      <p:sp>
        <p:nvSpPr>
          <p:cNvPr id="11" name="Shape 8"/>
          <p:cNvSpPr/>
          <p:nvPr/>
        </p:nvSpPr>
        <p:spPr>
          <a:xfrm>
            <a:off x="2441448" y="1554480"/>
            <a:ext cx="1645920" cy="1325880"/>
          </a:xfrm>
          <a:prstGeom prst="roundRect">
            <a:avLst>
              <a:gd name="adj" fmla="val 6897"/>
            </a:avLst>
          </a:prstGeom>
          <a:solidFill>
            <a:srgbClr val="161B22"/>
          </a:solidFill>
          <a:ln w="12700">
            <a:solidFill>
              <a:srgbClr val="30363D"/>
            </a:solidFill>
            <a:prstDash val="solid"/>
          </a:ln>
        </p:spPr>
      </p:sp>
      <p:sp>
        <p:nvSpPr>
          <p:cNvPr id="12" name="Shape 9"/>
          <p:cNvSpPr/>
          <p:nvPr/>
        </p:nvSpPr>
        <p:spPr>
          <a:xfrm>
            <a:off x="2578608" y="1673352"/>
            <a:ext cx="347472" cy="347472"/>
          </a:xfrm>
          <a:prstGeom prst="ellipse">
            <a:avLst/>
          </a:prstGeom>
          <a:solidFill>
            <a:srgbClr val="58A6FF"/>
          </a:solidFill>
          <a:ln w="12700">
            <a:solidFill>
              <a:srgbClr val="58A6FF"/>
            </a:solidFill>
            <a:prstDash val="solid"/>
          </a:ln>
        </p:spPr>
      </p:sp>
      <p:sp>
        <p:nvSpPr>
          <p:cNvPr id="13" name="Text 10"/>
          <p:cNvSpPr txBox="1"/>
          <p:nvPr/>
        </p:nvSpPr>
        <p:spPr>
          <a:xfrm>
            <a:off x="2578608"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2578608"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Examples</a:t>
            </a:r>
            <a:endParaRPr lang="en-US" sz="1700" dirty="0"/>
          </a:p>
        </p:txBody>
      </p:sp>
      <p:sp>
        <p:nvSpPr>
          <p:cNvPr id="15" name="Text 12"/>
          <p:cNvSpPr txBox="1"/>
          <p:nvPr/>
        </p:nvSpPr>
        <p:spPr>
          <a:xfrm>
            <a:off x="2578608"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2–3 cases by hand</a:t>
            </a:r>
            <a:endParaRPr lang="en-US" sz="1250" dirty="0"/>
          </a:p>
        </p:txBody>
      </p:sp>
      <p:sp>
        <p:nvSpPr>
          <p:cNvPr id="16" name="Shape 13"/>
          <p:cNvSpPr/>
          <p:nvPr/>
        </p:nvSpPr>
        <p:spPr>
          <a:xfrm>
            <a:off x="4105656" y="2212848"/>
            <a:ext cx="210312" cy="0"/>
          </a:xfrm>
          <a:prstGeom prst="line">
            <a:avLst/>
          </a:prstGeom>
          <a:noFill/>
          <a:ln w="22225">
            <a:solidFill>
              <a:srgbClr val="8B949E"/>
            </a:solidFill>
            <a:prstDash val="solid"/>
            <a:tailEnd type="triangle"/>
          </a:ln>
        </p:spPr>
      </p:sp>
      <p:sp>
        <p:nvSpPr>
          <p:cNvPr id="17" name="Shape 14"/>
          <p:cNvSpPr/>
          <p:nvPr/>
        </p:nvSpPr>
        <p:spPr>
          <a:xfrm>
            <a:off x="4334256" y="1554480"/>
            <a:ext cx="1645920" cy="1325880"/>
          </a:xfrm>
          <a:prstGeom prst="roundRect">
            <a:avLst>
              <a:gd name="adj" fmla="val 6897"/>
            </a:avLst>
          </a:prstGeom>
          <a:solidFill>
            <a:srgbClr val="161B22"/>
          </a:solidFill>
          <a:ln w="12700">
            <a:solidFill>
              <a:srgbClr val="30363D"/>
            </a:solidFill>
            <a:prstDash val="solid"/>
          </a:ln>
        </p:spPr>
      </p:sp>
      <p:sp>
        <p:nvSpPr>
          <p:cNvPr id="18" name="Shape 15"/>
          <p:cNvSpPr/>
          <p:nvPr/>
        </p:nvSpPr>
        <p:spPr>
          <a:xfrm>
            <a:off x="4471416" y="1673352"/>
            <a:ext cx="347472" cy="347472"/>
          </a:xfrm>
          <a:prstGeom prst="ellipse">
            <a:avLst/>
          </a:prstGeom>
          <a:solidFill>
            <a:srgbClr val="58A6FF"/>
          </a:solidFill>
          <a:ln w="12700">
            <a:solidFill>
              <a:srgbClr val="58A6FF"/>
            </a:solidFill>
            <a:prstDash val="solid"/>
          </a:ln>
        </p:spPr>
      </p:sp>
      <p:sp>
        <p:nvSpPr>
          <p:cNvPr id="19" name="Text 16"/>
          <p:cNvSpPr txBox="1"/>
          <p:nvPr/>
        </p:nvSpPr>
        <p:spPr>
          <a:xfrm>
            <a:off x="4471416"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4471416"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Design</a:t>
            </a:r>
            <a:endParaRPr lang="en-US" sz="1700" dirty="0"/>
          </a:p>
        </p:txBody>
      </p:sp>
      <p:sp>
        <p:nvSpPr>
          <p:cNvPr id="21" name="Text 18"/>
          <p:cNvSpPr txBox="1"/>
          <p:nvPr/>
        </p:nvSpPr>
        <p:spPr>
          <a:xfrm>
            <a:off x="4471416"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pseudocode or flowchart</a:t>
            </a:r>
            <a:endParaRPr lang="en-US" sz="1250" dirty="0"/>
          </a:p>
        </p:txBody>
      </p:sp>
      <p:sp>
        <p:nvSpPr>
          <p:cNvPr id="22" name="Shape 19"/>
          <p:cNvSpPr/>
          <p:nvPr/>
        </p:nvSpPr>
        <p:spPr>
          <a:xfrm>
            <a:off x="5998464" y="2212848"/>
            <a:ext cx="210312" cy="0"/>
          </a:xfrm>
          <a:prstGeom prst="line">
            <a:avLst/>
          </a:prstGeom>
          <a:noFill/>
          <a:ln w="22225">
            <a:solidFill>
              <a:srgbClr val="8B949E"/>
            </a:solidFill>
            <a:prstDash val="solid"/>
            <a:tailEnd type="triangle"/>
          </a:ln>
        </p:spPr>
      </p:sp>
      <p:sp>
        <p:nvSpPr>
          <p:cNvPr id="23" name="Shape 20"/>
          <p:cNvSpPr/>
          <p:nvPr/>
        </p:nvSpPr>
        <p:spPr>
          <a:xfrm>
            <a:off x="6227064" y="1554480"/>
            <a:ext cx="1645920" cy="1325880"/>
          </a:xfrm>
          <a:prstGeom prst="roundRect">
            <a:avLst>
              <a:gd name="adj" fmla="val 6897"/>
            </a:avLst>
          </a:prstGeom>
          <a:solidFill>
            <a:srgbClr val="161B22"/>
          </a:solidFill>
          <a:ln w="12700">
            <a:solidFill>
              <a:srgbClr val="30363D"/>
            </a:solidFill>
            <a:prstDash val="solid"/>
          </a:ln>
        </p:spPr>
      </p:sp>
      <p:sp>
        <p:nvSpPr>
          <p:cNvPr id="24" name="Shape 21"/>
          <p:cNvSpPr/>
          <p:nvPr/>
        </p:nvSpPr>
        <p:spPr>
          <a:xfrm>
            <a:off x="6364224" y="1673352"/>
            <a:ext cx="347472" cy="347472"/>
          </a:xfrm>
          <a:prstGeom prst="ellipse">
            <a:avLst/>
          </a:prstGeom>
          <a:solidFill>
            <a:srgbClr val="58A6FF"/>
          </a:solidFill>
          <a:ln w="12700">
            <a:solidFill>
              <a:srgbClr val="58A6FF"/>
            </a:solidFill>
            <a:prstDash val="solid"/>
          </a:ln>
        </p:spPr>
      </p:sp>
      <p:sp>
        <p:nvSpPr>
          <p:cNvPr id="25" name="Text 22"/>
          <p:cNvSpPr txBox="1"/>
          <p:nvPr/>
        </p:nvSpPr>
        <p:spPr>
          <a:xfrm>
            <a:off x="6364224"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6364224"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Trace</a:t>
            </a:r>
            <a:endParaRPr lang="en-US" sz="1700" dirty="0"/>
          </a:p>
        </p:txBody>
      </p:sp>
      <p:sp>
        <p:nvSpPr>
          <p:cNvPr id="27" name="Text 24"/>
          <p:cNvSpPr txBox="1"/>
          <p:nvPr/>
        </p:nvSpPr>
        <p:spPr>
          <a:xfrm>
            <a:off x="6364224"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trace table</a:t>
            </a:r>
            <a:endParaRPr lang="en-US" sz="1250" dirty="0"/>
          </a:p>
        </p:txBody>
      </p:sp>
      <p:sp>
        <p:nvSpPr>
          <p:cNvPr id="28" name="Shape 25"/>
          <p:cNvSpPr/>
          <p:nvPr/>
        </p:nvSpPr>
        <p:spPr>
          <a:xfrm>
            <a:off x="7891272" y="2212848"/>
            <a:ext cx="210312" cy="0"/>
          </a:xfrm>
          <a:prstGeom prst="line">
            <a:avLst/>
          </a:prstGeom>
          <a:noFill/>
          <a:ln w="22225">
            <a:solidFill>
              <a:srgbClr val="8B949E"/>
            </a:solidFill>
            <a:prstDash val="solid"/>
            <a:tailEnd type="triangle"/>
          </a:ln>
        </p:spPr>
      </p:sp>
      <p:sp>
        <p:nvSpPr>
          <p:cNvPr id="29" name="Shape 26"/>
          <p:cNvSpPr/>
          <p:nvPr/>
        </p:nvSpPr>
        <p:spPr>
          <a:xfrm>
            <a:off x="8119872" y="1554480"/>
            <a:ext cx="1645920" cy="1325880"/>
          </a:xfrm>
          <a:prstGeom prst="roundRect">
            <a:avLst>
              <a:gd name="adj" fmla="val 6897"/>
            </a:avLst>
          </a:prstGeom>
          <a:solidFill>
            <a:srgbClr val="161B22"/>
          </a:solidFill>
          <a:ln w="12700">
            <a:solidFill>
              <a:srgbClr val="30363D"/>
            </a:solidFill>
            <a:prstDash val="solid"/>
          </a:ln>
        </p:spPr>
      </p:sp>
      <p:sp>
        <p:nvSpPr>
          <p:cNvPr id="30" name="Shape 27"/>
          <p:cNvSpPr/>
          <p:nvPr/>
        </p:nvSpPr>
        <p:spPr>
          <a:xfrm>
            <a:off x="8257032" y="1673352"/>
            <a:ext cx="347472" cy="347472"/>
          </a:xfrm>
          <a:prstGeom prst="ellipse">
            <a:avLst/>
          </a:prstGeom>
          <a:solidFill>
            <a:srgbClr val="58A6FF"/>
          </a:solidFill>
          <a:ln w="12700">
            <a:solidFill>
              <a:srgbClr val="58A6FF"/>
            </a:solidFill>
            <a:prstDash val="solid"/>
          </a:ln>
        </p:spPr>
      </p:sp>
      <p:sp>
        <p:nvSpPr>
          <p:cNvPr id="31" name="Text 28"/>
          <p:cNvSpPr txBox="1"/>
          <p:nvPr/>
        </p:nvSpPr>
        <p:spPr>
          <a:xfrm>
            <a:off x="8257032"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5</a:t>
            </a:r>
            <a:endParaRPr lang="en-US" sz="1400" dirty="0"/>
          </a:p>
        </p:txBody>
      </p:sp>
      <p:sp>
        <p:nvSpPr>
          <p:cNvPr id="32" name="Text 29"/>
          <p:cNvSpPr txBox="1"/>
          <p:nvPr/>
        </p:nvSpPr>
        <p:spPr>
          <a:xfrm>
            <a:off x="8257032"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Code</a:t>
            </a:r>
            <a:endParaRPr lang="en-US" sz="1700" dirty="0"/>
          </a:p>
        </p:txBody>
      </p:sp>
      <p:sp>
        <p:nvSpPr>
          <p:cNvPr id="33" name="Text 30"/>
          <p:cNvSpPr txBox="1"/>
          <p:nvPr/>
        </p:nvSpPr>
        <p:spPr>
          <a:xfrm>
            <a:off x="8257032"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translate to C++</a:t>
            </a:r>
            <a:endParaRPr lang="en-US" sz="1250" dirty="0"/>
          </a:p>
        </p:txBody>
      </p:sp>
      <p:sp>
        <p:nvSpPr>
          <p:cNvPr id="34" name="Shape 31"/>
          <p:cNvSpPr/>
          <p:nvPr/>
        </p:nvSpPr>
        <p:spPr>
          <a:xfrm>
            <a:off x="9784080" y="2212848"/>
            <a:ext cx="210312" cy="0"/>
          </a:xfrm>
          <a:prstGeom prst="line">
            <a:avLst/>
          </a:prstGeom>
          <a:noFill/>
          <a:ln w="22225">
            <a:solidFill>
              <a:srgbClr val="8B949E"/>
            </a:solidFill>
            <a:prstDash val="solid"/>
            <a:tailEnd type="triangle"/>
          </a:ln>
        </p:spPr>
      </p:sp>
      <p:sp>
        <p:nvSpPr>
          <p:cNvPr id="35" name="Shape 32"/>
          <p:cNvSpPr/>
          <p:nvPr/>
        </p:nvSpPr>
        <p:spPr>
          <a:xfrm>
            <a:off x="10012680" y="1554480"/>
            <a:ext cx="1645920" cy="1325880"/>
          </a:xfrm>
          <a:prstGeom prst="roundRect">
            <a:avLst>
              <a:gd name="adj" fmla="val 6897"/>
            </a:avLst>
          </a:prstGeom>
          <a:solidFill>
            <a:srgbClr val="12261A"/>
          </a:solidFill>
          <a:ln w="12700">
            <a:solidFill>
              <a:srgbClr val="3FB950"/>
            </a:solidFill>
            <a:prstDash val="solid"/>
          </a:ln>
        </p:spPr>
      </p:sp>
      <p:sp>
        <p:nvSpPr>
          <p:cNvPr id="36" name="Shape 33"/>
          <p:cNvSpPr/>
          <p:nvPr/>
        </p:nvSpPr>
        <p:spPr>
          <a:xfrm>
            <a:off x="10149840" y="1673352"/>
            <a:ext cx="347472" cy="347472"/>
          </a:xfrm>
          <a:prstGeom prst="ellipse">
            <a:avLst/>
          </a:prstGeom>
          <a:solidFill>
            <a:srgbClr val="58A6FF"/>
          </a:solidFill>
          <a:ln w="12700">
            <a:solidFill>
              <a:srgbClr val="58A6FF"/>
            </a:solidFill>
            <a:prstDash val="solid"/>
          </a:ln>
        </p:spPr>
      </p:sp>
      <p:sp>
        <p:nvSpPr>
          <p:cNvPr id="37" name="Text 34"/>
          <p:cNvSpPr txBox="1"/>
          <p:nvPr/>
        </p:nvSpPr>
        <p:spPr>
          <a:xfrm>
            <a:off x="10149840" y="1673352"/>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6</a:t>
            </a:r>
            <a:endParaRPr lang="en-US" sz="1400" dirty="0"/>
          </a:p>
        </p:txBody>
      </p:sp>
      <p:sp>
        <p:nvSpPr>
          <p:cNvPr id="38" name="Text 35"/>
          <p:cNvSpPr txBox="1"/>
          <p:nvPr/>
        </p:nvSpPr>
        <p:spPr>
          <a:xfrm>
            <a:off x="10149840" y="2103120"/>
            <a:ext cx="13716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Test</a:t>
            </a:r>
            <a:endParaRPr lang="en-US" sz="1700" dirty="0"/>
          </a:p>
        </p:txBody>
      </p:sp>
      <p:sp>
        <p:nvSpPr>
          <p:cNvPr id="39" name="Text 36"/>
          <p:cNvSpPr txBox="1"/>
          <p:nvPr/>
        </p:nvSpPr>
        <p:spPr>
          <a:xfrm>
            <a:off x="10149840" y="2450592"/>
            <a:ext cx="1371600" cy="384048"/>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normal, boundary, invalid</a:t>
            </a:r>
            <a:endParaRPr lang="en-US" sz="1250" dirty="0"/>
          </a:p>
        </p:txBody>
      </p:sp>
      <p:sp>
        <p:nvSpPr>
          <p:cNvPr id="40" name="Text 37"/>
          <p:cNvSpPr txBox="1"/>
          <p:nvPr/>
        </p:nvSpPr>
        <p:spPr>
          <a:xfrm>
            <a:off x="548640" y="3246120"/>
            <a:ext cx="5486400" cy="365760"/>
          </a:xfrm>
          <a:prstGeom prst="rect">
            <a:avLst/>
          </a:prstGeom>
          <a:noFill/>
          <a:ln/>
        </p:spPr>
        <p:txBody>
          <a:bodyPr wrap="square" lIns="0" tIns="0" rIns="0" bIns="0" rtlCol="0" anchor="t"/>
          <a:lstStyle/>
          <a:p>
            <a:pPr indent="0" marL="0">
              <a:buNone/>
            </a:pPr>
            <a:r>
              <a:rPr lang="en-US" sz="1700" b="1" dirty="0">
                <a:solidFill>
                  <a:srgbClr val="E6EDF3"/>
                </a:solidFill>
                <a:latin typeface="Calibri" pitchFamily="34" charset="0"/>
                <a:ea typeface="Calibri" pitchFamily="34" charset="-122"/>
                <a:cs typeface="Calibri" pitchFamily="34" charset="-120"/>
              </a:rPr>
              <a:t>Worked example: classify a number</a:t>
            </a:r>
            <a:endParaRPr lang="en-US" sz="1700" dirty="0"/>
          </a:p>
        </p:txBody>
      </p:sp>
      <p:sp>
        <p:nvSpPr>
          <p:cNvPr id="41" name="Shape 38"/>
          <p:cNvSpPr/>
          <p:nvPr/>
        </p:nvSpPr>
        <p:spPr>
          <a:xfrm>
            <a:off x="548640" y="3657600"/>
            <a:ext cx="5394960" cy="2011680"/>
          </a:xfrm>
          <a:prstGeom prst="roundRect">
            <a:avLst>
              <a:gd name="adj" fmla="val 4545"/>
            </a:avLst>
          </a:prstGeom>
          <a:solidFill>
            <a:srgbClr val="0D1117"/>
          </a:solidFill>
          <a:ln w="12700">
            <a:solidFill>
              <a:srgbClr val="30363D"/>
            </a:solidFill>
            <a:prstDash val="solid"/>
          </a:ln>
        </p:spPr>
      </p:sp>
      <p:sp>
        <p:nvSpPr>
          <p:cNvPr id="42" name="Text 39"/>
          <p:cNvSpPr txBox="1"/>
          <p:nvPr/>
        </p:nvSpPr>
        <p:spPr>
          <a:xfrm>
            <a:off x="777240" y="3822192"/>
            <a:ext cx="4937760" cy="1737360"/>
          </a:xfrm>
          <a:prstGeom prst="rect">
            <a:avLst/>
          </a:prstGeom>
          <a:noFill/>
          <a:ln/>
        </p:spPr>
        <p:txBody>
          <a:bodyPr wrap="square" lIns="0" tIns="0" rIns="0" bIns="0" rtlCol="0" anchor="t"/>
          <a:lstStyle/>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INPUT n</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IF n &gt; 0 THEN      OUTPUT "positive"</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ELSE IF n &lt; 0 THEN OUTPUT "negative"</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ELSE               OUTPUT "zero"</a:t>
            </a:r>
            <a:endParaRPr lang="en-US" sz="1400" dirty="0"/>
          </a:p>
          <a:p>
            <a:pPr indent="0" marL="0">
              <a:lnSpc>
                <a:spcPct val="115000"/>
              </a:lnSpc>
              <a:buNone/>
            </a:pPr>
            <a:r>
              <a:rPr lang="en-US" sz="1400" dirty="0">
                <a:solidFill>
                  <a:srgbClr val="E6EDF3"/>
                </a:solidFill>
                <a:latin typeface="Courier New" pitchFamily="34" charset="0"/>
                <a:ea typeface="Courier New" pitchFamily="34" charset="-122"/>
                <a:cs typeface="Courier New" pitchFamily="34" charset="-120"/>
              </a:rPr>
              <a:t>END IF</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45352" y="3657600"/>
          <a:ext cx="5394960" cy="914400"/>
        </p:xfrm>
        <a:graphic>
          <a:graphicData uri="http://schemas.openxmlformats.org/drawingml/2006/table">
            <a:tbl>
              <a:tblPr/>
              <a:tblGrid>
                <a:gridCol w="1371600"/>
                <a:gridCol w="1280160"/>
                <a:gridCol w="2743200"/>
              </a:tblGrid>
              <a:tr h="338328">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Kind</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400" b="1" dirty="0">
                          <a:solidFill>
                            <a:srgbClr val="E6EDF3"/>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r>
              <a:tr h="338328">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Normal</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positive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38328">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Normal</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negative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38328">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Boundary</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zero</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38328">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Boundary</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1, −1</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positive, negative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38328">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Invalid</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abc</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400" dirty="0">
                          <a:solidFill>
                            <a:srgbClr val="ADBAC7"/>
                          </a:solidFill>
                          <a:latin typeface="Calibri" pitchFamily="34" charset="0"/>
                          <a:ea typeface="Calibri" pitchFamily="34" charset="-122"/>
                          <a:cs typeface="Calibri" pitchFamily="34" charset="-120"/>
                        </a:rPr>
                        <a:t>error message</a:t>
                      </a:r>
                      <a:endParaRPr lang="en-US" sz="1400" dirty="0">
                        <a:latin typeface="Calibri" charset="0"/>
                        <a:ea typeface="Calibri" charset="0"/>
                        <a:cs typeface="Calibri" charset="0"/>
                      </a:endParaRPr>
                    </a:p>
                  </a:txBody>
                  <a:tcPr marL="91440" marR="91440" marT="54864" marB="54864"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bl>
          </a:graphicData>
        </a:graphic>
      </p:graphicFrame>
      <p:sp>
        <p:nvSpPr>
          <p:cNvPr id="44" name="Text 40"/>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45" name="Text 41"/>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Recap</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Mistakes to avoid</a:t>
            </a:r>
            <a:endParaRPr lang="en-US" sz="3400" dirty="0"/>
          </a:p>
        </p:txBody>
      </p:sp>
      <p:sp>
        <p:nvSpPr>
          <p:cNvPr id="5" name="Shape 2"/>
          <p:cNvSpPr/>
          <p:nvPr/>
        </p:nvSpPr>
        <p:spPr>
          <a:xfrm>
            <a:off x="548640" y="1600200"/>
            <a:ext cx="3520440" cy="2103120"/>
          </a:xfrm>
          <a:prstGeom prst="roundRect">
            <a:avLst>
              <a:gd name="adj" fmla="val 4348"/>
            </a:avLst>
          </a:prstGeom>
          <a:solidFill>
            <a:srgbClr val="161B22"/>
          </a:solidFill>
          <a:ln w="12700">
            <a:solidFill>
              <a:srgbClr val="30363D"/>
            </a:solidFill>
            <a:prstDash val="solid"/>
          </a:ln>
        </p:spPr>
      </p:sp>
      <p:sp>
        <p:nvSpPr>
          <p:cNvPr id="6" name="Text 3"/>
          <p:cNvSpPr txBox="1"/>
          <p:nvPr/>
        </p:nvSpPr>
        <p:spPr>
          <a:xfrm>
            <a:off x="777240" y="180136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Coding before understanding</a:t>
            </a:r>
            <a:endParaRPr lang="en-US" sz="1700" dirty="0"/>
          </a:p>
        </p:txBody>
      </p:sp>
      <p:sp>
        <p:nvSpPr>
          <p:cNvPr id="7" name="Text 4"/>
          <p:cNvSpPr txBox="1"/>
          <p:nvPr/>
        </p:nvSpPr>
        <p:spPr>
          <a:xfrm>
            <a:off x="777240" y="256032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Define input, output and rules first.</a:t>
            </a:r>
            <a:endParaRPr lang="en-US" sz="1600" dirty="0"/>
          </a:p>
        </p:txBody>
      </p:sp>
      <p:sp>
        <p:nvSpPr>
          <p:cNvPr id="8" name="Shape 5"/>
          <p:cNvSpPr/>
          <p:nvPr/>
        </p:nvSpPr>
        <p:spPr>
          <a:xfrm>
            <a:off x="4297680" y="1600200"/>
            <a:ext cx="3520440" cy="2103120"/>
          </a:xfrm>
          <a:prstGeom prst="roundRect">
            <a:avLst>
              <a:gd name="adj" fmla="val 4348"/>
            </a:avLst>
          </a:prstGeom>
          <a:solidFill>
            <a:srgbClr val="161B22"/>
          </a:solidFill>
          <a:ln w="12700">
            <a:solidFill>
              <a:srgbClr val="30363D"/>
            </a:solidFill>
            <a:prstDash val="solid"/>
          </a:ln>
        </p:spPr>
      </p:sp>
      <p:sp>
        <p:nvSpPr>
          <p:cNvPr id="9" name="Text 6"/>
          <p:cNvSpPr txBox="1"/>
          <p:nvPr/>
        </p:nvSpPr>
        <p:spPr>
          <a:xfrm>
            <a:off x="4526280" y="180136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Vague steps</a:t>
            </a:r>
            <a:endParaRPr lang="en-US" sz="1700" dirty="0"/>
          </a:p>
        </p:txBody>
      </p:sp>
      <p:sp>
        <p:nvSpPr>
          <p:cNvPr id="10" name="Text 7"/>
          <p:cNvSpPr txBox="1"/>
          <p:nvPr/>
        </p:nvSpPr>
        <p:spPr>
          <a:xfrm>
            <a:off x="4526280" y="256032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Every step must be exact enough to code.</a:t>
            </a:r>
            <a:endParaRPr lang="en-US" sz="1600" dirty="0"/>
          </a:p>
        </p:txBody>
      </p:sp>
      <p:sp>
        <p:nvSpPr>
          <p:cNvPr id="11" name="Shape 8"/>
          <p:cNvSpPr/>
          <p:nvPr/>
        </p:nvSpPr>
        <p:spPr>
          <a:xfrm>
            <a:off x="8046720" y="1600200"/>
            <a:ext cx="3520440" cy="2103120"/>
          </a:xfrm>
          <a:prstGeom prst="roundRect">
            <a:avLst>
              <a:gd name="adj" fmla="val 4348"/>
            </a:avLst>
          </a:prstGeom>
          <a:solidFill>
            <a:srgbClr val="161B22"/>
          </a:solidFill>
          <a:ln w="12700">
            <a:solidFill>
              <a:srgbClr val="30363D"/>
            </a:solidFill>
            <a:prstDash val="solid"/>
          </a:ln>
        </p:spPr>
      </p:sp>
      <p:sp>
        <p:nvSpPr>
          <p:cNvPr id="12" name="Text 9"/>
          <p:cNvSpPr txBox="1"/>
          <p:nvPr/>
        </p:nvSpPr>
        <p:spPr>
          <a:xfrm>
            <a:off x="8275320" y="180136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Swapping without temp</a:t>
            </a:r>
            <a:endParaRPr lang="en-US" sz="1700" dirty="0"/>
          </a:p>
        </p:txBody>
      </p:sp>
      <p:sp>
        <p:nvSpPr>
          <p:cNvPr id="13" name="Text 10"/>
          <p:cNvSpPr txBox="1"/>
          <p:nvPr/>
        </p:nvSpPr>
        <p:spPr>
          <a:xfrm>
            <a:off x="8275320" y="256032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Save a value before overwriting it.</a:t>
            </a:r>
            <a:endParaRPr lang="en-US" sz="1600" dirty="0"/>
          </a:p>
        </p:txBody>
      </p:sp>
      <p:sp>
        <p:nvSpPr>
          <p:cNvPr id="14" name="Shape 11"/>
          <p:cNvSpPr/>
          <p:nvPr/>
        </p:nvSpPr>
        <p:spPr>
          <a:xfrm>
            <a:off x="548640" y="3931920"/>
            <a:ext cx="3520440" cy="2103120"/>
          </a:xfrm>
          <a:prstGeom prst="roundRect">
            <a:avLst>
              <a:gd name="adj" fmla="val 4348"/>
            </a:avLst>
          </a:prstGeom>
          <a:solidFill>
            <a:srgbClr val="161B22"/>
          </a:solidFill>
          <a:ln w="12700">
            <a:solidFill>
              <a:srgbClr val="30363D"/>
            </a:solidFill>
            <a:prstDash val="solid"/>
          </a:ln>
        </p:spPr>
      </p:sp>
      <p:sp>
        <p:nvSpPr>
          <p:cNvPr id="15" name="Text 12"/>
          <p:cNvSpPr txBox="1"/>
          <p:nvPr/>
        </p:nvSpPr>
        <p:spPr>
          <a:xfrm>
            <a:off x="777240" y="413308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a + b / 2 for an average</a:t>
            </a:r>
            <a:endParaRPr lang="en-US" sz="1700" dirty="0"/>
          </a:p>
        </p:txBody>
      </p:sp>
      <p:sp>
        <p:nvSpPr>
          <p:cNvPr id="16" name="Text 13"/>
          <p:cNvSpPr txBox="1"/>
          <p:nvPr/>
        </p:nvSpPr>
        <p:spPr>
          <a:xfrm>
            <a:off x="777240" y="489204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Use parentheses: (a + b) / 2.</a:t>
            </a:r>
            <a:endParaRPr lang="en-US" sz="1600" dirty="0"/>
          </a:p>
        </p:txBody>
      </p:sp>
      <p:sp>
        <p:nvSpPr>
          <p:cNvPr id="17" name="Shape 14"/>
          <p:cNvSpPr/>
          <p:nvPr/>
        </p:nvSpPr>
        <p:spPr>
          <a:xfrm>
            <a:off x="4297680" y="3931920"/>
            <a:ext cx="3520440" cy="2103120"/>
          </a:xfrm>
          <a:prstGeom prst="roundRect">
            <a:avLst>
              <a:gd name="adj" fmla="val 4348"/>
            </a:avLst>
          </a:prstGeom>
          <a:solidFill>
            <a:srgbClr val="161B22"/>
          </a:solidFill>
          <a:ln w="12700">
            <a:solidFill>
              <a:srgbClr val="30363D"/>
            </a:solidFill>
            <a:prstDash val="solid"/>
          </a:ln>
        </p:spPr>
      </p:sp>
      <p:sp>
        <p:nvSpPr>
          <p:cNvPr id="18" name="Text 15"/>
          <p:cNvSpPr txBox="1"/>
          <p:nvPr/>
        </p:nvSpPr>
        <p:spPr>
          <a:xfrm>
            <a:off x="4526280" y="413308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Boundary errors</a:t>
            </a:r>
            <a:endParaRPr lang="en-US" sz="1700" dirty="0"/>
          </a:p>
        </p:txBody>
      </p:sp>
      <p:sp>
        <p:nvSpPr>
          <p:cNvPr id="19" name="Text 16"/>
          <p:cNvSpPr txBox="1"/>
          <p:nvPr/>
        </p:nvSpPr>
        <p:spPr>
          <a:xfrm>
            <a:off x="4526280" y="489204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Test both sides: 74 / 75, 39 / 40.</a:t>
            </a:r>
            <a:endParaRPr lang="en-US" sz="1600" dirty="0"/>
          </a:p>
        </p:txBody>
      </p:sp>
      <p:sp>
        <p:nvSpPr>
          <p:cNvPr id="20" name="Shape 17"/>
          <p:cNvSpPr/>
          <p:nvPr/>
        </p:nvSpPr>
        <p:spPr>
          <a:xfrm>
            <a:off x="8046720" y="3931920"/>
            <a:ext cx="3520440" cy="2103120"/>
          </a:xfrm>
          <a:prstGeom prst="roundRect">
            <a:avLst>
              <a:gd name="adj" fmla="val 4348"/>
            </a:avLst>
          </a:prstGeom>
          <a:solidFill>
            <a:srgbClr val="161B22"/>
          </a:solidFill>
          <a:ln w="12700">
            <a:solidFill>
              <a:srgbClr val="30363D"/>
            </a:solidFill>
            <a:prstDash val="solid"/>
          </a:ln>
        </p:spPr>
      </p:sp>
      <p:sp>
        <p:nvSpPr>
          <p:cNvPr id="21" name="Text 18"/>
          <p:cNvSpPr txBox="1"/>
          <p:nvPr/>
        </p:nvSpPr>
        <p:spPr>
          <a:xfrm>
            <a:off x="8275320" y="4133088"/>
            <a:ext cx="3108960" cy="685800"/>
          </a:xfrm>
          <a:prstGeom prst="rect">
            <a:avLst/>
          </a:prstGeom>
          <a:noFill/>
          <a:ln/>
        </p:spPr>
        <p:txBody>
          <a:bodyPr wrap="square" lIns="0" tIns="0" rIns="0" bIns="0" rtlCol="0" anchor="t"/>
          <a:lstStyle/>
          <a:p>
            <a:pPr indent="0" marL="0">
              <a:buNone/>
            </a:pPr>
            <a:r>
              <a:rPr lang="en-US" sz="1700" b="1" dirty="0">
                <a:solidFill>
                  <a:srgbClr val="FF7B72"/>
                </a:solidFill>
                <a:latin typeface="Calibri" pitchFamily="34" charset="0"/>
                <a:ea typeface="Calibri" pitchFamily="34" charset="-122"/>
                <a:cs typeface="Calibri" pitchFamily="34" charset="-120"/>
              </a:rPr>
              <a:t>✗  Infinite or off-by-one loops</a:t>
            </a:r>
            <a:endParaRPr lang="en-US" sz="1700" dirty="0"/>
          </a:p>
        </p:txBody>
      </p:sp>
      <p:sp>
        <p:nvSpPr>
          <p:cNvPr id="22" name="Text 19"/>
          <p:cNvSpPr txBox="1"/>
          <p:nvPr/>
        </p:nvSpPr>
        <p:spPr>
          <a:xfrm>
            <a:off x="8275320" y="4892040"/>
            <a:ext cx="3108960" cy="822960"/>
          </a:xfrm>
          <a:prstGeom prst="rect">
            <a:avLst/>
          </a:prstGeom>
          <a:noFill/>
          <a:ln/>
        </p:spPr>
        <p:txBody>
          <a:bodyPr wrap="square" lIns="0" tIns="0" rIns="0" bIns="0" rtlCol="0" anchor="t"/>
          <a:lstStyle/>
          <a:p>
            <a:pPr indent="0" marL="0">
              <a:buNone/>
            </a:pPr>
            <a:r>
              <a:rPr lang="en-US" sz="1600" dirty="0">
                <a:solidFill>
                  <a:srgbClr val="3FB950"/>
                </a:solidFill>
                <a:latin typeface="Calibri" pitchFamily="34" charset="0"/>
                <a:ea typeface="Calibri" pitchFamily="34" charset="-122"/>
                <a:cs typeface="Calibri" pitchFamily="34" charset="-120"/>
              </a:rPr>
              <a:t>✓  Check the update and the first and last iteration.</a:t>
            </a:r>
            <a:endParaRPr lang="en-US" sz="1600" dirty="0"/>
          </a:p>
        </p:txBody>
      </p:sp>
      <p:sp>
        <p:nvSpPr>
          <p:cNvPr id="23" name="Text 20"/>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24" name="Text 21"/>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92608"/>
          </a:xfrm>
          <a:prstGeom prst="rect">
            <a:avLst/>
          </a:prstGeom>
          <a:noFill/>
          <a:ln/>
        </p:spPr>
        <p:txBody>
          <a:bodyPr wrap="square" lIns="0" tIns="0" rIns="0" bIns="0" rtlCol="0" anchor="t"/>
          <a:lstStyle/>
          <a:p>
            <a:pPr indent="0" marL="0">
              <a:buNone/>
            </a:pPr>
            <a:r>
              <a:rPr lang="en-US" sz="1300" spc="100" kern="0" dirty="0">
                <a:solidFill>
                  <a:srgbClr val="8B949E"/>
                </a:solidFill>
                <a:latin typeface="Calibri" pitchFamily="34" charset="0"/>
                <a:ea typeface="Calibri" pitchFamily="34" charset="-122"/>
                <a:cs typeface="Calibri" pitchFamily="34" charset="-120"/>
              </a:rPr>
              <a:t>Stage 00 · Recap</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F0F6FC"/>
                </a:solidFill>
                <a:latin typeface="Calibri" pitchFamily="34" charset="0"/>
                <a:ea typeface="Calibri" pitchFamily="34" charset="-122"/>
                <a:cs typeface="Calibri" pitchFamily="34" charset="-120"/>
              </a:rPr>
              <a:t>Self-check</a:t>
            </a:r>
            <a:endParaRPr lang="en-US" sz="3400" dirty="0"/>
          </a:p>
        </p:txBody>
      </p:sp>
      <p:sp>
        <p:nvSpPr>
          <p:cNvPr id="5" name="Shape 2"/>
          <p:cNvSpPr/>
          <p:nvPr/>
        </p:nvSpPr>
        <p:spPr>
          <a:xfrm>
            <a:off x="548640" y="1508760"/>
            <a:ext cx="5422392" cy="932688"/>
          </a:xfrm>
          <a:prstGeom prst="roundRect">
            <a:avLst>
              <a:gd name="adj" fmla="val 9804"/>
            </a:avLst>
          </a:prstGeom>
          <a:solidFill>
            <a:srgbClr val="161B22"/>
          </a:solidFill>
          <a:ln w="12700">
            <a:solidFill>
              <a:srgbClr val="30363D"/>
            </a:solidFill>
            <a:prstDash val="solid"/>
          </a:ln>
        </p:spPr>
      </p:sp>
      <p:sp>
        <p:nvSpPr>
          <p:cNvPr id="6" name="Shape 3"/>
          <p:cNvSpPr/>
          <p:nvPr/>
        </p:nvSpPr>
        <p:spPr>
          <a:xfrm>
            <a:off x="749808" y="1773936"/>
            <a:ext cx="402336" cy="402336"/>
          </a:xfrm>
          <a:prstGeom prst="ellipse">
            <a:avLst/>
          </a:prstGeom>
          <a:solidFill>
            <a:srgbClr val="0F2440"/>
          </a:solidFill>
          <a:ln w="12700">
            <a:solidFill>
              <a:srgbClr val="58A6FF"/>
            </a:solidFill>
            <a:prstDash val="solid"/>
          </a:ln>
        </p:spPr>
      </p:sp>
      <p:sp>
        <p:nvSpPr>
          <p:cNvPr id="7" name="Text 4"/>
          <p:cNvSpPr txBox="1"/>
          <p:nvPr/>
        </p:nvSpPr>
        <p:spPr>
          <a:xfrm>
            <a:off x="749808" y="1773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508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What is the difference between an algorithm and a program?</a:t>
            </a:r>
            <a:endParaRPr lang="en-US" sz="1600" dirty="0"/>
          </a:p>
        </p:txBody>
      </p:sp>
      <p:sp>
        <p:nvSpPr>
          <p:cNvPr id="9" name="Shape 6"/>
          <p:cNvSpPr/>
          <p:nvPr/>
        </p:nvSpPr>
        <p:spPr>
          <a:xfrm>
            <a:off x="6217920" y="1508760"/>
            <a:ext cx="5422392" cy="932688"/>
          </a:xfrm>
          <a:prstGeom prst="roundRect">
            <a:avLst>
              <a:gd name="adj" fmla="val 9804"/>
            </a:avLst>
          </a:prstGeom>
          <a:solidFill>
            <a:srgbClr val="161B22"/>
          </a:solidFill>
          <a:ln w="12700">
            <a:solidFill>
              <a:srgbClr val="30363D"/>
            </a:solidFill>
            <a:prstDash val="solid"/>
          </a:ln>
        </p:spPr>
      </p:sp>
      <p:sp>
        <p:nvSpPr>
          <p:cNvPr id="10" name="Shape 7"/>
          <p:cNvSpPr/>
          <p:nvPr/>
        </p:nvSpPr>
        <p:spPr>
          <a:xfrm>
            <a:off x="6419088" y="1773936"/>
            <a:ext cx="402336" cy="402336"/>
          </a:xfrm>
          <a:prstGeom prst="ellipse">
            <a:avLst/>
          </a:prstGeom>
          <a:solidFill>
            <a:srgbClr val="0F2440"/>
          </a:solidFill>
          <a:ln w="12700">
            <a:solidFill>
              <a:srgbClr val="58A6FF"/>
            </a:solidFill>
            <a:prstDash val="solid"/>
          </a:ln>
        </p:spPr>
      </p:sp>
      <p:sp>
        <p:nvSpPr>
          <p:cNvPr id="11" name="Text 8"/>
          <p:cNvSpPr txBox="1"/>
          <p:nvPr/>
        </p:nvSpPr>
        <p:spPr>
          <a:xfrm>
            <a:off x="6419088" y="1773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6995160" y="1508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Name the five properties of an algorithm.</a:t>
            </a:r>
            <a:endParaRPr lang="en-US" sz="1600" dirty="0"/>
          </a:p>
        </p:txBody>
      </p:sp>
      <p:sp>
        <p:nvSpPr>
          <p:cNvPr id="13" name="Shape 10"/>
          <p:cNvSpPr/>
          <p:nvPr/>
        </p:nvSpPr>
        <p:spPr>
          <a:xfrm>
            <a:off x="548640" y="2651760"/>
            <a:ext cx="5422392" cy="932688"/>
          </a:xfrm>
          <a:prstGeom prst="roundRect">
            <a:avLst>
              <a:gd name="adj" fmla="val 9804"/>
            </a:avLst>
          </a:prstGeom>
          <a:solidFill>
            <a:srgbClr val="161B22"/>
          </a:solidFill>
          <a:ln w="12700">
            <a:solidFill>
              <a:srgbClr val="30363D"/>
            </a:solidFill>
            <a:prstDash val="solid"/>
          </a:ln>
        </p:spPr>
      </p:sp>
      <p:sp>
        <p:nvSpPr>
          <p:cNvPr id="14" name="Shape 11"/>
          <p:cNvSpPr/>
          <p:nvPr/>
        </p:nvSpPr>
        <p:spPr>
          <a:xfrm>
            <a:off x="749808" y="2916936"/>
            <a:ext cx="402336" cy="402336"/>
          </a:xfrm>
          <a:prstGeom prst="ellipse">
            <a:avLst/>
          </a:prstGeom>
          <a:solidFill>
            <a:srgbClr val="0F2440"/>
          </a:solidFill>
          <a:ln w="12700">
            <a:solidFill>
              <a:srgbClr val="58A6FF"/>
            </a:solidFill>
            <a:prstDash val="solid"/>
          </a:ln>
        </p:spPr>
      </p:sp>
      <p:sp>
        <p:nvSpPr>
          <p:cNvPr id="15" name="Text 12"/>
          <p:cNvSpPr txBox="1"/>
          <p:nvPr/>
        </p:nvSpPr>
        <p:spPr>
          <a:xfrm>
            <a:off x="749808" y="2916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325880" y="2651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Why does a swap need a temporary variable?</a:t>
            </a:r>
            <a:endParaRPr lang="en-US" sz="1600" dirty="0"/>
          </a:p>
        </p:txBody>
      </p:sp>
      <p:sp>
        <p:nvSpPr>
          <p:cNvPr id="17" name="Shape 14"/>
          <p:cNvSpPr/>
          <p:nvPr/>
        </p:nvSpPr>
        <p:spPr>
          <a:xfrm>
            <a:off x="6217920" y="2651760"/>
            <a:ext cx="5422392" cy="932688"/>
          </a:xfrm>
          <a:prstGeom prst="roundRect">
            <a:avLst>
              <a:gd name="adj" fmla="val 9804"/>
            </a:avLst>
          </a:prstGeom>
          <a:solidFill>
            <a:srgbClr val="161B22"/>
          </a:solidFill>
          <a:ln w="12700">
            <a:solidFill>
              <a:srgbClr val="30363D"/>
            </a:solidFill>
            <a:prstDash val="solid"/>
          </a:ln>
        </p:spPr>
      </p:sp>
      <p:sp>
        <p:nvSpPr>
          <p:cNvPr id="18" name="Shape 15"/>
          <p:cNvSpPr/>
          <p:nvPr/>
        </p:nvSpPr>
        <p:spPr>
          <a:xfrm>
            <a:off x="6419088" y="2916936"/>
            <a:ext cx="402336" cy="402336"/>
          </a:xfrm>
          <a:prstGeom prst="ellipse">
            <a:avLst/>
          </a:prstGeom>
          <a:solidFill>
            <a:srgbClr val="0F2440"/>
          </a:solidFill>
          <a:ln w="12700">
            <a:solidFill>
              <a:srgbClr val="58A6FF"/>
            </a:solidFill>
            <a:prstDash val="solid"/>
          </a:ln>
        </p:spPr>
      </p:sp>
      <p:sp>
        <p:nvSpPr>
          <p:cNvPr id="19" name="Text 16"/>
          <p:cNvSpPr txBox="1"/>
          <p:nvPr/>
        </p:nvSpPr>
        <p:spPr>
          <a:xfrm>
            <a:off x="6419088" y="2916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6995160" y="2651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What is 2 + 3 × 4, and why?</a:t>
            </a:r>
            <a:endParaRPr lang="en-US" sz="1600" dirty="0"/>
          </a:p>
        </p:txBody>
      </p:sp>
      <p:sp>
        <p:nvSpPr>
          <p:cNvPr id="21" name="Shape 18"/>
          <p:cNvSpPr/>
          <p:nvPr/>
        </p:nvSpPr>
        <p:spPr>
          <a:xfrm>
            <a:off x="548640" y="3794760"/>
            <a:ext cx="5422392" cy="932688"/>
          </a:xfrm>
          <a:prstGeom prst="roundRect">
            <a:avLst>
              <a:gd name="adj" fmla="val 9804"/>
            </a:avLst>
          </a:prstGeom>
          <a:solidFill>
            <a:srgbClr val="161B22"/>
          </a:solidFill>
          <a:ln w="12700">
            <a:solidFill>
              <a:srgbClr val="30363D"/>
            </a:solidFill>
            <a:prstDash val="solid"/>
          </a:ln>
        </p:spPr>
      </p:sp>
      <p:sp>
        <p:nvSpPr>
          <p:cNvPr id="22" name="Shape 19"/>
          <p:cNvSpPr/>
          <p:nvPr/>
        </p:nvSpPr>
        <p:spPr>
          <a:xfrm>
            <a:off x="749808" y="4059936"/>
            <a:ext cx="402336" cy="402336"/>
          </a:xfrm>
          <a:prstGeom prst="ellipse">
            <a:avLst/>
          </a:prstGeom>
          <a:solidFill>
            <a:srgbClr val="0F2440"/>
          </a:solidFill>
          <a:ln w="12700">
            <a:solidFill>
              <a:srgbClr val="58A6FF"/>
            </a:solidFill>
            <a:prstDash val="solid"/>
          </a:ln>
        </p:spPr>
      </p:sp>
      <p:sp>
        <p:nvSpPr>
          <p:cNvPr id="23" name="Text 20"/>
          <p:cNvSpPr txBox="1"/>
          <p:nvPr/>
        </p:nvSpPr>
        <p:spPr>
          <a:xfrm>
            <a:off x="749808" y="4059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325880" y="3794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Expression vs statement: what is the difference?</a:t>
            </a:r>
            <a:endParaRPr lang="en-US" sz="1600" dirty="0"/>
          </a:p>
        </p:txBody>
      </p:sp>
      <p:sp>
        <p:nvSpPr>
          <p:cNvPr id="25" name="Shape 22"/>
          <p:cNvSpPr/>
          <p:nvPr/>
        </p:nvSpPr>
        <p:spPr>
          <a:xfrm>
            <a:off x="6217920" y="3794760"/>
            <a:ext cx="5422392" cy="932688"/>
          </a:xfrm>
          <a:prstGeom prst="roundRect">
            <a:avLst>
              <a:gd name="adj" fmla="val 9804"/>
            </a:avLst>
          </a:prstGeom>
          <a:solidFill>
            <a:srgbClr val="161B22"/>
          </a:solidFill>
          <a:ln w="12700">
            <a:solidFill>
              <a:srgbClr val="30363D"/>
            </a:solidFill>
            <a:prstDash val="solid"/>
          </a:ln>
        </p:spPr>
      </p:sp>
      <p:sp>
        <p:nvSpPr>
          <p:cNvPr id="26" name="Shape 23"/>
          <p:cNvSpPr/>
          <p:nvPr/>
        </p:nvSpPr>
        <p:spPr>
          <a:xfrm>
            <a:off x="6419088" y="4059936"/>
            <a:ext cx="402336" cy="402336"/>
          </a:xfrm>
          <a:prstGeom prst="ellipse">
            <a:avLst/>
          </a:prstGeom>
          <a:solidFill>
            <a:srgbClr val="0F2440"/>
          </a:solidFill>
          <a:ln w="12700">
            <a:solidFill>
              <a:srgbClr val="58A6FF"/>
            </a:solidFill>
            <a:prstDash val="solid"/>
          </a:ln>
        </p:spPr>
      </p:sp>
      <p:sp>
        <p:nvSpPr>
          <p:cNvPr id="27" name="Text 24"/>
          <p:cNvSpPr txBox="1"/>
          <p:nvPr/>
        </p:nvSpPr>
        <p:spPr>
          <a:xfrm>
            <a:off x="6419088" y="4059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6995160" y="3794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Why does order matter in an if / else-if chain?</a:t>
            </a:r>
            <a:endParaRPr lang="en-US" sz="1600" dirty="0"/>
          </a:p>
        </p:txBody>
      </p:sp>
      <p:sp>
        <p:nvSpPr>
          <p:cNvPr id="29" name="Shape 26"/>
          <p:cNvSpPr/>
          <p:nvPr/>
        </p:nvSpPr>
        <p:spPr>
          <a:xfrm>
            <a:off x="548640" y="4937760"/>
            <a:ext cx="5422392" cy="932688"/>
          </a:xfrm>
          <a:prstGeom prst="roundRect">
            <a:avLst>
              <a:gd name="adj" fmla="val 9804"/>
            </a:avLst>
          </a:prstGeom>
          <a:solidFill>
            <a:srgbClr val="161B22"/>
          </a:solidFill>
          <a:ln w="12700">
            <a:solidFill>
              <a:srgbClr val="30363D"/>
            </a:solidFill>
            <a:prstDash val="solid"/>
          </a:ln>
        </p:spPr>
      </p:sp>
      <p:sp>
        <p:nvSpPr>
          <p:cNvPr id="30" name="Shape 27"/>
          <p:cNvSpPr/>
          <p:nvPr/>
        </p:nvSpPr>
        <p:spPr>
          <a:xfrm>
            <a:off x="749808" y="5202936"/>
            <a:ext cx="402336" cy="402336"/>
          </a:xfrm>
          <a:prstGeom prst="ellipse">
            <a:avLst/>
          </a:prstGeom>
          <a:solidFill>
            <a:srgbClr val="0F2440"/>
          </a:solidFill>
          <a:ln w="12700">
            <a:solidFill>
              <a:srgbClr val="58A6FF"/>
            </a:solidFill>
            <a:prstDash val="solid"/>
          </a:ln>
        </p:spPr>
      </p:sp>
      <p:sp>
        <p:nvSpPr>
          <p:cNvPr id="31" name="Text 28"/>
          <p:cNvSpPr txBox="1"/>
          <p:nvPr/>
        </p:nvSpPr>
        <p:spPr>
          <a:xfrm>
            <a:off x="749808" y="5202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7</a:t>
            </a:r>
            <a:endParaRPr lang="en-US" sz="1500" dirty="0"/>
          </a:p>
        </p:txBody>
      </p:sp>
      <p:sp>
        <p:nvSpPr>
          <p:cNvPr id="32" name="Text 29"/>
          <p:cNvSpPr txBox="1"/>
          <p:nvPr/>
        </p:nvSpPr>
        <p:spPr>
          <a:xfrm>
            <a:off x="1325880" y="4937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What are the four parts of a loop?</a:t>
            </a:r>
            <a:endParaRPr lang="en-US" sz="1600" dirty="0"/>
          </a:p>
        </p:txBody>
      </p:sp>
      <p:sp>
        <p:nvSpPr>
          <p:cNvPr id="33" name="Shape 30"/>
          <p:cNvSpPr/>
          <p:nvPr/>
        </p:nvSpPr>
        <p:spPr>
          <a:xfrm>
            <a:off x="6217920" y="4937760"/>
            <a:ext cx="5422392" cy="932688"/>
          </a:xfrm>
          <a:prstGeom prst="roundRect">
            <a:avLst>
              <a:gd name="adj" fmla="val 9804"/>
            </a:avLst>
          </a:prstGeom>
          <a:solidFill>
            <a:srgbClr val="161B22"/>
          </a:solidFill>
          <a:ln w="12700">
            <a:solidFill>
              <a:srgbClr val="30363D"/>
            </a:solidFill>
            <a:prstDash val="solid"/>
          </a:ln>
        </p:spPr>
      </p:sp>
      <p:sp>
        <p:nvSpPr>
          <p:cNvPr id="34" name="Shape 31"/>
          <p:cNvSpPr/>
          <p:nvPr/>
        </p:nvSpPr>
        <p:spPr>
          <a:xfrm>
            <a:off x="6419088" y="5202936"/>
            <a:ext cx="402336" cy="402336"/>
          </a:xfrm>
          <a:prstGeom prst="ellipse">
            <a:avLst/>
          </a:prstGeom>
          <a:solidFill>
            <a:srgbClr val="0F2440"/>
          </a:solidFill>
          <a:ln w="12700">
            <a:solidFill>
              <a:srgbClr val="58A6FF"/>
            </a:solidFill>
            <a:prstDash val="solid"/>
          </a:ln>
        </p:spPr>
      </p:sp>
      <p:sp>
        <p:nvSpPr>
          <p:cNvPr id="35" name="Text 32"/>
          <p:cNvSpPr txBox="1"/>
          <p:nvPr/>
        </p:nvSpPr>
        <p:spPr>
          <a:xfrm>
            <a:off x="6419088" y="5202936"/>
            <a:ext cx="402336" cy="402336"/>
          </a:xfrm>
          <a:prstGeom prst="rect">
            <a:avLst/>
          </a:prstGeom>
          <a:noFill/>
          <a:ln/>
        </p:spPr>
        <p:txBody>
          <a:bodyPr wrap="square" lIns="0" tIns="0" rIns="0" bIns="0"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8</a:t>
            </a:r>
            <a:endParaRPr lang="en-US" sz="1500" dirty="0"/>
          </a:p>
        </p:txBody>
      </p:sp>
      <p:sp>
        <p:nvSpPr>
          <p:cNvPr id="36" name="Text 33"/>
          <p:cNvSpPr txBox="1"/>
          <p:nvPr/>
        </p:nvSpPr>
        <p:spPr>
          <a:xfrm>
            <a:off x="6995160" y="4937760"/>
            <a:ext cx="4480560" cy="932688"/>
          </a:xfrm>
          <a:prstGeom prst="rect">
            <a:avLst/>
          </a:prstGeom>
          <a:noFill/>
          <a:ln/>
        </p:spPr>
        <p:txBody>
          <a:bodyPr wrap="square" lIns="0" tIns="0" rIns="0" bIns="0" rtlCol="0" anchor="ctr"/>
          <a:lstStyle/>
          <a:p>
            <a:pPr indent="0" marL="0">
              <a:buNone/>
            </a:pPr>
            <a:r>
              <a:rPr lang="en-US" sz="1600" dirty="0">
                <a:solidFill>
                  <a:srgbClr val="E6EDF3"/>
                </a:solidFill>
                <a:latin typeface="Calibri" pitchFamily="34" charset="0"/>
                <a:ea typeface="Calibri" pitchFamily="34" charset="-122"/>
                <a:cs typeface="Calibri" pitchFamily="34" charset="-120"/>
              </a:rPr>
              <a:t>Which three structures can express any algorithm?</a:t>
            </a:r>
            <a:endParaRPr lang="en-US" sz="1600" dirty="0"/>
          </a:p>
        </p:txBody>
      </p:sp>
      <p:sp>
        <p:nvSpPr>
          <p:cNvPr id="37" name="Text 34"/>
          <p:cNvSpPr txBox="1"/>
          <p:nvPr/>
        </p:nvSpPr>
        <p:spPr>
          <a:xfrm>
            <a:off x="548640" y="6053328"/>
            <a:ext cx="5486400" cy="274320"/>
          </a:xfrm>
          <a:prstGeom prst="rect">
            <a:avLst/>
          </a:prstGeom>
          <a:noFill/>
          <a:ln/>
        </p:spPr>
        <p:txBody>
          <a:bodyPr wrap="square" lIns="0" tIns="0" rIns="0" bIns="0" rtlCol="0" anchor="t"/>
          <a:lstStyle/>
          <a:p>
            <a:pPr indent="0" marL="0">
              <a:buNone/>
            </a:pPr>
            <a:r>
              <a:rPr lang="en-US" sz="1300" dirty="0">
                <a:solidFill>
                  <a:srgbClr val="8B949E"/>
                </a:solidFill>
                <a:latin typeface="Calibri" pitchFamily="34" charset="0"/>
                <a:ea typeface="Calibri" pitchFamily="34" charset="-122"/>
                <a:cs typeface="Calibri" pitchFamily="34" charset="-120"/>
              </a:rPr>
              <a:t>Answers are in the speaker notes.</a:t>
            </a:r>
            <a:endParaRPr lang="en-US" sz="1300" dirty="0"/>
          </a:p>
        </p:txBody>
      </p:sp>
      <p:sp>
        <p:nvSpPr>
          <p:cNvPr id="38" name="Text 35"/>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1100" dirty="0">
                <a:solidFill>
                  <a:srgbClr val="8B949E"/>
                </a:solidFill>
                <a:latin typeface="Calibri" pitchFamily="34" charset="0"/>
                <a:ea typeface="Calibri" pitchFamily="34" charset="-122"/>
                <a:cs typeface="Calibri" pitchFamily="34" charset="-120"/>
              </a:rPr>
              <a:t>C++ From Zero to Advanced · Stage 00</a:t>
            </a:r>
            <a:endParaRPr lang="en-US" sz="1100" dirty="0"/>
          </a:p>
        </p:txBody>
      </p:sp>
      <p:sp>
        <p:nvSpPr>
          <p:cNvPr id="39" name="Text 36"/>
          <p:cNvSpPr txBox="1"/>
          <p:nvPr/>
        </p:nvSpPr>
        <p:spPr>
          <a:xfrm>
            <a:off x="11064240" y="6419088"/>
            <a:ext cx="576072" cy="256032"/>
          </a:xfrm>
          <a:prstGeom prst="rect">
            <a:avLst/>
          </a:prstGeom>
          <a:noFill/>
          <a:ln/>
        </p:spPr>
        <p:txBody>
          <a:bodyPr wrap="square" lIns="0" tIns="0" rIns="0" bIns="0" rtlCol="0" anchor="t"/>
          <a:lstStyle/>
          <a:p>
            <a:pPr algn="r" indent="0" marL="0">
              <a:buNone/>
            </a:pPr>
            <a:r>
              <a:rPr lang="en-US" sz="1100" dirty="0">
                <a:solidFill>
                  <a:srgbClr val="8B949E"/>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731520" y="2011680"/>
            <a:ext cx="7315200" cy="822960"/>
          </a:xfrm>
          <a:prstGeom prst="rect">
            <a:avLst/>
          </a:prstGeom>
          <a:noFill/>
          <a:ln/>
        </p:spPr>
        <p:txBody>
          <a:bodyPr wrap="square" lIns="0" tIns="0" rIns="0" bIns="0" rtlCol="0" anchor="t"/>
          <a:lstStyle/>
          <a:p>
            <a:pPr indent="0" marL="0">
              <a:buNone/>
            </a:pPr>
            <a:r>
              <a:rPr lang="en-US" sz="4400" b="1" dirty="0">
                <a:solidFill>
                  <a:srgbClr val="F0F6FC"/>
                </a:solidFill>
                <a:latin typeface="Calibri" pitchFamily="34" charset="0"/>
                <a:ea typeface="Calibri" pitchFamily="34" charset="-122"/>
                <a:cs typeface="Calibri" pitchFamily="34" charset="-120"/>
              </a:rPr>
              <a:t>Stage 00 complete</a:t>
            </a:r>
            <a:endParaRPr lang="en-US" sz="4400" dirty="0"/>
          </a:p>
        </p:txBody>
      </p:sp>
      <p:sp>
        <p:nvSpPr>
          <p:cNvPr id="3" name="Text 1"/>
          <p:cNvSpPr txBox="1"/>
          <p:nvPr/>
        </p:nvSpPr>
        <p:spPr>
          <a:xfrm>
            <a:off x="731520" y="2926080"/>
            <a:ext cx="8229600" cy="548640"/>
          </a:xfrm>
          <a:prstGeom prst="rect">
            <a:avLst/>
          </a:prstGeom>
          <a:noFill/>
          <a:ln/>
        </p:spPr>
        <p:txBody>
          <a:bodyPr wrap="square" lIns="0" tIns="0" rIns="0" bIns="0" rtlCol="0" anchor="t"/>
          <a:lstStyle/>
          <a:p>
            <a:pPr indent="0" marL="0">
              <a:buNone/>
            </a:pPr>
            <a:r>
              <a:rPr lang="en-US" sz="2200" dirty="0">
                <a:solidFill>
                  <a:srgbClr val="ADBAC7"/>
                </a:solidFill>
                <a:latin typeface="Calibri" pitchFamily="34" charset="0"/>
                <a:ea typeface="Calibri" pitchFamily="34" charset="-122"/>
                <a:cs typeface="Calibri" pitchFamily="34" charset="-120"/>
              </a:rPr>
              <a:t>Think first: understand → design → trace → code → test.</a:t>
            </a:r>
            <a:endParaRPr lang="en-US" sz="2200" dirty="0"/>
          </a:p>
        </p:txBody>
      </p:sp>
      <p:sp>
        <p:nvSpPr>
          <p:cNvPr id="4" name="Shape 2"/>
          <p:cNvSpPr/>
          <p:nvPr/>
        </p:nvSpPr>
        <p:spPr>
          <a:xfrm>
            <a:off x="731520" y="3977640"/>
            <a:ext cx="5120640" cy="1097280"/>
          </a:xfrm>
          <a:prstGeom prst="roundRect">
            <a:avLst>
              <a:gd name="adj" fmla="val 8333"/>
            </a:avLst>
          </a:prstGeom>
          <a:solidFill>
            <a:srgbClr val="161B22"/>
          </a:solidFill>
          <a:ln w="19050">
            <a:solidFill>
              <a:srgbClr val="58A6FF"/>
            </a:solidFill>
            <a:prstDash val="solid"/>
          </a:ln>
        </p:spPr>
      </p:sp>
      <p:sp>
        <p:nvSpPr>
          <p:cNvPr id="5" name="Text 3"/>
          <p:cNvSpPr txBox="1"/>
          <p:nvPr/>
        </p:nvSpPr>
        <p:spPr>
          <a:xfrm>
            <a:off x="1005840" y="4133088"/>
            <a:ext cx="4663440" cy="82296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Next</a:t>
            </a:r>
            <a:endParaRPr lang="en-US" sz="1600" dirty="0"/>
          </a:p>
          <a:p>
            <a:pPr indent="0" marL="0">
              <a:buNone/>
            </a:pPr>
            <a:r>
              <a:rPr lang="en-US" sz="2000" b="1" dirty="0">
                <a:solidFill>
                  <a:srgbClr val="E6EDF3"/>
                </a:solidFill>
                <a:latin typeface="Calibri" pitchFamily="34" charset="0"/>
                <a:ea typeface="Calibri" pitchFamily="34" charset="-122"/>
                <a:cs typeface="Calibri" pitchFamily="34" charset="-120"/>
              </a:rPr>
              <a:t>Stage 01 — C++ Fundamentals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00 — Programming Basics</dc:title>
  <dc:subject>PptxGenJS Presentation</dc:subject>
  <dc:creator>Akash Kendre</dc:creator>
  <cp:lastModifiedBy>Akash Kendre</cp:lastModifiedBy>
  <cp:revision>1</cp:revision>
  <dcterms:created xsi:type="dcterms:W3CDTF">2026-09-25T11:52:08Z</dcterms:created>
  <dcterms:modified xsi:type="dcterms:W3CDTF">2026-09-25T11:52:08Z</dcterms:modified>
</cp:coreProperties>
</file>