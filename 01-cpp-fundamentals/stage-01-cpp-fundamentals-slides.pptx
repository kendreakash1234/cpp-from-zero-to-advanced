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134f31b-a0ed-2199-b254-49d66a0e7601}">
          <p14:sldIdLst>
            <p14:sldId id="256"/>
            <p14:sldId id="257"/>
            <p14:sldId id="258"/>
          </p14:sldIdLst>
        </p14:section>
        <p14:section name="The language and the build" id="{1fb16c09-295b-3843-7624-882c89f4c504}">
          <p14:sldIdLst>
            <p14:sldId id="259"/>
            <p14:sldId id="260"/>
            <p14:sldId id="261"/>
            <p14:sldId id="262"/>
            <p14:sldId id="263"/>
          </p14:sldIdLst>
        </p14:section>
        <p14:section name="Variables and types" id="{81f31b6c-522e-fe18-de04-41cb3604d94f}">
          <p14:sldIdLst>
            <p14:sldId id="264"/>
            <p14:sldId id="265"/>
            <p14:sldId id="266"/>
            <p14:sldId id="267"/>
            <p14:sldId id="268"/>
            <p14:sldId id="269"/>
          </p14:sldIdLst>
        </p14:section>
        <p14:section name="Working with values" id="{ab733ffd-0233-94d1-58f8-c24457a2eec7}">
          <p14:sldIdLst>
            <p14:sldId id="270"/>
            <p14:sldId id="271"/>
            <p14:sldId id="272"/>
            <p14:sldId id="273"/>
            <p14:sldId id="274"/>
            <p14:sldId id="275"/>
          </p14:sldIdLst>
        </p14:section>
        <p14:section name="Scope, input, and tools" id="{928c4d23-d872-921c-8b5e-cad41eba6756}">
          <p14:sldIdLst>
            <p14:sldId id="276"/>
            <p14:sldId id="277"/>
            <p14:sldId id="278"/>
            <p14:sldId id="279"/>
            <p14:sldId id="280"/>
            <p14:sldId id="281"/>
          </p14:sldIdLst>
        </p14:section>
        <p14:section name="Recap" id="{af6e5399-0bfa-ea99-09c2-ef60b39af05f}">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5F7FA"/>
                </a:solidFill>
                <a:latin typeface="+mn-lt"/>
              </a:defRPr>
            </a:pPr>
            <a:r>
              <a:rPr sz="1400" b="0" i="0" u="none" strike="noStrike">
                <a:solidFill>
                  <a:srgbClr val="F5F7FA"/>
                </a:solidFill>
                <a:latin typeface="+mn-lt"/>
              </a:rPr>
              <a:t>sizeof(type) in bytes</a:t>
            </a:r>
          </a:p>
        </c:rich>
      </c:tx>
      <c:layout/>
      <c:overlay val="0"/>
    </c:title>
    <c:autoTitleDeleted val="0"/>
    <c:plotArea>
      <c:layout/>
      <c:barChart>
        <c:barDir val="bar"/>
        <c:grouping val="clustered"/>
        <c:varyColors val="0"/>
        <c:ser>
          <c:idx val="0"/>
          <c:order val="0"/>
          <c:tx>
            <c:strRef>
              <c:f>Sheet1!$B$1</c:f>
              <c:strCache>
                <c:ptCount val="1"/>
                <c:pt idx="0">
                  <c:v>bytes</c:v>
                </c:pt>
              </c:strCache>
            </c:strRef>
          </c:tx>
          <c:spPr>
            <a:solidFill>
              <a:srgbClr val="6CB6FF"/>
            </a:solidFill>
            <a:effectLst/>
          </c:spPr>
          <c:invertIfNegative val="0"/>
          <c:dLbls>
            <c:numFmt formatCode="#,##0" sourceLinked="0"/>
            <c:txPr>
              <a:bodyPr/>
              <a:lstStyle/>
              <a:p>
                <a:pPr>
                  <a:defRPr b="0" i="0" strike="noStrike" sz="1200" u="none">
                    <a:solidFill>
                      <a:srgbClr val="F5F7FA"/>
                    </a:solidFill>
                    <a:latin typeface="+mn-lt"/>
                  </a:defRPr>
                </a:pPr>
              </a:p>
            </c:txPr>
            <c:showLegendKey val="0"/>
            <c:showVal val="1"/>
            <c:showCatName val="0"/>
            <c:showSerName val="0"/>
            <c:showPercent val="0"/>
            <c:showBubbleSize val="0"/>
            <c:showLeaderLines val="0"/>
          </c:dLbls>
          <c:cat>
            <c:multiLvlStrRef>
              <c:f>Sheet1!$A$2:$A$10</c:f>
              <c:multiLvlStrCache>
                <c:ptCount val="9"/>
                <c:lvl>
                  <c:pt idx="0">
                    <c:v>bool</c:v>
                  </c:pt>
                  <c:pt idx="1">
                    <c:v>char</c:v>
                  </c:pt>
                  <c:pt idx="2">
                    <c:v>short</c:v>
                  </c:pt>
                  <c:pt idx="3">
                    <c:v>int</c:v>
                  </c:pt>
                  <c:pt idx="4">
                    <c:v>float</c:v>
                  </c:pt>
                  <c:pt idx="5">
                    <c:v>long</c:v>
                  </c:pt>
                  <c:pt idx="6">
                    <c:v>long long</c:v>
                  </c:pt>
                  <c:pt idx="7">
                    <c:v>double</c:v>
                  </c:pt>
                  <c:pt idx="8">
                    <c:v>long double</c:v>
                  </c:pt>
                </c:lvl>
              </c:multiLvlStrCache>
            </c:multiLvlStrRef>
          </c:cat>
          <c:val>
            <c:numRef>
              <c:f>Sheet1!$B$2:$B$10</c:f>
              <c:numCache>
                <c:formatCode>General</c:formatCode>
                <c:ptCount val="9"/>
                <c:pt idx="0">
                  <c:v>1</c:v>
                </c:pt>
                <c:pt idx="1">
                  <c:v>1</c:v>
                </c:pt>
                <c:pt idx="2">
                  <c:v>2</c:v>
                </c:pt>
                <c:pt idx="3">
                  <c:v>4</c:v>
                </c:pt>
                <c:pt idx="4">
                  <c:v>4</c:v>
                </c:pt>
                <c:pt idx="5">
                  <c:v>8</c:v>
                </c:pt>
                <c:pt idx="6">
                  <c:v>8</c:v>
                </c:pt>
                <c:pt idx="7">
                  <c:v>8</c:v>
                </c:pt>
                <c:pt idx="8">
                  <c:v>16</c:v>
                </c:pt>
              </c:numCache>
            </c:numRef>
          </c:val>
        </c:ser>
        <c:dLbls>
          <c:numFmt formatCode="#,##0" sourceLinked="0"/>
          <c:txPr>
            <a:bodyPr/>
            <a:lstStyle/>
            <a:p>
              <a:pPr>
                <a:defRPr b="0" i="0" strike="noStrike" sz="1200" u="none">
                  <a:solidFill>
                    <a:srgbClr val="F5F7F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A3AFC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01 revision deck. Use it weekly: read each slide, answer the self-check slide out loud, then open the stage guide for any topic that felt shaky. Every result in this deck was produced by compiling and running real code with GCC 13 and -std=c++23 on x86-64 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stage moves from how C++ programs are built, through types and values, to the engineering tools that find bugs: warnings, sanitizers, and library assertions.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cxx is for everyday work. cxxt adds UBSan, float-cast-overflow and libstdc++ assertions for test builds. No single tool catches every bug, which topic 24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started as C with Classes in 1979. It is compiled, statically typed and standardized by ISO. Compared with Python or Java, it gives more control and speed, but undefined behavior exists, as topic 24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main.cpp -o main runs all four steps. Knowing them tells you which step failed: preprocessor (missing header), compiler (syntax and types), assembler (rare), or linker (missing definitions such as a misspelled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 program has exactly one main, returning int. #include is textual copying done by the preprocessor. Relying on a header included indirectly by another header compiles by accident and is not 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std:: explicitly. Send results to std::cout and errors to std::cerr, so output can be redirected separately. Comments explain intent, not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variable is a named object with a type. Brace initialization rejects narrowing conversions at compile time; = and () convert silently. Reading an uninitialized local is undefined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sizes were measured with sizeof on GCC 13, x86-64 Linux (the LP64 data model). On 64-bit Windows (LLP64), long is 4 bytes: never assume long holds 64 bits; use long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 has 24 bits of precision, so 16,777,217 can't be stored: float big{16777217}; is a narrowing error. Two's complement is required since C++20, but signed overflow remains undefined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plain char is signed is implementation-defined. Use unsigned char for raw bytes. char, signed char and unsigned char are three distinct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literal has a type. An unsuffixed integer literal takes the first type that fits: int, then long, then long long. Floating literals are double unless suffixed. String literals end with a hidden null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 narrows silently; braces on assignment reject narrowing, and -Wconversion warns. The compiler reported 7.8 as 7.7999999999999998: the double literal itself is not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 turns 'please don't change this' into a rule the compiler enforces. Make values const by default. std::cin can't read into a const, because extraction needs a modifiable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 is resolved at compile time and costs nothing at run time. Use it when the type is obvious or too long to write; write the type when it carries meaning, such as float for an audio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calculation's type comes from the operands, not from the variable that stores the result. &amp;&amp; and || short-circuit left to right. Signed overflow and integer division by zero are undefined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 to int truncates toward zero and never rounds. char + char is an int (integer promotion). Prefer static_cast over C-style casts: it is restricted, searchable, and states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scopes small and define variables close to first use. -Wshadow=local was added to the cxx alias; GCC reports it as -Wshadow=compatible-local.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&gt;&gt; skips whitespace, reads while characters fit, and leaves the rest in the buffer. That is why 7xyz succeeds once and breaks the next read. Re-asking until valid needs a loop: Stage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Out-of-bounds [] is undefined behavior: it can print a believable value and exit successfully. Use .at() for indexes from outside the program, and build tests with -D_GLIBCXX_ASSERTIONS.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first error, check the line above, read the notes, rebuild after each fix. -Werror turns warnings into a gate; a failed build keeps the old executable, so delete it before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 is a broken promise to the compiler. Use zero warnings plus sanitizer test builds. A sanitizer checks the program the compiler built, not the code you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from Stage 01, remember these ten rules. Each one prevented a real bug in this stage's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compiler only notices at the next token, because the statement could have continued. 2. Braces reject narrowing; = converts silently. 3. long: the literal doesn't fit int, and auto copies the literal's type. 4. -1 is converted to unsigned, a huge value. 5. A failed stream skips every input operation, including ignore(). 6. The compiler folded the expression to true, so no addition existed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02 builds on everything here: conditions use comparison and logical operators, loops use assignment and scope, and the validation loop finally re-asks after a failed std::cin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66160"/>
            <a:ext cx="10698480" cy="12801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bg2"/>
                </a:solidFill>
              </a:rPr>
              <a:t>C++ From Zero to Advanced  ·  Stage 01  ·  C++ Fundamentals</a:t>
            </a:r>
            <a:endParaRPr lang="en-US" sz="10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1463040"/>
            <a:ext cx="100584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C++ FROM ZERO TO ADVANCED  ·  STAGE 01</a:t>
            </a:r>
            <a:endParaRPr lang="en-US" sz="1400" dirty="0"/>
          </a:p>
        </p:txBody>
      </p:sp>
      <p:sp>
        <p:nvSpPr>
          <p:cNvPr id="3" name="Text 0"/>
          <p:cNvSpPr/>
          <p:nvPr>
            <p:ph idx="100" type="title" hasCustomPrompt="1"/>
          </p:nvPr>
        </p:nvSpPr>
        <p:spPr>
          <a:xfrm>
            <a:off x="731520" y="2011680"/>
            <a:ext cx="10698480" cy="1463040"/>
          </a:xfrm>
          <a:prstGeom prst="rect">
            <a:avLst/>
          </a:prstGeom>
          <a:noFill/>
          <a:ln/>
        </p:spPr>
        <p:txBody>
          <a:bodyPr wrap="square" rtlCol="0" anchor="ctr"/>
          <a:lstStyle/>
          <a:p>
            <a:pPr algn="l" indent="0" marL="0">
              <a:buNone/>
            </a:pPr>
            <a:r>
              <a:rPr lang="en-US" sz="5400" b="1" dirty="0">
                <a:solidFill>
                  <a:schemeClr val="bg1"/>
                </a:solidFill>
                <a:latin typeface="Cambria" pitchFamily="34" charset="0"/>
                <a:ea typeface="Cambria" pitchFamily="34" charset="-122"/>
                <a:cs typeface="Cambria" pitchFamily="34" charset="-120"/>
              </a:rPr>
              <a:t>C++ Fundamentals</a:t>
            </a:r>
            <a:endParaRPr lang="en-US" sz="5400" dirty="0"/>
          </a:p>
        </p:txBody>
      </p:sp>
      <p:sp>
        <p:nvSpPr>
          <p:cNvPr id="4" name="Text 0"/>
          <p:cNvSpPr/>
          <p:nvPr>
            <p:ph idx="101" type="body" hasCustomPrompt="1"/>
          </p:nvPr>
        </p:nvSpPr>
        <p:spPr>
          <a:xfrm>
            <a:off x="731520" y="3566160"/>
            <a:ext cx="10698480" cy="914400"/>
          </a:xfrm>
          <a:prstGeom prst="rect">
            <a:avLst/>
          </a:prstGeom>
          <a:noFill/>
          <a:ln/>
        </p:spPr>
        <p:txBody>
          <a:bodyPr wrap="square" rtlCol="0" anchor="t"/>
          <a:lstStyle/>
          <a:p>
            <a:pPr algn="l" indent="0" marL="0">
              <a:buNone/>
            </a:pPr>
            <a:r>
              <a:rPr lang="en-US" sz="2000" dirty="0">
                <a:solidFill>
                  <a:schemeClr val="bg2"/>
                </a:solidFill>
              </a:rPr>
              <a:t>24 topics: the language, the build, types and values, and the habits that catch bugs early</a:t>
            </a:r>
            <a:endParaRPr lang="en-US" sz="2000" dirty="0"/>
          </a:p>
        </p:txBody>
      </p:sp>
      <p:sp>
        <p:nvSpPr>
          <p:cNvPr id="5" name="text-2"/>
          <p:cNvSpPr txBox="1"/>
          <p:nvPr/>
        </p:nvSpPr>
        <p:spPr>
          <a:xfrm>
            <a:off x="731520" y="4754880"/>
            <a:ext cx="23774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24</a:t>
            </a:r>
            <a:endParaRPr lang="en-US" sz="4000" dirty="0"/>
          </a:p>
        </p:txBody>
      </p:sp>
      <p:sp>
        <p:nvSpPr>
          <p:cNvPr id="6" name="text-3"/>
          <p:cNvSpPr txBox="1"/>
          <p:nvPr/>
        </p:nvSpPr>
        <p:spPr>
          <a:xfrm>
            <a:off x="731520" y="5486400"/>
            <a:ext cx="2377440" cy="365760"/>
          </a:xfrm>
          <a:prstGeom prst="rect">
            <a:avLst/>
          </a:prstGeom>
          <a:noFill/>
          <a:ln/>
        </p:spPr>
        <p:txBody>
          <a:bodyPr wrap="square" lIns="0" tIns="0" rIns="0" bIns="0" rtlCol="0" anchor="t"/>
          <a:lstStyle/>
          <a:p>
            <a:pPr indent="0" marL="0">
              <a:buNone/>
            </a:pPr>
            <a:r>
              <a:rPr lang="en-US" sz="1400" dirty="0">
                <a:solidFill>
                  <a:schemeClr val="bg2"/>
                </a:solidFill>
              </a:rPr>
              <a:t>topics</a:t>
            </a:r>
            <a:endParaRPr lang="en-US" sz="1400" dirty="0"/>
          </a:p>
        </p:txBody>
      </p:sp>
      <p:sp>
        <p:nvSpPr>
          <p:cNvPr id="7" name="text-4"/>
          <p:cNvSpPr txBox="1"/>
          <p:nvPr/>
        </p:nvSpPr>
        <p:spPr>
          <a:xfrm>
            <a:off x="3383280" y="4754880"/>
            <a:ext cx="2377440" cy="73152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2</a:t>
            </a:r>
            <a:endParaRPr lang="en-US" sz="4000" dirty="0"/>
          </a:p>
        </p:txBody>
      </p:sp>
      <p:sp>
        <p:nvSpPr>
          <p:cNvPr id="8" name="text-5"/>
          <p:cNvSpPr txBox="1"/>
          <p:nvPr/>
        </p:nvSpPr>
        <p:spPr>
          <a:xfrm>
            <a:off x="3383280" y="5486400"/>
            <a:ext cx="2377440" cy="365760"/>
          </a:xfrm>
          <a:prstGeom prst="rect">
            <a:avLst/>
          </a:prstGeom>
          <a:noFill/>
          <a:ln/>
        </p:spPr>
        <p:txBody>
          <a:bodyPr wrap="square" lIns="0" tIns="0" rIns="0" bIns="0" rtlCol="0" anchor="t"/>
          <a:lstStyle/>
          <a:p>
            <a:pPr indent="0" marL="0">
              <a:buNone/>
            </a:pPr>
            <a:r>
              <a:rPr lang="en-US" sz="1400" dirty="0">
                <a:solidFill>
                  <a:schemeClr val="bg2"/>
                </a:solidFill>
              </a:rPr>
              <a:t>build aliases</a:t>
            </a:r>
            <a:endParaRPr lang="en-US" sz="1400" dirty="0"/>
          </a:p>
        </p:txBody>
      </p:sp>
      <p:sp>
        <p:nvSpPr>
          <p:cNvPr id="9" name="text-6"/>
          <p:cNvSpPr txBox="1"/>
          <p:nvPr/>
        </p:nvSpPr>
        <p:spPr>
          <a:xfrm>
            <a:off x="6035040" y="4754880"/>
            <a:ext cx="2377440" cy="73152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5</a:t>
            </a:r>
            <a:endParaRPr lang="en-US" sz="4000" dirty="0"/>
          </a:p>
        </p:txBody>
      </p:sp>
      <p:sp>
        <p:nvSpPr>
          <p:cNvPr id="10" name="text-7"/>
          <p:cNvSpPr txBox="1"/>
          <p:nvPr/>
        </p:nvSpPr>
        <p:spPr>
          <a:xfrm>
            <a:off x="6035040" y="5486400"/>
            <a:ext cx="2377440" cy="365760"/>
          </a:xfrm>
          <a:prstGeom prst="rect">
            <a:avLst/>
          </a:prstGeom>
          <a:noFill/>
          <a:ln/>
        </p:spPr>
        <p:txBody>
          <a:bodyPr wrap="square" lIns="0" tIns="0" rIns="0" bIns="0" rtlCol="0" anchor="t"/>
          <a:lstStyle/>
          <a:p>
            <a:pPr indent="0" marL="0">
              <a:buNone/>
            </a:pPr>
            <a:r>
              <a:rPr lang="en-US" sz="1400" dirty="0">
                <a:solidFill>
                  <a:schemeClr val="bg2"/>
                </a:solidFill>
              </a:rPr>
              <a:t>UB red flags</a:t>
            </a:r>
            <a:endParaRPr lang="en-US" sz="1400" dirty="0"/>
          </a:p>
        </p:txBody>
      </p:sp>
      <p:sp>
        <p:nvSpPr>
          <p:cNvPr id="11" name="text-8"/>
          <p:cNvSpPr txBox="1"/>
          <p:nvPr/>
        </p:nvSpPr>
        <p:spPr>
          <a:xfrm>
            <a:off x="8686800" y="4754880"/>
            <a:ext cx="2377440" cy="73152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0</a:t>
            </a:r>
            <a:endParaRPr lang="en-US" sz="4000" dirty="0"/>
          </a:p>
        </p:txBody>
      </p:sp>
      <p:sp>
        <p:nvSpPr>
          <p:cNvPr id="12" name="text-9"/>
          <p:cNvSpPr txBox="1"/>
          <p:nvPr/>
        </p:nvSpPr>
        <p:spPr>
          <a:xfrm>
            <a:off x="8686800" y="5486400"/>
            <a:ext cx="2377440" cy="365760"/>
          </a:xfrm>
          <a:prstGeom prst="rect">
            <a:avLst/>
          </a:prstGeom>
          <a:noFill/>
          <a:ln/>
        </p:spPr>
        <p:txBody>
          <a:bodyPr wrap="square" lIns="0" tIns="0" rIns="0" bIns="0" rtlCol="0" anchor="t"/>
          <a:lstStyle/>
          <a:p>
            <a:pPr indent="0" marL="0">
              <a:buNone/>
            </a:pPr>
            <a:r>
              <a:rPr lang="en-US" sz="1400" dirty="0">
                <a:solidFill>
                  <a:schemeClr val="bg2"/>
                </a:solidFill>
              </a:rPr>
              <a:t>warnings allowed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Stage map: four parts, 24 topics</a:t>
            </a:r>
            <a:endParaRPr lang="en-US" sz="3000" dirty="0"/>
          </a:p>
        </p:txBody>
      </p:sp>
      <p:sp>
        <p:nvSpPr>
          <p:cNvPr id="3" name="card-10"/>
          <p:cNvSpPr/>
          <p:nvPr/>
        </p:nvSpPr>
        <p:spPr>
          <a:xfrm>
            <a:off x="548640" y="1325880"/>
            <a:ext cx="2633472" cy="4846320"/>
          </a:xfrm>
          <a:prstGeom prst="roundRect">
            <a:avLst>
              <a:gd name="adj" fmla="val 416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4" name="text-11"/>
          <p:cNvSpPr txBox="1"/>
          <p:nvPr/>
        </p:nvSpPr>
        <p:spPr>
          <a:xfrm>
            <a:off x="777240" y="1508760"/>
            <a:ext cx="2194560" cy="640080"/>
          </a:xfrm>
          <a:prstGeom prst="rect">
            <a:avLst/>
          </a:prstGeom>
          <a:noFill/>
          <a:ln/>
        </p:spPr>
        <p:txBody>
          <a:bodyPr wrap="square" lIns="0" tIns="0" rIns="0" bIns="0" rtlCol="0" anchor="t"/>
          <a:lstStyle/>
          <a:p>
            <a:pPr indent="0" marL="0">
              <a:buNone/>
            </a:pPr>
            <a:r>
              <a:rPr lang="en-US" sz="1600" b="1" dirty="0">
                <a:solidFill>
                  <a:schemeClr val="accent1"/>
                </a:solidFill>
              </a:rPr>
              <a:t>The language and the build</a:t>
            </a:r>
            <a:endParaRPr lang="en-US" sz="1600" dirty="0"/>
          </a:p>
        </p:txBody>
      </p:sp>
      <p:sp>
        <p:nvSpPr>
          <p:cNvPr id="5" name="text-12"/>
          <p:cNvSpPr txBox="1"/>
          <p:nvPr/>
        </p:nvSpPr>
        <p:spPr>
          <a:xfrm>
            <a:off x="777240" y="2240280"/>
            <a:ext cx="2240280" cy="374904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01 What C++ is</a:t>
            </a:r>
            <a:endParaRPr lang="en-US" sz="1400" dirty="0"/>
          </a:p>
          <a:p>
            <a:pPr indent="0" marL="0">
              <a:spcAft>
                <a:spcPts val="600"/>
              </a:spcAft>
              <a:buNone/>
            </a:pPr>
            <a:r>
              <a:rPr lang="en-US" sz="1400" dirty="0">
                <a:solidFill>
                  <a:schemeClr val="bg1"/>
                </a:solidFill>
              </a:rPr>
              <a:t>02 C++ vs other languages</a:t>
            </a:r>
            <a:endParaRPr lang="en-US" sz="1400" dirty="0"/>
          </a:p>
          <a:p>
            <a:pPr indent="0" marL="0">
              <a:spcAft>
                <a:spcPts val="600"/>
              </a:spcAft>
              <a:buNone/>
            </a:pPr>
            <a:r>
              <a:rPr lang="en-US" sz="1400" dirty="0">
                <a:solidFill>
                  <a:schemeClr val="bg1"/>
                </a:solidFill>
              </a:rPr>
              <a:t>03 The build pipeline</a:t>
            </a:r>
            <a:endParaRPr lang="en-US" sz="1400" dirty="0"/>
          </a:p>
          <a:p>
            <a:pPr indent="0" marL="0">
              <a:spcAft>
                <a:spcPts val="600"/>
              </a:spcAft>
              <a:buNone/>
            </a:pPr>
            <a:r>
              <a:rPr lang="en-US" sz="1400" dirty="0">
                <a:solidFill>
                  <a:schemeClr val="bg1"/>
                </a:solidFill>
              </a:rPr>
              <a:t>04 First program</a:t>
            </a:r>
            <a:endParaRPr lang="en-US" sz="1400" dirty="0"/>
          </a:p>
          <a:p>
            <a:pPr indent="0" marL="0">
              <a:spcAft>
                <a:spcPts val="600"/>
              </a:spcAft>
              <a:buNone/>
            </a:pPr>
            <a:r>
              <a:rPr lang="en-US" sz="1400" dirty="0">
                <a:solidFill>
                  <a:schemeClr val="bg1"/>
                </a:solidFill>
              </a:rPr>
              <a:t>05 main()</a:t>
            </a:r>
            <a:endParaRPr lang="en-US" sz="1400" dirty="0"/>
          </a:p>
          <a:p>
            <a:pPr indent="0" marL="0">
              <a:spcAft>
                <a:spcPts val="600"/>
              </a:spcAft>
              <a:buNone/>
            </a:pPr>
            <a:r>
              <a:rPr lang="en-US" sz="1400" dirty="0">
                <a:solidFill>
                  <a:schemeClr val="bg1"/>
                </a:solidFill>
              </a:rPr>
              <a:t>06 #include</a:t>
            </a:r>
            <a:endParaRPr lang="en-US" sz="1400" dirty="0"/>
          </a:p>
          <a:p>
            <a:pPr indent="0" marL="0">
              <a:spcAft>
                <a:spcPts val="600"/>
              </a:spcAft>
              <a:buNone/>
            </a:pPr>
            <a:r>
              <a:rPr lang="en-US" sz="1400" dirty="0">
                <a:solidFill>
                  <a:schemeClr val="bg1"/>
                </a:solidFill>
              </a:rPr>
              <a:t>07 Namespaces and std::</a:t>
            </a:r>
            <a:endParaRPr lang="en-US" sz="1400" dirty="0"/>
          </a:p>
          <a:p>
            <a:pPr indent="0" marL="0">
              <a:spcAft>
                <a:spcPts val="600"/>
              </a:spcAft>
              <a:buNone/>
            </a:pPr>
            <a:r>
              <a:rPr lang="en-US" sz="1400" dirty="0">
                <a:solidFill>
                  <a:schemeClr val="bg1"/>
                </a:solidFill>
              </a:rPr>
              <a:t>08 cout, cerr, cin</a:t>
            </a:r>
            <a:endParaRPr lang="en-US" sz="1400" dirty="0"/>
          </a:p>
          <a:p>
            <a:pPr indent="0" marL="0">
              <a:spcAft>
                <a:spcPts val="600"/>
              </a:spcAft>
              <a:buNone/>
            </a:pPr>
            <a:r>
              <a:rPr lang="en-US" sz="1400" dirty="0">
                <a:solidFill>
                  <a:schemeClr val="bg1"/>
                </a:solidFill>
              </a:rPr>
              <a:t>09 Comments</a:t>
            </a:r>
            <a:endParaRPr lang="en-US" sz="1400" dirty="0"/>
          </a:p>
        </p:txBody>
      </p:sp>
      <p:sp>
        <p:nvSpPr>
          <p:cNvPr id="6" name="card-13"/>
          <p:cNvSpPr/>
          <p:nvPr/>
        </p:nvSpPr>
        <p:spPr>
          <a:xfrm>
            <a:off x="3364992" y="1325880"/>
            <a:ext cx="2633472" cy="4846320"/>
          </a:xfrm>
          <a:prstGeom prst="roundRect">
            <a:avLst>
              <a:gd name="adj" fmla="val 416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7" name="text-14"/>
          <p:cNvSpPr txBox="1"/>
          <p:nvPr/>
        </p:nvSpPr>
        <p:spPr>
          <a:xfrm>
            <a:off x="3593592" y="1508760"/>
            <a:ext cx="2194560" cy="640080"/>
          </a:xfrm>
          <a:prstGeom prst="rect">
            <a:avLst/>
          </a:prstGeom>
          <a:noFill/>
          <a:ln/>
        </p:spPr>
        <p:txBody>
          <a:bodyPr wrap="square" lIns="0" tIns="0" rIns="0" bIns="0" rtlCol="0" anchor="t"/>
          <a:lstStyle/>
          <a:p>
            <a:pPr indent="0" marL="0">
              <a:buNone/>
            </a:pPr>
            <a:r>
              <a:rPr lang="en-US" sz="1600" b="1" dirty="0">
                <a:solidFill>
                  <a:schemeClr val="accent2"/>
                </a:solidFill>
              </a:rPr>
              <a:t>Variables and types</a:t>
            </a:r>
            <a:endParaRPr lang="en-US" sz="1600" dirty="0"/>
          </a:p>
        </p:txBody>
      </p:sp>
      <p:sp>
        <p:nvSpPr>
          <p:cNvPr id="8" name="text-15"/>
          <p:cNvSpPr txBox="1"/>
          <p:nvPr/>
        </p:nvSpPr>
        <p:spPr>
          <a:xfrm>
            <a:off x="3593592" y="2240280"/>
            <a:ext cx="2240280" cy="374904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10 Variables and initialization</a:t>
            </a:r>
            <a:endParaRPr lang="en-US" sz="1400" dirty="0"/>
          </a:p>
          <a:p>
            <a:pPr indent="0" marL="0">
              <a:spcAft>
                <a:spcPts val="600"/>
              </a:spcAft>
              <a:buNone/>
            </a:pPr>
            <a:r>
              <a:rPr lang="en-US" sz="1400" dirty="0">
                <a:solidFill>
                  <a:schemeClr val="bg1"/>
                </a:solidFill>
              </a:rPr>
              <a:t>11 Fundamental types</a:t>
            </a:r>
            <a:endParaRPr lang="en-US" sz="1400" dirty="0"/>
          </a:p>
          <a:p>
            <a:pPr indent="0" marL="0">
              <a:spcAft>
                <a:spcPts val="600"/>
              </a:spcAft>
              <a:buNone/>
            </a:pPr>
            <a:r>
              <a:rPr lang="en-US" sz="1400" dirty="0">
                <a:solidFill>
                  <a:schemeClr val="bg1"/>
                </a:solidFill>
              </a:rPr>
              <a:t>12 Integers and floating-point</a:t>
            </a:r>
            <a:endParaRPr lang="en-US" sz="1400" dirty="0"/>
          </a:p>
          <a:p>
            <a:pPr indent="0" marL="0">
              <a:spcAft>
                <a:spcPts val="600"/>
              </a:spcAft>
              <a:buNone/>
            </a:pPr>
            <a:r>
              <a:rPr lang="en-US" sz="1400" dirty="0">
                <a:solidFill>
                  <a:schemeClr val="bg1"/>
                </a:solidFill>
              </a:rPr>
              <a:t>13 char, bool, void</a:t>
            </a:r>
            <a:endParaRPr lang="en-US" sz="1400" dirty="0"/>
          </a:p>
          <a:p>
            <a:pPr indent="0" marL="0">
              <a:spcAft>
                <a:spcPts val="600"/>
              </a:spcAft>
              <a:buNone/>
            </a:pPr>
            <a:r>
              <a:rPr lang="en-US" sz="1400" dirty="0">
                <a:solidFill>
                  <a:schemeClr val="bg1"/>
                </a:solidFill>
              </a:rPr>
              <a:t>14 Literals</a:t>
            </a:r>
            <a:endParaRPr lang="en-US" sz="1400" dirty="0"/>
          </a:p>
        </p:txBody>
      </p:sp>
      <p:sp>
        <p:nvSpPr>
          <p:cNvPr id="9" name="card-16"/>
          <p:cNvSpPr/>
          <p:nvPr/>
        </p:nvSpPr>
        <p:spPr>
          <a:xfrm>
            <a:off x="6181344" y="1325880"/>
            <a:ext cx="2633472" cy="4846320"/>
          </a:xfrm>
          <a:prstGeom prst="roundRect">
            <a:avLst>
              <a:gd name="adj" fmla="val 416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0" name="text-17"/>
          <p:cNvSpPr txBox="1"/>
          <p:nvPr/>
        </p:nvSpPr>
        <p:spPr>
          <a:xfrm>
            <a:off x="6409944" y="1508760"/>
            <a:ext cx="2194560" cy="640080"/>
          </a:xfrm>
          <a:prstGeom prst="rect">
            <a:avLst/>
          </a:prstGeom>
          <a:noFill/>
          <a:ln/>
        </p:spPr>
        <p:txBody>
          <a:bodyPr wrap="square" lIns="0" tIns="0" rIns="0" bIns="0" rtlCol="0" anchor="t"/>
          <a:lstStyle/>
          <a:p>
            <a:pPr indent="0" marL="0">
              <a:buNone/>
            </a:pPr>
            <a:r>
              <a:rPr lang="en-US" sz="1600" b="1" dirty="0">
                <a:solidFill>
                  <a:schemeClr val="accent3"/>
                </a:solidFill>
              </a:rPr>
              <a:t>Working with values</a:t>
            </a:r>
            <a:endParaRPr lang="en-US" sz="1600" dirty="0"/>
          </a:p>
        </p:txBody>
      </p:sp>
      <p:sp>
        <p:nvSpPr>
          <p:cNvPr id="11" name="text-18"/>
          <p:cNvSpPr txBox="1"/>
          <p:nvPr/>
        </p:nvSpPr>
        <p:spPr>
          <a:xfrm>
            <a:off x="6409944" y="2240280"/>
            <a:ext cx="2240280" cy="374904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15 Assignment</a:t>
            </a:r>
            <a:endParaRPr lang="en-US" sz="1400" dirty="0"/>
          </a:p>
          <a:p>
            <a:pPr indent="0" marL="0">
              <a:spcAft>
                <a:spcPts val="600"/>
              </a:spcAft>
              <a:buNone/>
            </a:pPr>
            <a:r>
              <a:rPr lang="en-US" sz="1400" dirty="0">
                <a:solidFill>
                  <a:schemeClr val="bg1"/>
                </a:solidFill>
              </a:rPr>
              <a:t>16 const</a:t>
            </a:r>
            <a:endParaRPr lang="en-US" sz="1400" dirty="0"/>
          </a:p>
          <a:p>
            <a:pPr indent="0" marL="0">
              <a:spcAft>
                <a:spcPts val="600"/>
              </a:spcAft>
              <a:buNone/>
            </a:pPr>
            <a:r>
              <a:rPr lang="en-US" sz="1400" dirty="0">
                <a:solidFill>
                  <a:schemeClr val="bg1"/>
                </a:solidFill>
              </a:rPr>
              <a:t>17 auto</a:t>
            </a:r>
            <a:endParaRPr lang="en-US" sz="1400" dirty="0"/>
          </a:p>
          <a:p>
            <a:pPr indent="0" marL="0">
              <a:spcAft>
                <a:spcPts val="600"/>
              </a:spcAft>
              <a:buNone/>
            </a:pPr>
            <a:r>
              <a:rPr lang="en-US" sz="1400" dirty="0">
                <a:solidFill>
                  <a:schemeClr val="bg1"/>
                </a:solidFill>
              </a:rPr>
              <a:t>18 Operators</a:t>
            </a:r>
            <a:endParaRPr lang="en-US" sz="1400" dirty="0"/>
          </a:p>
          <a:p>
            <a:pPr indent="0" marL="0">
              <a:spcAft>
                <a:spcPts val="600"/>
              </a:spcAft>
              <a:buNone/>
            </a:pPr>
            <a:r>
              <a:rPr lang="en-US" sz="1400" dirty="0">
                <a:solidFill>
                  <a:schemeClr val="bg1"/>
                </a:solidFill>
              </a:rPr>
              <a:t>19 Conversions and static_cast</a:t>
            </a:r>
            <a:endParaRPr lang="en-US" sz="1400" dirty="0"/>
          </a:p>
        </p:txBody>
      </p:sp>
      <p:sp>
        <p:nvSpPr>
          <p:cNvPr id="12" name="card-19"/>
          <p:cNvSpPr/>
          <p:nvPr/>
        </p:nvSpPr>
        <p:spPr>
          <a:xfrm>
            <a:off x="8997696" y="1325880"/>
            <a:ext cx="2633472" cy="4846320"/>
          </a:xfrm>
          <a:prstGeom prst="roundRect">
            <a:avLst>
              <a:gd name="adj" fmla="val 416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20"/>
          <p:cNvSpPr txBox="1"/>
          <p:nvPr/>
        </p:nvSpPr>
        <p:spPr>
          <a:xfrm>
            <a:off x="9226296" y="1508760"/>
            <a:ext cx="2194560" cy="640080"/>
          </a:xfrm>
          <a:prstGeom prst="rect">
            <a:avLst/>
          </a:prstGeom>
          <a:noFill/>
          <a:ln/>
        </p:spPr>
        <p:txBody>
          <a:bodyPr wrap="square" lIns="0" tIns="0" rIns="0" bIns="0" rtlCol="0" anchor="t"/>
          <a:lstStyle/>
          <a:p>
            <a:pPr indent="0" marL="0">
              <a:buNone/>
            </a:pPr>
            <a:r>
              <a:rPr lang="en-US" sz="1600" b="1" dirty="0">
                <a:solidFill>
                  <a:schemeClr val="accent6"/>
                </a:solidFill>
              </a:rPr>
              <a:t>Scope, input, and tools</a:t>
            </a:r>
            <a:endParaRPr lang="en-US" sz="1600" dirty="0"/>
          </a:p>
        </p:txBody>
      </p:sp>
      <p:sp>
        <p:nvSpPr>
          <p:cNvPr id="14" name="text-21"/>
          <p:cNvSpPr txBox="1"/>
          <p:nvPr/>
        </p:nvSpPr>
        <p:spPr>
          <a:xfrm>
            <a:off x="9226296" y="2240280"/>
            <a:ext cx="2240280" cy="374904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20 Block scope</a:t>
            </a:r>
            <a:endParaRPr lang="en-US" sz="1400" dirty="0"/>
          </a:p>
          <a:p>
            <a:pPr indent="0" marL="0">
              <a:spcAft>
                <a:spcPts val="600"/>
              </a:spcAft>
              <a:buNone/>
            </a:pPr>
            <a:r>
              <a:rPr lang="en-US" sz="1400" dirty="0">
                <a:solidFill>
                  <a:schemeClr val="bg1"/>
                </a:solidFill>
              </a:rPr>
              <a:t>21 Reading input with cin</a:t>
            </a:r>
            <a:endParaRPr lang="en-US" sz="1400" dirty="0"/>
          </a:p>
          <a:p>
            <a:pPr indent="0" marL="0">
              <a:spcAft>
                <a:spcPts val="600"/>
              </a:spcAft>
              <a:buNone/>
            </a:pPr>
            <a:r>
              <a:rPr lang="en-US" sz="1400" dirty="0">
                <a:solidFill>
                  <a:schemeClr val="bg1"/>
                </a:solidFill>
              </a:rPr>
              <a:t>22 string and vector</a:t>
            </a:r>
            <a:endParaRPr lang="en-US" sz="1400" dirty="0"/>
          </a:p>
          <a:p>
            <a:pPr indent="0" marL="0">
              <a:spcAft>
                <a:spcPts val="600"/>
              </a:spcAft>
              <a:buNone/>
            </a:pPr>
            <a:r>
              <a:rPr lang="en-US" sz="1400" dirty="0">
                <a:solidFill>
                  <a:schemeClr val="bg1"/>
                </a:solidFill>
              </a:rPr>
              <a:t>23 Compiler errors and warnings</a:t>
            </a:r>
            <a:endParaRPr lang="en-US" sz="1400" dirty="0"/>
          </a:p>
          <a:p>
            <a:pPr indent="0" marL="0">
              <a:spcAft>
                <a:spcPts val="600"/>
              </a:spcAft>
              <a:buNone/>
            </a:pPr>
            <a:r>
              <a:rPr lang="en-US" sz="1400" dirty="0">
                <a:solidFill>
                  <a:schemeClr val="bg1"/>
                </a:solidFill>
              </a:rPr>
              <a:t>24 Undefined behavior</a:t>
            </a:r>
            <a:endParaRPr lang="en-US" sz="14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The build toolkit: two aliases</a:t>
            </a:r>
            <a:endParaRPr lang="en-US" sz="3000" dirty="0"/>
          </a:p>
        </p:txBody>
      </p:sp>
      <p:sp>
        <p:nvSpPr>
          <p:cNvPr id="3" name="card-22"/>
          <p:cNvSpPr/>
          <p:nvPr/>
        </p:nvSpPr>
        <p:spPr>
          <a:xfrm>
            <a:off x="548640" y="1371600"/>
            <a:ext cx="5440680" cy="3291840"/>
          </a:xfrm>
          <a:prstGeom prst="roundRect">
            <a:avLst>
              <a:gd name="adj" fmla="val 3333"/>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4" name="text-23"/>
          <p:cNvSpPr txBox="1"/>
          <p:nvPr/>
        </p:nvSpPr>
        <p:spPr>
          <a:xfrm>
            <a:off x="868680" y="1600200"/>
            <a:ext cx="2743200" cy="640080"/>
          </a:xfrm>
          <a:prstGeom prst="rect">
            <a:avLst/>
          </a:prstGeom>
          <a:noFill/>
          <a:ln/>
        </p:spPr>
        <p:txBody>
          <a:bodyPr wrap="square" lIns="0" tIns="0" rIns="0" bIns="0" rtlCol="0" anchor="t"/>
          <a:lstStyle/>
          <a:p>
            <a:pPr indent="0" marL="0">
              <a:buNone/>
            </a:pPr>
            <a:r>
              <a:rPr lang="en-US" sz="3400" b="1" dirty="0">
                <a:solidFill>
                  <a:schemeClr val="accent1"/>
                </a:solidFill>
                <a:latin typeface="Courier New" pitchFamily="34" charset="0"/>
                <a:ea typeface="Courier New" pitchFamily="34" charset="-122"/>
                <a:cs typeface="Courier New" pitchFamily="34" charset="-120"/>
              </a:rPr>
              <a:t>cxx</a:t>
            </a:r>
            <a:endParaRPr lang="en-US" sz="3400" dirty="0"/>
          </a:p>
        </p:txBody>
      </p:sp>
      <p:sp>
        <p:nvSpPr>
          <p:cNvPr id="5" name="text-24"/>
          <p:cNvSpPr txBox="1"/>
          <p:nvPr/>
        </p:nvSpPr>
        <p:spPr>
          <a:xfrm>
            <a:off x="868680" y="2286000"/>
            <a:ext cx="4572000" cy="365760"/>
          </a:xfrm>
          <a:prstGeom prst="rect">
            <a:avLst/>
          </a:prstGeom>
          <a:noFill/>
          <a:ln/>
        </p:spPr>
        <p:txBody>
          <a:bodyPr wrap="square" lIns="0" tIns="0" rIns="0" bIns="0" rtlCol="0" anchor="t"/>
          <a:lstStyle/>
          <a:p>
            <a:pPr indent="0" marL="0">
              <a:buNone/>
            </a:pPr>
            <a:r>
              <a:rPr lang="en-US" sz="1600" dirty="0">
                <a:solidFill>
                  <a:schemeClr val="bg2"/>
                </a:solidFill>
              </a:rPr>
              <a:t>Everyday builds</a:t>
            </a:r>
            <a:endParaRPr lang="en-US" sz="1600" dirty="0"/>
          </a:p>
        </p:txBody>
      </p:sp>
      <p:sp>
        <p:nvSpPr>
          <p:cNvPr id="6" name="text-25"/>
          <p:cNvSpPr txBox="1"/>
          <p:nvPr/>
        </p:nvSpPr>
        <p:spPr>
          <a:xfrm>
            <a:off x="868680" y="2788920"/>
            <a:ext cx="4846320" cy="10058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g++ -Wall -Wextra -Wpedantic</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-Wshadow=local -std=c++23</a:t>
            </a:r>
            <a:endParaRPr lang="en-US" sz="1500" dirty="0"/>
          </a:p>
        </p:txBody>
      </p:sp>
      <p:sp>
        <p:nvSpPr>
          <p:cNvPr id="7" name="text-26"/>
          <p:cNvSpPr txBox="1"/>
          <p:nvPr/>
        </p:nvSpPr>
        <p:spPr>
          <a:xfrm>
            <a:off x="868680" y="4023360"/>
            <a:ext cx="4846320" cy="457200"/>
          </a:xfrm>
          <a:prstGeom prst="rect">
            <a:avLst/>
          </a:prstGeom>
          <a:noFill/>
          <a:ln/>
        </p:spPr>
        <p:txBody>
          <a:bodyPr wrap="square" lIns="0" tIns="0" rIns="0" bIns="0" rtlCol="0" anchor="t"/>
          <a:lstStyle/>
          <a:p>
            <a:pPr indent="0" marL="0">
              <a:buNone/>
            </a:pPr>
            <a:r>
              <a:rPr lang="en-US" sz="1500" b="1" dirty="0">
                <a:solidFill>
                  <a:schemeClr val="accent1"/>
                </a:solidFill>
              </a:rPr>
              <a:t>Goal: zero warnings on every build</a:t>
            </a:r>
            <a:endParaRPr lang="en-US" sz="1500" dirty="0"/>
          </a:p>
        </p:txBody>
      </p:sp>
      <p:sp>
        <p:nvSpPr>
          <p:cNvPr id="8" name="card-27"/>
          <p:cNvSpPr/>
          <p:nvPr/>
        </p:nvSpPr>
        <p:spPr>
          <a:xfrm>
            <a:off x="6172200" y="1371600"/>
            <a:ext cx="5440680" cy="3291840"/>
          </a:xfrm>
          <a:prstGeom prst="roundRect">
            <a:avLst>
              <a:gd name="adj" fmla="val 3333"/>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9" name="text-28"/>
          <p:cNvSpPr txBox="1"/>
          <p:nvPr/>
        </p:nvSpPr>
        <p:spPr>
          <a:xfrm>
            <a:off x="6492240" y="1600200"/>
            <a:ext cx="2743200" cy="640080"/>
          </a:xfrm>
          <a:prstGeom prst="rect">
            <a:avLst/>
          </a:prstGeom>
          <a:noFill/>
          <a:ln/>
        </p:spPr>
        <p:txBody>
          <a:bodyPr wrap="square" lIns="0" tIns="0" rIns="0" bIns="0" rtlCol="0" anchor="t"/>
          <a:lstStyle/>
          <a:p>
            <a:pPr indent="0" marL="0">
              <a:buNone/>
            </a:pPr>
            <a:r>
              <a:rPr lang="en-US" sz="3400" b="1" dirty="0">
                <a:solidFill>
                  <a:schemeClr val="accent6"/>
                </a:solidFill>
                <a:latin typeface="Courier New" pitchFamily="34" charset="0"/>
                <a:ea typeface="Courier New" pitchFamily="34" charset="-122"/>
                <a:cs typeface="Courier New" pitchFamily="34" charset="-120"/>
              </a:rPr>
              <a:t>cxxt</a:t>
            </a:r>
            <a:endParaRPr lang="en-US" sz="3400" dirty="0"/>
          </a:p>
        </p:txBody>
      </p:sp>
      <p:sp>
        <p:nvSpPr>
          <p:cNvPr id="10" name="text-29"/>
          <p:cNvSpPr txBox="1"/>
          <p:nvPr/>
        </p:nvSpPr>
        <p:spPr>
          <a:xfrm>
            <a:off x="6492240" y="2286000"/>
            <a:ext cx="4572000" cy="365760"/>
          </a:xfrm>
          <a:prstGeom prst="rect">
            <a:avLst/>
          </a:prstGeom>
          <a:noFill/>
          <a:ln/>
        </p:spPr>
        <p:txBody>
          <a:bodyPr wrap="square" lIns="0" tIns="0" rIns="0" bIns="0" rtlCol="0" anchor="t"/>
          <a:lstStyle/>
          <a:p>
            <a:pPr indent="0" marL="0">
              <a:buNone/>
            </a:pPr>
            <a:r>
              <a:rPr lang="en-US" sz="1600" dirty="0">
                <a:solidFill>
                  <a:schemeClr val="bg2"/>
                </a:solidFill>
              </a:rPr>
              <a:t>Test builds</a:t>
            </a:r>
            <a:endParaRPr lang="en-US" sz="1600" dirty="0"/>
          </a:p>
        </p:txBody>
      </p:sp>
      <p:sp>
        <p:nvSpPr>
          <p:cNvPr id="11" name="text-30"/>
          <p:cNvSpPr txBox="1"/>
          <p:nvPr/>
        </p:nvSpPr>
        <p:spPr>
          <a:xfrm>
            <a:off x="6492240" y="2788920"/>
            <a:ext cx="4846320" cy="100584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cxx -g -fsanitize=undefined,</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float-cast-overflow -D_GLIBCXX_ASSERTIONS</a:t>
            </a:r>
            <a:endParaRPr lang="en-US" sz="1500" dirty="0"/>
          </a:p>
        </p:txBody>
      </p:sp>
      <p:sp>
        <p:nvSpPr>
          <p:cNvPr id="12" name="text-31"/>
          <p:cNvSpPr txBox="1"/>
          <p:nvPr/>
        </p:nvSpPr>
        <p:spPr>
          <a:xfrm>
            <a:off x="6492240" y="4023360"/>
            <a:ext cx="4846320" cy="457200"/>
          </a:xfrm>
          <a:prstGeom prst="rect">
            <a:avLst/>
          </a:prstGeom>
          <a:noFill/>
          <a:ln/>
        </p:spPr>
        <p:txBody>
          <a:bodyPr wrap="square" lIns="0" tIns="0" rIns="0" bIns="0" rtlCol="0" anchor="t"/>
          <a:lstStyle/>
          <a:p>
            <a:pPr indent="0" marL="0">
              <a:buNone/>
            </a:pPr>
            <a:r>
              <a:rPr lang="en-US" sz="1500" b="1" dirty="0">
                <a:solidFill>
                  <a:schemeClr val="accent6"/>
                </a:solidFill>
              </a:rPr>
              <a:t>Goal: undefined behavior reported at run time</a:t>
            </a:r>
            <a:endParaRPr lang="en-US" sz="1500" dirty="0"/>
          </a:p>
        </p:txBody>
      </p:sp>
      <p:sp>
        <p:nvSpPr>
          <p:cNvPr id="13" name="card-32"/>
          <p:cNvSpPr/>
          <p:nvPr/>
        </p:nvSpPr>
        <p:spPr>
          <a:xfrm>
            <a:off x="548640" y="4937760"/>
            <a:ext cx="11064240" cy="1097280"/>
          </a:xfrm>
          <a:prstGeom prst="roundRect">
            <a:avLst>
              <a:gd name="adj" fmla="val 10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4" name="text-33"/>
          <p:cNvSpPr txBox="1"/>
          <p:nvPr/>
        </p:nvSpPr>
        <p:spPr>
          <a:xfrm>
            <a:off x="822960" y="5166360"/>
            <a:ext cx="10515600" cy="731520"/>
          </a:xfrm>
          <a:prstGeom prst="rect">
            <a:avLst/>
          </a:prstGeom>
          <a:noFill/>
          <a:ln/>
        </p:spPr>
        <p:txBody>
          <a:bodyPr wrap="square" lIns="0" tIns="0" rIns="0" bIns="0" rtlCol="0" anchor="t"/>
          <a:lstStyle/>
          <a:p>
            <a:pPr indent="0" marL="0">
              <a:buNone/>
            </a:pPr>
            <a:r>
              <a:rPr lang="en-US" sz="1600" b="1" dirty="0">
                <a:solidFill>
                  <a:schemeClr val="accent3"/>
                </a:solidFill>
              </a:rPr>
              <a:t>Habit  </a:t>
            </a:r>
            <a:pPr indent="0" marL="0">
              <a:buNone/>
            </a:pPr>
            <a:r>
              <a:rPr lang="en-US" sz="1600" dirty="0">
                <a:solidFill>
                  <a:schemeClr val="bg1"/>
                </a:solidFill>
              </a:rPr>
              <a:t>edit → build → run → read the output. A failed build keeps the OLD executable: delete it before testing that a build fails.</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34"/>
          <p:cNvSpPr txBox="1"/>
          <p:nvPr/>
        </p:nvSpPr>
        <p:spPr>
          <a:xfrm>
            <a:off x="731520" y="1920240"/>
            <a:ext cx="100584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PART 1  ·  TOPICS 01–09</a:t>
            </a:r>
            <a:endParaRPr lang="en-US" sz="1400" dirty="0"/>
          </a:p>
        </p:txBody>
      </p:sp>
      <p:sp>
        <p:nvSpPr>
          <p:cNvPr id="3" name="Text 0"/>
          <p:cNvSpPr/>
          <p:nvPr>
            <p:ph idx="100" type="title" hasCustomPrompt="1"/>
          </p:nvPr>
        </p:nvSpPr>
        <p:spPr>
          <a:xfrm>
            <a:off x="731520" y="2377440"/>
            <a:ext cx="10698480" cy="1097280"/>
          </a:xfrm>
          <a:prstGeom prst="rect">
            <a:avLst/>
          </a:prstGeom>
          <a:noFill/>
          <a:ln/>
        </p:spPr>
        <p:txBody>
          <a:bodyPr wrap="square"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The language and the build</a:t>
            </a:r>
            <a:endParaRPr lang="en-US" sz="4400" dirty="0"/>
          </a:p>
        </p:txBody>
      </p:sp>
      <p:sp>
        <p:nvSpPr>
          <p:cNvPr id="4" name="Text 0"/>
          <p:cNvSpPr/>
          <p:nvPr>
            <p:ph idx="101" type="body" hasCustomPrompt="1"/>
          </p:nvPr>
        </p:nvSpPr>
        <p:spPr>
          <a:xfrm>
            <a:off x="731520" y="3566160"/>
            <a:ext cx="10698480" cy="1280160"/>
          </a:xfrm>
          <a:prstGeom prst="rect">
            <a:avLst/>
          </a:prstGeom>
          <a:noFill/>
          <a:ln/>
        </p:spPr>
        <p:txBody>
          <a:bodyPr wrap="square" rtlCol="0" anchor="t"/>
          <a:lstStyle/>
          <a:p>
            <a:pPr algn="l" indent="0" marL="0">
              <a:buNone/>
            </a:pPr>
            <a:r>
              <a:rPr lang="en-US" sz="1800" dirty="0">
                <a:solidFill>
                  <a:schemeClr val="bg2"/>
                </a:solidFill>
              </a:rPr>
              <a:t>What C++ is, how source becomes a program, and the pieces of every program</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 speed and control, with abstractions</a:t>
            </a:r>
            <a:endParaRPr lang="en-US" sz="3000" dirty="0"/>
          </a:p>
        </p:txBody>
      </p:sp>
      <p:sp>
        <p:nvSpPr>
          <p:cNvPr id="3" name="text-35"/>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Topics 01–02</a:t>
            </a:r>
            <a:endParaRPr lang="en-US" sz="1200" dirty="0"/>
          </a:p>
        </p:txBody>
      </p:sp>
      <p:sp>
        <p:nvSpPr>
          <p:cNvPr id="4" name="card-36"/>
          <p:cNvSpPr/>
          <p:nvPr/>
        </p:nvSpPr>
        <p:spPr>
          <a:xfrm>
            <a:off x="548640" y="1371600"/>
            <a:ext cx="5120640" cy="960120"/>
          </a:xfrm>
          <a:prstGeom prst="roundRect">
            <a:avLst>
              <a:gd name="adj" fmla="val 1142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37"/>
          <p:cNvSpPr txBox="1"/>
          <p:nvPr/>
        </p:nvSpPr>
        <p:spPr>
          <a:xfrm>
            <a:off x="822960" y="1508760"/>
            <a:ext cx="4572000" cy="365760"/>
          </a:xfrm>
          <a:prstGeom prst="rect">
            <a:avLst/>
          </a:prstGeom>
          <a:noFill/>
          <a:ln/>
        </p:spPr>
        <p:txBody>
          <a:bodyPr wrap="square" lIns="0" tIns="0" rIns="0" bIns="0" rtlCol="0" anchor="t"/>
          <a:lstStyle/>
          <a:p>
            <a:pPr indent="0" marL="0">
              <a:buNone/>
            </a:pPr>
            <a:r>
              <a:rPr lang="en-US" sz="1800" b="1" dirty="0">
                <a:solidFill>
                  <a:schemeClr val="accent1"/>
                </a:solidFill>
              </a:rPr>
              <a:t>Compiled</a:t>
            </a:r>
            <a:endParaRPr lang="en-US" sz="1800" dirty="0"/>
          </a:p>
        </p:txBody>
      </p:sp>
      <p:sp>
        <p:nvSpPr>
          <p:cNvPr id="6" name="text-38"/>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500" dirty="0">
                <a:solidFill>
                  <a:schemeClr val="bg2"/>
                </a:solidFill>
              </a:rPr>
              <a:t>translated to machine code before it runs</a:t>
            </a:r>
            <a:endParaRPr lang="en-US" sz="1500" dirty="0"/>
          </a:p>
        </p:txBody>
      </p:sp>
      <p:sp>
        <p:nvSpPr>
          <p:cNvPr id="7" name="card-39"/>
          <p:cNvSpPr/>
          <p:nvPr/>
        </p:nvSpPr>
        <p:spPr>
          <a:xfrm>
            <a:off x="548640" y="2514600"/>
            <a:ext cx="5120640" cy="960120"/>
          </a:xfrm>
          <a:prstGeom prst="roundRect">
            <a:avLst>
              <a:gd name="adj" fmla="val 1142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8" name="text-40"/>
          <p:cNvSpPr txBox="1"/>
          <p:nvPr/>
        </p:nvSpPr>
        <p:spPr>
          <a:xfrm>
            <a:off x="822960" y="2651760"/>
            <a:ext cx="4572000" cy="365760"/>
          </a:xfrm>
          <a:prstGeom prst="rect">
            <a:avLst/>
          </a:prstGeom>
          <a:noFill/>
          <a:ln/>
        </p:spPr>
        <p:txBody>
          <a:bodyPr wrap="square" lIns="0" tIns="0" rIns="0" bIns="0" rtlCol="0" anchor="t"/>
          <a:lstStyle/>
          <a:p>
            <a:pPr indent="0" marL="0">
              <a:buNone/>
            </a:pPr>
            <a:r>
              <a:rPr lang="en-US" sz="1800" b="1" dirty="0">
                <a:solidFill>
                  <a:schemeClr val="accent1"/>
                </a:solidFill>
              </a:rPr>
              <a:t>Statically typed</a:t>
            </a:r>
            <a:endParaRPr lang="en-US" sz="1800" dirty="0"/>
          </a:p>
        </p:txBody>
      </p:sp>
      <p:sp>
        <p:nvSpPr>
          <p:cNvPr id="9" name="text-41"/>
          <p:cNvSpPr txBox="1"/>
          <p:nvPr/>
        </p:nvSpPr>
        <p:spPr>
          <a:xfrm>
            <a:off x="822960" y="3017520"/>
            <a:ext cx="4572000" cy="365760"/>
          </a:xfrm>
          <a:prstGeom prst="rect">
            <a:avLst/>
          </a:prstGeom>
          <a:noFill/>
          <a:ln/>
        </p:spPr>
        <p:txBody>
          <a:bodyPr wrap="square" lIns="0" tIns="0" rIns="0" bIns="0" rtlCol="0" anchor="t"/>
          <a:lstStyle/>
          <a:p>
            <a:pPr indent="0" marL="0">
              <a:buNone/>
            </a:pPr>
            <a:r>
              <a:rPr lang="en-US" sz="1500" dirty="0">
                <a:solidFill>
                  <a:schemeClr val="bg2"/>
                </a:solidFill>
              </a:rPr>
              <a:t>every type known at compile time</a:t>
            </a:r>
            <a:endParaRPr lang="en-US" sz="1500" dirty="0"/>
          </a:p>
        </p:txBody>
      </p:sp>
      <p:sp>
        <p:nvSpPr>
          <p:cNvPr id="10" name="card-42"/>
          <p:cNvSpPr/>
          <p:nvPr/>
        </p:nvSpPr>
        <p:spPr>
          <a:xfrm>
            <a:off x="548640" y="3657600"/>
            <a:ext cx="5120640" cy="960120"/>
          </a:xfrm>
          <a:prstGeom prst="roundRect">
            <a:avLst>
              <a:gd name="adj" fmla="val 1142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1" name="text-43"/>
          <p:cNvSpPr txBox="1"/>
          <p:nvPr/>
        </p:nvSpPr>
        <p:spPr>
          <a:xfrm>
            <a:off x="822960" y="3794760"/>
            <a:ext cx="4572000" cy="365760"/>
          </a:xfrm>
          <a:prstGeom prst="rect">
            <a:avLst/>
          </a:prstGeom>
          <a:noFill/>
          <a:ln/>
        </p:spPr>
        <p:txBody>
          <a:bodyPr wrap="square" lIns="0" tIns="0" rIns="0" bIns="0" rtlCol="0" anchor="t"/>
          <a:lstStyle/>
          <a:p>
            <a:pPr indent="0" marL="0">
              <a:buNone/>
            </a:pPr>
            <a:r>
              <a:rPr lang="en-US" sz="1800" b="1" dirty="0">
                <a:solidFill>
                  <a:schemeClr val="accent1"/>
                </a:solidFill>
              </a:rPr>
              <a:t>Zero-overhead</a:t>
            </a:r>
            <a:endParaRPr lang="en-US" sz="1800" dirty="0"/>
          </a:p>
        </p:txBody>
      </p:sp>
      <p:sp>
        <p:nvSpPr>
          <p:cNvPr id="12" name="text-44"/>
          <p:cNvSpPr txBox="1"/>
          <p:nvPr/>
        </p:nvSpPr>
        <p:spPr>
          <a:xfrm>
            <a:off x="822960" y="4160520"/>
            <a:ext cx="4572000" cy="365760"/>
          </a:xfrm>
          <a:prstGeom prst="rect">
            <a:avLst/>
          </a:prstGeom>
          <a:noFill/>
          <a:ln/>
        </p:spPr>
        <p:txBody>
          <a:bodyPr wrap="square" lIns="0" tIns="0" rIns="0" bIns="0" rtlCol="0" anchor="t"/>
          <a:lstStyle/>
          <a:p>
            <a:pPr indent="0" marL="0">
              <a:buNone/>
            </a:pPr>
            <a:r>
              <a:rPr lang="en-US" sz="1500" dirty="0">
                <a:solidFill>
                  <a:schemeClr val="bg2"/>
                </a:solidFill>
              </a:rPr>
              <a:t>you don't pay for what you don't use</a:t>
            </a:r>
            <a:endParaRPr lang="en-US" sz="1500" dirty="0"/>
          </a:p>
        </p:txBody>
      </p:sp>
      <p:sp>
        <p:nvSpPr>
          <p:cNvPr id="13" name="card-45"/>
          <p:cNvSpPr/>
          <p:nvPr/>
        </p:nvSpPr>
        <p:spPr>
          <a:xfrm>
            <a:off x="548640" y="4800600"/>
            <a:ext cx="5120640" cy="960120"/>
          </a:xfrm>
          <a:prstGeom prst="roundRect">
            <a:avLst>
              <a:gd name="adj" fmla="val 1142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4" name="text-46"/>
          <p:cNvSpPr txBox="1"/>
          <p:nvPr/>
        </p:nvSpPr>
        <p:spPr>
          <a:xfrm>
            <a:off x="822960" y="4937760"/>
            <a:ext cx="4572000" cy="365760"/>
          </a:xfrm>
          <a:prstGeom prst="rect">
            <a:avLst/>
          </a:prstGeom>
          <a:noFill/>
          <a:ln/>
        </p:spPr>
        <p:txBody>
          <a:bodyPr wrap="square" lIns="0" tIns="0" rIns="0" bIns="0" rtlCol="0" anchor="t"/>
          <a:lstStyle/>
          <a:p>
            <a:pPr indent="0" marL="0">
              <a:buNone/>
            </a:pPr>
            <a:r>
              <a:rPr lang="en-US" sz="1800" b="1" dirty="0">
                <a:solidFill>
                  <a:schemeClr val="accent1"/>
                </a:solidFill>
              </a:rPr>
              <a:t>Standardized</a:t>
            </a:r>
            <a:endParaRPr lang="en-US" sz="1800" dirty="0"/>
          </a:p>
        </p:txBody>
      </p:sp>
      <p:sp>
        <p:nvSpPr>
          <p:cNvPr id="15" name="text-47"/>
          <p:cNvSpPr txBox="1"/>
          <p:nvPr/>
        </p:nvSpPr>
        <p:spPr>
          <a:xfrm>
            <a:off x="822960" y="5303520"/>
            <a:ext cx="4572000" cy="365760"/>
          </a:xfrm>
          <a:prstGeom prst="rect">
            <a:avLst/>
          </a:prstGeom>
          <a:noFill/>
          <a:ln/>
        </p:spPr>
        <p:txBody>
          <a:bodyPr wrap="square" lIns="0" tIns="0" rIns="0" bIns="0" rtlCol="0" anchor="t"/>
          <a:lstStyle/>
          <a:p>
            <a:pPr indent="0" marL="0">
              <a:buNone/>
            </a:pPr>
            <a:r>
              <a:rPr lang="en-US" sz="1500" dirty="0">
                <a:solidFill>
                  <a:schemeClr val="bg2"/>
                </a:solidFill>
              </a:rPr>
              <a:t>ISO C++: GCC, Clang, MSVC follow one spec</a:t>
            </a:r>
            <a:endParaRPr lang="en-US" sz="1500" dirty="0"/>
          </a:p>
        </p:txBody>
      </p:sp>
      <p:graphicFrame>
        <p:nvGraphicFramePr>
          <p:cNvPr id="6" name="table-48"/>
          <p:cNvGraphicFramePr>
            <a:graphicFrameLocks noGrp="1"/>
          </p:cNvGraphicFramePr>
          <p:nvPr>
            <p:extLst>
              <p:ext uri="{D42A27DB-BD31-4B8C-83A1-F6EECF244321}">
                <p14:modId xmlns:p14="http://schemas.microsoft.com/office/powerpoint/2010/main" val="1579011935"/>
              </p:ext>
            </p:extLst>
          </p:nvPr>
        </p:nvGraphicFramePr>
        <p:xfrm>
          <a:off x="5943600" y="1371600"/>
          <a:ext cx="5669280" cy="914400"/>
        </p:xfrm>
        <a:graphic>
          <a:graphicData uri="http://schemas.openxmlformats.org/drawingml/2006/table">
            <a:tbl>
              <a:tblPr/>
              <a:tblGrid>
                <a:gridCol w="1554480"/>
                <a:gridCol w="1280160"/>
                <a:gridCol w="1463040"/>
                <a:gridCol w="1371600"/>
              </a:tblGrid>
              <a:tr h="566928">
                <a:tc>
                  <a:txBody>
                    <a:bodyPr/>
                    <a:lstStyle/>
                    <a:p>
                      <a:pPr indent="0" marL="0">
                        <a:buNone/>
                      </a:pP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rPr>
                        <a:t>C</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rPr>
                        <a:t>C++</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rPr>
                        <a:t>Python / Java</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bg1"/>
                          </a:solidFill>
                        </a:rPr>
                        <a:t>Runs as</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rPr>
                        <a:t>machine code</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1"/>
                          </a:solidFill>
                        </a:rPr>
                        <a:t>machine code</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rPr>
                        <a:t>interpreter / VM</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bg1"/>
                          </a:solidFill>
                        </a:rPr>
                        <a:t>Memory</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manual</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1"/>
                          </a:solidFill>
                        </a:rPr>
                        <a:t>RAII + manual</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garbage collected</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bg1"/>
                          </a:solidFill>
                        </a:rPr>
                        <a:t>Abstractions</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rPr>
                        <a:t>few</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1"/>
                          </a:solidFill>
                        </a:rPr>
                        <a:t>classes, templates</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rPr>
                        <a:t>rich, runtime cost</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bg1"/>
                          </a:solidFill>
                        </a:rPr>
                        <a:t>Undefined behavior</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yes</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1"/>
                          </a:solidFill>
                        </a:rPr>
                        <a:t>yes</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mostly no</a:t>
                      </a:r>
                      <a:endParaRPr lang="en-US" sz="1400" dirty="0"/>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bl>
          </a:graphicData>
        </a:graphic>
      </p:graphicFrame>
      <p:sp>
        <p:nvSpPr>
          <p:cNvPr id="17" name="text-49"/>
          <p:cNvSpPr txBox="1"/>
          <p:nvPr/>
        </p:nvSpPr>
        <p:spPr>
          <a:xfrm>
            <a:off x="5943600" y="4572000"/>
            <a:ext cx="5669280" cy="1097280"/>
          </a:xfrm>
          <a:prstGeom prst="rect">
            <a:avLst/>
          </a:prstGeom>
          <a:noFill/>
          <a:ln/>
        </p:spPr>
        <p:txBody>
          <a:bodyPr wrap="square" lIns="0" tIns="0" rIns="0" bIns="0" rtlCol="0" anchor="t"/>
          <a:lstStyle/>
          <a:p>
            <a:pPr indent="0" marL="0">
              <a:buNone/>
            </a:pPr>
            <a:r>
              <a:rPr lang="en-US" sz="1500" i="1" dirty="0">
                <a:solidFill>
                  <a:schemeClr val="bg2"/>
                </a:solidFill>
              </a:rPr>
              <a:t>C++ keeps C's performance and adds abstractions with no run-time cost. The price: the language trusts you.</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From main.cpp to an executable</a:t>
            </a:r>
            <a:endParaRPr lang="en-US" sz="3000" dirty="0"/>
          </a:p>
        </p:txBody>
      </p:sp>
      <p:sp>
        <p:nvSpPr>
          <p:cNvPr id="3" name="text-50"/>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03</a:t>
            </a:r>
            <a:endParaRPr lang="en-US" sz="1200" dirty="0"/>
          </a:p>
        </p:txBody>
      </p:sp>
      <p:sp>
        <p:nvSpPr>
          <p:cNvPr id="4" name="card-51"/>
          <p:cNvSpPr/>
          <p:nvPr/>
        </p:nvSpPr>
        <p:spPr>
          <a:xfrm>
            <a:off x="548640" y="1463040"/>
            <a:ext cx="2514600" cy="2834640"/>
          </a:xfrm>
          <a:prstGeom prst="roundRect">
            <a:avLst>
              <a:gd name="adj" fmla="val 4364"/>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badge-52"/>
          <p:cNvSpPr/>
          <p:nvPr/>
        </p:nvSpPr>
        <p:spPr>
          <a:xfrm>
            <a:off x="777240" y="1691640"/>
            <a:ext cx="457200" cy="457200"/>
          </a:xfrm>
          <a:prstGeom prst="ellipse">
            <a:avLst/>
          </a:prstGeom>
          <a:solidFill>
            <a:schemeClr val="accent1"/>
          </a:solidFill>
          <a:ln w="12700">
            <a:solidFill>
              <a:schemeClr val="accent1"/>
            </a:solidFill>
            <a:prstDash val="solid"/>
          </a:ln>
        </p:spPr>
      </p:sp>
      <p:sp>
        <p:nvSpPr>
          <p:cNvPr id="6" name="text-53"/>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text-54"/>
          <p:cNvSpPr txBox="1"/>
          <p:nvPr/>
        </p:nvSpPr>
        <p:spPr>
          <a:xfrm>
            <a:off x="1371600" y="1719072"/>
            <a:ext cx="1645920" cy="411480"/>
          </a:xfrm>
          <a:prstGeom prst="rect">
            <a:avLst/>
          </a:prstGeom>
          <a:noFill/>
          <a:ln/>
        </p:spPr>
        <p:txBody>
          <a:bodyPr wrap="square" lIns="0" tIns="0" rIns="0" bIns="0" rtlCol="0" anchor="t"/>
          <a:lstStyle/>
          <a:p>
            <a:pPr indent="0" marL="0">
              <a:buNone/>
            </a:pPr>
            <a:r>
              <a:rPr lang="en-US" sz="1900" b="1" dirty="0">
                <a:solidFill>
                  <a:schemeClr val="bg1"/>
                </a:solidFill>
              </a:rPr>
              <a:t>Preprocess</a:t>
            </a:r>
            <a:endParaRPr lang="en-US" sz="1900" dirty="0"/>
          </a:p>
        </p:txBody>
      </p:sp>
      <p:sp>
        <p:nvSpPr>
          <p:cNvPr id="8" name="text-55"/>
          <p:cNvSpPr txBox="1"/>
          <p:nvPr/>
        </p:nvSpPr>
        <p:spPr>
          <a:xfrm>
            <a:off x="777240" y="2377440"/>
            <a:ext cx="2194560" cy="36576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main.cpp → main.ii</a:t>
            </a:r>
            <a:endParaRPr lang="en-US" sz="1400" dirty="0"/>
          </a:p>
        </p:txBody>
      </p:sp>
      <p:sp>
        <p:nvSpPr>
          <p:cNvPr id="9" name="text-56"/>
          <p:cNvSpPr txBox="1"/>
          <p:nvPr/>
        </p:nvSpPr>
        <p:spPr>
          <a:xfrm>
            <a:off x="777240" y="2880360"/>
            <a:ext cx="2148840" cy="822960"/>
          </a:xfrm>
          <a:prstGeom prst="rect">
            <a:avLst/>
          </a:prstGeom>
          <a:noFill/>
          <a:ln/>
        </p:spPr>
        <p:txBody>
          <a:bodyPr wrap="square" lIns="0" tIns="0" rIns="0" bIns="0" rtlCol="0" anchor="t"/>
          <a:lstStyle/>
          <a:p>
            <a:pPr indent="0" marL="0">
              <a:buNone/>
            </a:pPr>
            <a:r>
              <a:rPr lang="en-US" sz="1500" dirty="0">
                <a:solidFill>
                  <a:schemeClr val="bg2"/>
                </a:solidFill>
              </a:rPr>
              <a:t>#include pasted, macros expanded</a:t>
            </a:r>
            <a:endParaRPr lang="en-US" sz="1500" dirty="0"/>
          </a:p>
        </p:txBody>
      </p:sp>
      <p:sp>
        <p:nvSpPr>
          <p:cNvPr id="10" name="text-57"/>
          <p:cNvSpPr txBox="1"/>
          <p:nvPr/>
        </p:nvSpPr>
        <p:spPr>
          <a:xfrm>
            <a:off x="777240" y="3794760"/>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g++ -E</a:t>
            </a:r>
            <a:endParaRPr lang="en-US" sz="1400" dirty="0"/>
          </a:p>
        </p:txBody>
      </p:sp>
      <p:sp>
        <p:nvSpPr>
          <p:cNvPr id="11" name="arrow-58"/>
          <p:cNvSpPr/>
          <p:nvPr/>
        </p:nvSpPr>
        <p:spPr>
          <a:xfrm>
            <a:off x="3108960" y="2880360"/>
            <a:ext cx="246888" cy="0"/>
          </a:xfrm>
          <a:prstGeom prst="line">
            <a:avLst/>
          </a:prstGeom>
          <a:noFill/>
          <a:ln w="25400">
            <a:solidFill>
              <a:schemeClr val="accent1"/>
            </a:solidFill>
            <a:prstDash val="solid"/>
            <a:tailEnd type="triangle"/>
          </a:ln>
        </p:spPr>
      </p:sp>
      <p:sp>
        <p:nvSpPr>
          <p:cNvPr id="12" name="card-59"/>
          <p:cNvSpPr/>
          <p:nvPr/>
        </p:nvSpPr>
        <p:spPr>
          <a:xfrm>
            <a:off x="3383280" y="1463040"/>
            <a:ext cx="2514600" cy="2834640"/>
          </a:xfrm>
          <a:prstGeom prst="roundRect">
            <a:avLst>
              <a:gd name="adj" fmla="val 4364"/>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badge-60"/>
          <p:cNvSpPr/>
          <p:nvPr/>
        </p:nvSpPr>
        <p:spPr>
          <a:xfrm>
            <a:off x="3611880" y="1691640"/>
            <a:ext cx="457200" cy="457200"/>
          </a:xfrm>
          <a:prstGeom prst="ellipse">
            <a:avLst/>
          </a:prstGeom>
          <a:solidFill>
            <a:schemeClr val="accent1"/>
          </a:solidFill>
          <a:ln w="12700">
            <a:solidFill>
              <a:schemeClr val="accent1"/>
            </a:solidFill>
            <a:prstDash val="solid"/>
          </a:ln>
        </p:spPr>
      </p:sp>
      <p:sp>
        <p:nvSpPr>
          <p:cNvPr id="14" name="text-61"/>
          <p:cNvSpPr txBox="1"/>
          <p:nvPr/>
        </p:nvSpPr>
        <p:spPr>
          <a:xfrm>
            <a:off x="3611880" y="1691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5" name="text-62"/>
          <p:cNvSpPr txBox="1"/>
          <p:nvPr/>
        </p:nvSpPr>
        <p:spPr>
          <a:xfrm>
            <a:off x="4206240" y="1719072"/>
            <a:ext cx="1645920" cy="411480"/>
          </a:xfrm>
          <a:prstGeom prst="rect">
            <a:avLst/>
          </a:prstGeom>
          <a:noFill/>
          <a:ln/>
        </p:spPr>
        <p:txBody>
          <a:bodyPr wrap="square" lIns="0" tIns="0" rIns="0" bIns="0" rtlCol="0" anchor="t"/>
          <a:lstStyle/>
          <a:p>
            <a:pPr indent="0" marL="0">
              <a:buNone/>
            </a:pPr>
            <a:r>
              <a:rPr lang="en-US" sz="1900" b="1" dirty="0">
                <a:solidFill>
                  <a:schemeClr val="bg1"/>
                </a:solidFill>
              </a:rPr>
              <a:t>Compile</a:t>
            </a:r>
            <a:endParaRPr lang="en-US" sz="1900" dirty="0"/>
          </a:p>
        </p:txBody>
      </p:sp>
      <p:sp>
        <p:nvSpPr>
          <p:cNvPr id="16" name="text-63"/>
          <p:cNvSpPr txBox="1"/>
          <p:nvPr/>
        </p:nvSpPr>
        <p:spPr>
          <a:xfrm>
            <a:off x="3611880" y="2377440"/>
            <a:ext cx="2194560" cy="36576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main.ii → main.s</a:t>
            </a:r>
            <a:endParaRPr lang="en-US" sz="1400" dirty="0"/>
          </a:p>
        </p:txBody>
      </p:sp>
      <p:sp>
        <p:nvSpPr>
          <p:cNvPr id="17" name="text-64"/>
          <p:cNvSpPr txBox="1"/>
          <p:nvPr/>
        </p:nvSpPr>
        <p:spPr>
          <a:xfrm>
            <a:off x="3611880" y="2880360"/>
            <a:ext cx="2148840" cy="822960"/>
          </a:xfrm>
          <a:prstGeom prst="rect">
            <a:avLst/>
          </a:prstGeom>
          <a:noFill/>
          <a:ln/>
        </p:spPr>
        <p:txBody>
          <a:bodyPr wrap="square" lIns="0" tIns="0" rIns="0" bIns="0" rtlCol="0" anchor="t"/>
          <a:lstStyle/>
          <a:p>
            <a:pPr indent="0" marL="0">
              <a:buNone/>
            </a:pPr>
            <a:r>
              <a:rPr lang="en-US" sz="1500" dirty="0">
                <a:solidFill>
                  <a:schemeClr val="bg2"/>
                </a:solidFill>
              </a:rPr>
              <a:t>C++ checked, turned into assembly</a:t>
            </a:r>
            <a:endParaRPr lang="en-US" sz="1500" dirty="0"/>
          </a:p>
        </p:txBody>
      </p:sp>
      <p:sp>
        <p:nvSpPr>
          <p:cNvPr id="18" name="text-65"/>
          <p:cNvSpPr txBox="1"/>
          <p:nvPr/>
        </p:nvSpPr>
        <p:spPr>
          <a:xfrm>
            <a:off x="3611880" y="3794760"/>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g++ -S</a:t>
            </a:r>
            <a:endParaRPr lang="en-US" sz="1400" dirty="0"/>
          </a:p>
        </p:txBody>
      </p:sp>
      <p:sp>
        <p:nvSpPr>
          <p:cNvPr id="19" name="arrow-66"/>
          <p:cNvSpPr/>
          <p:nvPr/>
        </p:nvSpPr>
        <p:spPr>
          <a:xfrm>
            <a:off x="5943600" y="2880360"/>
            <a:ext cx="246888" cy="0"/>
          </a:xfrm>
          <a:prstGeom prst="line">
            <a:avLst/>
          </a:prstGeom>
          <a:noFill/>
          <a:ln w="25400">
            <a:solidFill>
              <a:schemeClr val="accent1"/>
            </a:solidFill>
            <a:prstDash val="solid"/>
            <a:tailEnd type="triangle"/>
          </a:ln>
        </p:spPr>
      </p:sp>
      <p:sp>
        <p:nvSpPr>
          <p:cNvPr id="20" name="card-67"/>
          <p:cNvSpPr/>
          <p:nvPr/>
        </p:nvSpPr>
        <p:spPr>
          <a:xfrm>
            <a:off x="6217920" y="1463040"/>
            <a:ext cx="2514600" cy="2834640"/>
          </a:xfrm>
          <a:prstGeom prst="roundRect">
            <a:avLst>
              <a:gd name="adj" fmla="val 4364"/>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1" name="badge-68"/>
          <p:cNvSpPr/>
          <p:nvPr/>
        </p:nvSpPr>
        <p:spPr>
          <a:xfrm>
            <a:off x="6446520" y="1691640"/>
            <a:ext cx="457200" cy="457200"/>
          </a:xfrm>
          <a:prstGeom prst="ellipse">
            <a:avLst/>
          </a:prstGeom>
          <a:solidFill>
            <a:schemeClr val="accent1"/>
          </a:solidFill>
          <a:ln w="12700">
            <a:solidFill>
              <a:schemeClr val="accent1"/>
            </a:solidFill>
            <a:prstDash val="solid"/>
          </a:ln>
        </p:spPr>
      </p:sp>
      <p:sp>
        <p:nvSpPr>
          <p:cNvPr id="22" name="text-69"/>
          <p:cNvSpPr txBox="1"/>
          <p:nvPr/>
        </p:nvSpPr>
        <p:spPr>
          <a:xfrm>
            <a:off x="6446520" y="1691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3" name="text-70"/>
          <p:cNvSpPr txBox="1"/>
          <p:nvPr/>
        </p:nvSpPr>
        <p:spPr>
          <a:xfrm>
            <a:off x="7040880" y="1719072"/>
            <a:ext cx="1645920" cy="411480"/>
          </a:xfrm>
          <a:prstGeom prst="rect">
            <a:avLst/>
          </a:prstGeom>
          <a:noFill/>
          <a:ln/>
        </p:spPr>
        <p:txBody>
          <a:bodyPr wrap="square" lIns="0" tIns="0" rIns="0" bIns="0" rtlCol="0" anchor="t"/>
          <a:lstStyle/>
          <a:p>
            <a:pPr indent="0" marL="0">
              <a:buNone/>
            </a:pPr>
            <a:r>
              <a:rPr lang="en-US" sz="1900" b="1" dirty="0">
                <a:solidFill>
                  <a:schemeClr val="bg1"/>
                </a:solidFill>
              </a:rPr>
              <a:t>Assemble</a:t>
            </a:r>
            <a:endParaRPr lang="en-US" sz="1900" dirty="0"/>
          </a:p>
        </p:txBody>
      </p:sp>
      <p:sp>
        <p:nvSpPr>
          <p:cNvPr id="24" name="text-71"/>
          <p:cNvSpPr txBox="1"/>
          <p:nvPr/>
        </p:nvSpPr>
        <p:spPr>
          <a:xfrm>
            <a:off x="6446520" y="2377440"/>
            <a:ext cx="2194560" cy="36576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main.s → main.o</a:t>
            </a:r>
            <a:endParaRPr lang="en-US" sz="1400" dirty="0"/>
          </a:p>
        </p:txBody>
      </p:sp>
      <p:sp>
        <p:nvSpPr>
          <p:cNvPr id="25" name="text-72"/>
          <p:cNvSpPr txBox="1"/>
          <p:nvPr/>
        </p:nvSpPr>
        <p:spPr>
          <a:xfrm>
            <a:off x="6446520" y="2880360"/>
            <a:ext cx="2148840" cy="822960"/>
          </a:xfrm>
          <a:prstGeom prst="rect">
            <a:avLst/>
          </a:prstGeom>
          <a:noFill/>
          <a:ln/>
        </p:spPr>
        <p:txBody>
          <a:bodyPr wrap="square" lIns="0" tIns="0" rIns="0" bIns="0" rtlCol="0" anchor="t"/>
          <a:lstStyle/>
          <a:p>
            <a:pPr indent="0" marL="0">
              <a:buNone/>
            </a:pPr>
            <a:r>
              <a:rPr lang="en-US" sz="1500" dirty="0">
                <a:solidFill>
                  <a:schemeClr val="bg2"/>
                </a:solidFill>
              </a:rPr>
              <a:t>assembly to machine code</a:t>
            </a:r>
            <a:endParaRPr lang="en-US" sz="1500" dirty="0"/>
          </a:p>
        </p:txBody>
      </p:sp>
      <p:sp>
        <p:nvSpPr>
          <p:cNvPr id="26" name="text-73"/>
          <p:cNvSpPr txBox="1"/>
          <p:nvPr/>
        </p:nvSpPr>
        <p:spPr>
          <a:xfrm>
            <a:off x="6446520" y="3794760"/>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g++ -c</a:t>
            </a:r>
            <a:endParaRPr lang="en-US" sz="1400" dirty="0"/>
          </a:p>
        </p:txBody>
      </p:sp>
      <p:sp>
        <p:nvSpPr>
          <p:cNvPr id="27" name="arrow-74"/>
          <p:cNvSpPr/>
          <p:nvPr/>
        </p:nvSpPr>
        <p:spPr>
          <a:xfrm>
            <a:off x="8778240" y="2880360"/>
            <a:ext cx="246888" cy="0"/>
          </a:xfrm>
          <a:prstGeom prst="line">
            <a:avLst/>
          </a:prstGeom>
          <a:noFill/>
          <a:ln w="25400">
            <a:solidFill>
              <a:schemeClr val="accent1"/>
            </a:solidFill>
            <a:prstDash val="solid"/>
            <a:tailEnd type="triangle"/>
          </a:ln>
        </p:spPr>
      </p:sp>
      <p:sp>
        <p:nvSpPr>
          <p:cNvPr id="28" name="card-75"/>
          <p:cNvSpPr/>
          <p:nvPr/>
        </p:nvSpPr>
        <p:spPr>
          <a:xfrm>
            <a:off x="9052560" y="1463040"/>
            <a:ext cx="2514600" cy="2834640"/>
          </a:xfrm>
          <a:prstGeom prst="roundRect">
            <a:avLst>
              <a:gd name="adj" fmla="val 4364"/>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9" name="badge-76"/>
          <p:cNvSpPr/>
          <p:nvPr/>
        </p:nvSpPr>
        <p:spPr>
          <a:xfrm>
            <a:off x="9281160" y="1691640"/>
            <a:ext cx="457200" cy="457200"/>
          </a:xfrm>
          <a:prstGeom prst="ellipse">
            <a:avLst/>
          </a:prstGeom>
          <a:solidFill>
            <a:schemeClr val="accent1"/>
          </a:solidFill>
          <a:ln w="12700">
            <a:solidFill>
              <a:schemeClr val="accent1"/>
            </a:solidFill>
            <a:prstDash val="solid"/>
          </a:ln>
        </p:spPr>
      </p:sp>
      <p:sp>
        <p:nvSpPr>
          <p:cNvPr id="30" name="text-77"/>
          <p:cNvSpPr txBox="1"/>
          <p:nvPr/>
        </p:nvSpPr>
        <p:spPr>
          <a:xfrm>
            <a:off x="9281160" y="1691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1" name="text-78"/>
          <p:cNvSpPr txBox="1"/>
          <p:nvPr/>
        </p:nvSpPr>
        <p:spPr>
          <a:xfrm>
            <a:off x="9875520" y="1719072"/>
            <a:ext cx="1645920" cy="411480"/>
          </a:xfrm>
          <a:prstGeom prst="rect">
            <a:avLst/>
          </a:prstGeom>
          <a:noFill/>
          <a:ln/>
        </p:spPr>
        <p:txBody>
          <a:bodyPr wrap="square" lIns="0" tIns="0" rIns="0" bIns="0" rtlCol="0" anchor="t"/>
          <a:lstStyle/>
          <a:p>
            <a:pPr indent="0" marL="0">
              <a:buNone/>
            </a:pPr>
            <a:r>
              <a:rPr lang="en-US" sz="1900" b="1" dirty="0">
                <a:solidFill>
                  <a:schemeClr val="bg1"/>
                </a:solidFill>
              </a:rPr>
              <a:t>Link</a:t>
            </a:r>
            <a:endParaRPr lang="en-US" sz="1900" dirty="0"/>
          </a:p>
        </p:txBody>
      </p:sp>
      <p:sp>
        <p:nvSpPr>
          <p:cNvPr id="32" name="text-79"/>
          <p:cNvSpPr txBox="1"/>
          <p:nvPr/>
        </p:nvSpPr>
        <p:spPr>
          <a:xfrm>
            <a:off x="9281160" y="2377440"/>
            <a:ext cx="2194560" cy="36576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main.o → main</a:t>
            </a:r>
            <a:endParaRPr lang="en-US" sz="1400" dirty="0"/>
          </a:p>
        </p:txBody>
      </p:sp>
      <p:sp>
        <p:nvSpPr>
          <p:cNvPr id="33" name="text-80"/>
          <p:cNvSpPr txBox="1"/>
          <p:nvPr/>
        </p:nvSpPr>
        <p:spPr>
          <a:xfrm>
            <a:off x="9281160" y="2880360"/>
            <a:ext cx="2148840" cy="822960"/>
          </a:xfrm>
          <a:prstGeom prst="rect">
            <a:avLst/>
          </a:prstGeom>
          <a:noFill/>
          <a:ln/>
        </p:spPr>
        <p:txBody>
          <a:bodyPr wrap="square" lIns="0" tIns="0" rIns="0" bIns="0" rtlCol="0" anchor="t"/>
          <a:lstStyle/>
          <a:p>
            <a:pPr indent="0" marL="0">
              <a:buNone/>
            </a:pPr>
            <a:r>
              <a:rPr lang="en-US" sz="1500" dirty="0">
                <a:solidFill>
                  <a:schemeClr val="bg2"/>
                </a:solidFill>
              </a:rPr>
              <a:t>objects and libraries joined</a:t>
            </a:r>
            <a:endParaRPr lang="en-US" sz="1500" dirty="0"/>
          </a:p>
        </p:txBody>
      </p:sp>
      <p:sp>
        <p:nvSpPr>
          <p:cNvPr id="34" name="text-81"/>
          <p:cNvSpPr txBox="1"/>
          <p:nvPr/>
        </p:nvSpPr>
        <p:spPr>
          <a:xfrm>
            <a:off x="9281160" y="3794760"/>
            <a:ext cx="2103120" cy="36576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g++ (none)</a:t>
            </a:r>
            <a:endParaRPr lang="en-US" sz="1400" dirty="0"/>
          </a:p>
        </p:txBody>
      </p:sp>
      <p:sp>
        <p:nvSpPr>
          <p:cNvPr id="35" name="card-82"/>
          <p:cNvSpPr/>
          <p:nvPr/>
        </p:nvSpPr>
        <p:spPr>
          <a:xfrm>
            <a:off x="548640" y="4572000"/>
            <a:ext cx="11064240" cy="1463040"/>
          </a:xfrm>
          <a:prstGeom prst="roundRect">
            <a:avLst>
              <a:gd name="adj" fmla="val 75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36" name="text-83"/>
          <p:cNvSpPr txBox="1"/>
          <p:nvPr/>
        </p:nvSpPr>
        <p:spPr>
          <a:xfrm>
            <a:off x="822960" y="4846320"/>
            <a:ext cx="10515600" cy="1005840"/>
          </a:xfrm>
          <a:prstGeom prst="rect">
            <a:avLst/>
          </a:prstGeom>
          <a:noFill/>
          <a:ln/>
        </p:spPr>
        <p:txBody>
          <a:bodyPr wrap="square" lIns="0" tIns="0" rIns="0" bIns="0" rtlCol="0" anchor="t"/>
          <a:lstStyle/>
          <a:p>
            <a:pPr indent="0" marL="0">
              <a:buNone/>
            </a:pPr>
            <a:r>
              <a:rPr lang="en-US" sz="1600" b="1" dirty="0">
                <a:solidFill>
                  <a:schemeClr val="accent3"/>
                </a:solidFill>
              </a:rPr>
              <a:t>Why it matters  </a:t>
            </a:r>
            <a:pPr indent="0" marL="0">
              <a:buNone/>
            </a:pPr>
            <a:r>
              <a:rPr lang="en-US" sz="1600" dirty="0">
                <a:solidFill>
                  <a:schemeClr val="bg1"/>
                </a:solidFill>
              </a:rPr>
              <a:t>a typo is a compiler error with a line number. </a:t>
            </a:r>
            <a:pPr indent="0" marL="0">
              <a:buNone/>
            </a:pPr>
            <a:r>
              <a:rPr lang="en-US" sz="1600" dirty="0">
                <a:solidFill>
                  <a:schemeClr val="accent5"/>
                </a:solidFill>
                <a:latin typeface="Courier New" pitchFamily="34" charset="0"/>
                <a:ea typeface="Courier New" pitchFamily="34" charset="-122"/>
                <a:cs typeface="Courier New" pitchFamily="34" charset="-120"/>
              </a:rPr>
              <a:t>undefined reference to 'main'</a:t>
            </a:r>
            <a:pPr indent="0" marL="0">
              <a:buNone/>
            </a:pPr>
            <a:r>
              <a:rPr lang="en-US" sz="1600" dirty="0">
                <a:solidFill>
                  <a:schemeClr val="bg1"/>
                </a:solidFill>
              </a:rPr>
              <a:t> is a linker error with no line number (topic 23).</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Every program: #include, main(), and a statement</a:t>
            </a:r>
            <a:endParaRPr lang="en-US" sz="3000" dirty="0"/>
          </a:p>
        </p:txBody>
      </p:sp>
      <p:sp>
        <p:nvSpPr>
          <p:cNvPr id="3" name="text-84"/>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Topics 04–06</a:t>
            </a:r>
            <a:endParaRPr lang="en-US" sz="1200" dirty="0"/>
          </a:p>
        </p:txBody>
      </p:sp>
      <p:sp>
        <p:nvSpPr>
          <p:cNvPr id="4" name="card-85"/>
          <p:cNvSpPr/>
          <p:nvPr/>
        </p:nvSpPr>
        <p:spPr>
          <a:xfrm>
            <a:off x="548640" y="1371600"/>
            <a:ext cx="5120640" cy="3291840"/>
          </a:xfrm>
          <a:prstGeom prst="roundRect">
            <a:avLst>
              <a:gd name="adj" fmla="val 3333"/>
            </a:avLst>
          </a:prstGeom>
          <a:solidFill>
            <a:schemeClr val="tx1"/>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86"/>
          <p:cNvSpPr txBox="1"/>
          <p:nvPr/>
        </p:nvSpPr>
        <p:spPr>
          <a:xfrm>
            <a:off x="777240" y="1554480"/>
            <a:ext cx="4663440" cy="2926080"/>
          </a:xfrm>
          <a:prstGeom prst="rect">
            <a:avLst/>
          </a:prstGeom>
          <a:noFill/>
          <a:ln/>
        </p:spPr>
        <p:txBody>
          <a:bodyPr wrap="square" lIns="0" tIns="0" rIns="0" bIns="0" rtlCol="0" anchor="t"/>
          <a:lstStyle/>
          <a:p>
            <a:pPr indent="0" marL="0">
              <a:spcAft>
                <a:spcPts val="200"/>
              </a:spcAft>
              <a:buNone/>
            </a:pPr>
            <a:r>
              <a:rPr lang="en-US" sz="1600" dirty="0">
                <a:solidFill>
                  <a:schemeClr val="accent2"/>
                </a:solidFill>
                <a:latin typeface="Courier New" pitchFamily="34" charset="0"/>
                <a:ea typeface="Courier New" pitchFamily="34" charset="-122"/>
                <a:cs typeface="Courier New" pitchFamily="34" charset="-120"/>
              </a:rPr>
              <a:t>#include</a:t>
            </a:r>
            <a:pPr indent="0" marL="0">
              <a:spcAft>
                <a:spcPts val="200"/>
              </a:spcAft>
              <a:buNone/>
            </a:pPr>
            <a:r>
              <a:rPr lang="en-US" sz="1600" dirty="0">
                <a:solidFill>
                  <a:schemeClr val="accent3"/>
                </a:solidFill>
                <a:latin typeface="Courier New" pitchFamily="34" charset="0"/>
                <a:ea typeface="Courier New" pitchFamily="34" charset="-122"/>
                <a:cs typeface="Courier New" pitchFamily="34" charset="-120"/>
              </a:rPr>
              <a:t> &lt;iostream&gt;</a:t>
            </a:r>
            <a:endParaRPr lang="en-US" sz="1600" dirty="0"/>
          </a:p>
          <a:p>
            <a:pPr indent="0" marL="0">
              <a:spcAft>
                <a:spcPts val="200"/>
              </a:spcAft>
              <a:buNone/>
            </a:pPr>
            <a:endParaRPr lang="en-US" sz="1600" dirty="0"/>
          </a:p>
          <a:p>
            <a:pPr indent="0" marL="0">
              <a:spcAft>
                <a:spcPts val="200"/>
              </a:spcAft>
              <a:buNone/>
            </a:pPr>
            <a:r>
              <a:rPr lang="en-US" sz="1600" dirty="0">
                <a:solidFill>
                  <a:schemeClr val="accent1"/>
                </a:solidFill>
                <a:latin typeface="Courier New" pitchFamily="34" charset="0"/>
                <a:ea typeface="Courier New" pitchFamily="34" charset="-122"/>
                <a:cs typeface="Courier New" pitchFamily="34" charset="-120"/>
              </a:rPr>
              <a:t>int</a:t>
            </a:r>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main()</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std::cout &lt;&lt; </a:t>
            </a:r>
            <a:pPr indent="0" marL="0">
              <a:spcAft>
                <a:spcPts val="200"/>
              </a:spcAft>
              <a:buNone/>
            </a:pPr>
            <a:r>
              <a:rPr lang="en-US" sz="1600" dirty="0">
                <a:solidFill>
                  <a:schemeClr val="accent3"/>
                </a:solidFill>
                <a:latin typeface="Courier New" pitchFamily="34" charset="0"/>
                <a:ea typeface="Courier New" pitchFamily="34" charset="-122"/>
                <a:cs typeface="Courier New" pitchFamily="34" charset="-120"/>
              </a:rPr>
              <a:t>"Hello, C++!\n"</a:t>
            </a:r>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a:p>
            <a:pPr indent="0" marL="0">
              <a:spcAft>
                <a:spcPts val="200"/>
              </a:spcAft>
              <a:buNone/>
            </a:pPr>
            <a:r>
              <a:rPr lang="en-US" sz="1600" dirty="0">
                <a:solidFill>
                  <a:schemeClr val="accent2"/>
                </a:solidFill>
                <a:latin typeface="Courier New" pitchFamily="34" charset="0"/>
                <a:ea typeface="Courier New" pitchFamily="34" charset="-122"/>
                <a:cs typeface="Courier New" pitchFamily="34" charset="-120"/>
              </a:rPr>
              <a:t>    return </a:t>
            </a:r>
            <a:pPr indent="0" marL="0">
              <a:spcAft>
                <a:spcPts val="200"/>
              </a:spcAft>
              <a:buNone/>
            </a:pPr>
            <a:r>
              <a:rPr lang="en-US" sz="1600" dirty="0">
                <a:solidFill>
                  <a:schemeClr val="accent3"/>
                </a:solidFill>
                <a:latin typeface="Courier New" pitchFamily="34" charset="0"/>
                <a:ea typeface="Courier New" pitchFamily="34" charset="-122"/>
                <a:cs typeface="Courier New" pitchFamily="34" charset="-120"/>
              </a:rPr>
              <a:t>0</a:t>
            </a:r>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a:t>
            </a:r>
            <a:endParaRPr lang="en-US" sz="1600" dirty="0"/>
          </a:p>
        </p:txBody>
      </p:sp>
      <p:sp>
        <p:nvSpPr>
          <p:cNvPr id="6" name="card-87"/>
          <p:cNvSpPr/>
          <p:nvPr/>
        </p:nvSpPr>
        <p:spPr>
          <a:xfrm>
            <a:off x="5943600" y="1371600"/>
            <a:ext cx="5669280" cy="1005840"/>
          </a:xfrm>
          <a:prstGeom prst="roundRect">
            <a:avLst>
              <a:gd name="adj" fmla="val 1090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7" name="text-88"/>
          <p:cNvSpPr txBox="1"/>
          <p:nvPr/>
        </p:nvSpPr>
        <p:spPr>
          <a:xfrm>
            <a:off x="6217920" y="1508760"/>
            <a:ext cx="5212080" cy="365760"/>
          </a:xfrm>
          <a:prstGeom prst="rect">
            <a:avLst/>
          </a:prstGeom>
          <a:noFill/>
          <a:ln/>
        </p:spPr>
        <p:txBody>
          <a:bodyPr wrap="square" lIns="0" tIns="0" rIns="0" bIns="0" rtlCol="0" anchor="t"/>
          <a:lstStyle/>
          <a:p>
            <a:pPr indent="0" marL="0">
              <a:buNone/>
            </a:pPr>
            <a:r>
              <a:rPr lang="en-US" sz="1600" b="1" dirty="0">
                <a:solidFill>
                  <a:schemeClr val="accent2"/>
                </a:solidFill>
                <a:latin typeface="Courier New" pitchFamily="34" charset="0"/>
                <a:ea typeface="Courier New" pitchFamily="34" charset="-122"/>
                <a:cs typeface="Courier New" pitchFamily="34" charset="-120"/>
              </a:rPr>
              <a:t>#include &lt;iostream&gt;</a:t>
            </a:r>
            <a:endParaRPr lang="en-US" sz="1600" dirty="0"/>
          </a:p>
        </p:txBody>
      </p:sp>
      <p:sp>
        <p:nvSpPr>
          <p:cNvPr id="8" name="text-89"/>
          <p:cNvSpPr txBox="1"/>
          <p:nvPr/>
        </p:nvSpPr>
        <p:spPr>
          <a:xfrm>
            <a:off x="6217920" y="1901952"/>
            <a:ext cx="5212080" cy="365760"/>
          </a:xfrm>
          <a:prstGeom prst="rect">
            <a:avLst/>
          </a:prstGeom>
          <a:noFill/>
          <a:ln/>
        </p:spPr>
        <p:txBody>
          <a:bodyPr wrap="square" lIns="0" tIns="0" rIns="0" bIns="0" rtlCol="0" anchor="t"/>
          <a:lstStyle/>
          <a:p>
            <a:pPr indent="0" marL="0">
              <a:buNone/>
            </a:pPr>
            <a:r>
              <a:rPr lang="en-US" sz="1500" dirty="0">
                <a:solidFill>
                  <a:schemeClr val="bg2"/>
                </a:solidFill>
              </a:rPr>
              <a:t>the preprocessor pastes the header in, so std::cout is known</a:t>
            </a:r>
            <a:endParaRPr lang="en-US" sz="1500" dirty="0"/>
          </a:p>
        </p:txBody>
      </p:sp>
      <p:sp>
        <p:nvSpPr>
          <p:cNvPr id="9" name="card-90"/>
          <p:cNvSpPr/>
          <p:nvPr/>
        </p:nvSpPr>
        <p:spPr>
          <a:xfrm>
            <a:off x="5943600" y="2560320"/>
            <a:ext cx="5669280" cy="1005840"/>
          </a:xfrm>
          <a:prstGeom prst="roundRect">
            <a:avLst>
              <a:gd name="adj" fmla="val 1090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0" name="text-91"/>
          <p:cNvSpPr txBox="1"/>
          <p:nvPr/>
        </p:nvSpPr>
        <p:spPr>
          <a:xfrm>
            <a:off x="6217920" y="2697480"/>
            <a:ext cx="5212080"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int main()</a:t>
            </a:r>
            <a:endParaRPr lang="en-US" sz="1600" dirty="0"/>
          </a:p>
        </p:txBody>
      </p:sp>
      <p:sp>
        <p:nvSpPr>
          <p:cNvPr id="11" name="text-92"/>
          <p:cNvSpPr txBox="1"/>
          <p:nvPr/>
        </p:nvSpPr>
        <p:spPr>
          <a:xfrm>
            <a:off x="6217920" y="3090672"/>
            <a:ext cx="5212080" cy="365760"/>
          </a:xfrm>
          <a:prstGeom prst="rect">
            <a:avLst/>
          </a:prstGeom>
          <a:noFill/>
          <a:ln/>
        </p:spPr>
        <p:txBody>
          <a:bodyPr wrap="square" lIns="0" tIns="0" rIns="0" bIns="0" rtlCol="0" anchor="t"/>
          <a:lstStyle/>
          <a:p>
            <a:pPr indent="0" marL="0">
              <a:buNone/>
            </a:pPr>
            <a:r>
              <a:rPr lang="en-US" sz="1500" dirty="0">
                <a:solidFill>
                  <a:schemeClr val="bg2"/>
                </a:solidFill>
              </a:rPr>
              <a:t>where execution starts; returns int, the exit status</a:t>
            </a:r>
            <a:endParaRPr lang="en-US" sz="1500" dirty="0"/>
          </a:p>
        </p:txBody>
      </p:sp>
      <p:sp>
        <p:nvSpPr>
          <p:cNvPr id="12" name="card-93"/>
          <p:cNvSpPr/>
          <p:nvPr/>
        </p:nvSpPr>
        <p:spPr>
          <a:xfrm>
            <a:off x="5943600" y="3749040"/>
            <a:ext cx="5669280" cy="1005840"/>
          </a:xfrm>
          <a:prstGeom prst="roundRect">
            <a:avLst>
              <a:gd name="adj" fmla="val 1090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94"/>
          <p:cNvSpPr txBox="1"/>
          <p:nvPr/>
        </p:nvSpPr>
        <p:spPr>
          <a:xfrm>
            <a:off x="6217920" y="3886200"/>
            <a:ext cx="5212080" cy="365760"/>
          </a:xfrm>
          <a:prstGeom prst="rect">
            <a:avLst/>
          </a:prstGeom>
          <a:noFill/>
          <a:ln/>
        </p:spPr>
        <p:txBody>
          <a:bodyPr wrap="square" lIns="0" tIns="0" rIns="0" bIns="0" rtlCol="0" anchor="t"/>
          <a:lstStyle/>
          <a:p>
            <a:pPr indent="0" marL="0">
              <a:buNone/>
            </a:pPr>
            <a:r>
              <a:rPr lang="en-US" sz="1600" b="1" dirty="0">
                <a:solidFill>
                  <a:schemeClr val="accent4"/>
                </a:solidFill>
                <a:latin typeface="Courier New" pitchFamily="34" charset="0"/>
                <a:ea typeface="Courier New" pitchFamily="34" charset="-122"/>
                <a:cs typeface="Courier New" pitchFamily="34" charset="-120"/>
              </a:rPr>
              <a:t>return 0;</a:t>
            </a:r>
            <a:endParaRPr lang="en-US" sz="1600" dirty="0"/>
          </a:p>
        </p:txBody>
      </p:sp>
      <p:sp>
        <p:nvSpPr>
          <p:cNvPr id="14" name="text-95"/>
          <p:cNvSpPr txBox="1"/>
          <p:nvPr/>
        </p:nvSpPr>
        <p:spPr>
          <a:xfrm>
            <a:off x="6217920" y="4279392"/>
            <a:ext cx="5212080" cy="365760"/>
          </a:xfrm>
          <a:prstGeom prst="rect">
            <a:avLst/>
          </a:prstGeom>
          <a:noFill/>
          <a:ln/>
        </p:spPr>
        <p:txBody>
          <a:bodyPr wrap="square" lIns="0" tIns="0" rIns="0" bIns="0" rtlCol="0" anchor="t"/>
          <a:lstStyle/>
          <a:p>
            <a:pPr indent="0" marL="0">
              <a:buNone/>
            </a:pPr>
            <a:r>
              <a:rPr lang="en-US" sz="1500" dirty="0">
                <a:solidFill>
                  <a:schemeClr val="bg2"/>
                </a:solidFill>
              </a:rPr>
              <a:t>0 = success. main alone may omit it</a:t>
            </a:r>
            <a:endParaRPr lang="en-US" sz="1500" dirty="0"/>
          </a:p>
        </p:txBody>
      </p:sp>
      <p:sp>
        <p:nvSpPr>
          <p:cNvPr id="15" name="card-96"/>
          <p:cNvSpPr/>
          <p:nvPr/>
        </p:nvSpPr>
        <p:spPr>
          <a:xfrm>
            <a:off x="5943600" y="4937760"/>
            <a:ext cx="5669280" cy="1005840"/>
          </a:xfrm>
          <a:prstGeom prst="roundRect">
            <a:avLst>
              <a:gd name="adj" fmla="val 10909"/>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6" name="text-97"/>
          <p:cNvSpPr txBox="1"/>
          <p:nvPr/>
        </p:nvSpPr>
        <p:spPr>
          <a:xfrm>
            <a:off x="6217920" y="5074920"/>
            <a:ext cx="5212080" cy="365760"/>
          </a:xfrm>
          <a:prstGeom prst="rect">
            <a:avLst/>
          </a:prstGeom>
          <a:noFill/>
          <a:ln/>
        </p:spPr>
        <p:txBody>
          <a:bodyPr wrap="square" lIns="0" tIns="0" rIns="0" bIns="0" rtlCol="0" anchor="t"/>
          <a:lstStyle/>
          <a:p>
            <a:pPr indent="0" marL="0">
              <a:buNone/>
            </a:pPr>
            <a:r>
              <a:rPr lang="en-US" sz="1600" b="1" dirty="0">
                <a:solidFill>
                  <a:schemeClr val="accent3"/>
                </a:solidFill>
                <a:latin typeface="Courier New" pitchFamily="34" charset="0"/>
                <a:ea typeface="Courier New" pitchFamily="34" charset="-122"/>
                <a:cs typeface="Courier New" pitchFamily="34" charset="-120"/>
              </a:rPr>
              <a:t>include what you use</a:t>
            </a:r>
            <a:endParaRPr lang="en-US" sz="1600" dirty="0"/>
          </a:p>
        </p:txBody>
      </p:sp>
      <p:sp>
        <p:nvSpPr>
          <p:cNvPr id="17" name="text-98"/>
          <p:cNvSpPr txBox="1"/>
          <p:nvPr/>
        </p:nvSpPr>
        <p:spPr>
          <a:xfrm>
            <a:off x="6217920" y="5468112"/>
            <a:ext cx="5212080" cy="365760"/>
          </a:xfrm>
          <a:prstGeom prst="rect">
            <a:avLst/>
          </a:prstGeom>
          <a:noFill/>
          <a:ln/>
        </p:spPr>
        <p:txBody>
          <a:bodyPr wrap="square" lIns="0" tIns="0" rIns="0" bIns="0" rtlCol="0" anchor="t"/>
          <a:lstStyle/>
          <a:p>
            <a:pPr indent="0" marL="0">
              <a:buNone/>
            </a:pPr>
            <a:r>
              <a:rPr lang="en-US" sz="1500" dirty="0">
                <a:solidFill>
                  <a:schemeClr val="bg2"/>
                </a:solidFill>
              </a:rPr>
              <a:t>&lt;string&gt; for std::string, &lt;vector&gt; for std::vector</a:t>
            </a:r>
            <a:endParaRPr lang="en-US" sz="1500" dirty="0"/>
          </a:p>
        </p:txBody>
      </p:sp>
      <p:sp>
        <p:nvSpPr>
          <p:cNvPr id="18" name="text-99"/>
          <p:cNvSpPr txBox="1"/>
          <p:nvPr/>
        </p:nvSpPr>
        <p:spPr>
          <a:xfrm>
            <a:off x="548640" y="4937760"/>
            <a:ext cx="5120640" cy="365760"/>
          </a:xfrm>
          <a:prstGeom prst="rect">
            <a:avLst/>
          </a:prstGeom>
          <a:noFill/>
          <a:ln/>
        </p:spPr>
        <p:txBody>
          <a:bodyPr wrap="square" lIns="0" tIns="0" rIns="0" bIns="0" rtlCol="0" anchor="t"/>
          <a:lstStyle/>
          <a:p>
            <a:pPr indent="0" marL="0">
              <a:buNone/>
            </a:pPr>
            <a:r>
              <a:rPr lang="en-US" sz="1400" dirty="0">
                <a:solidFill>
                  <a:schemeClr val="accent6"/>
                </a:solidFill>
                <a:latin typeface="Courier New" pitchFamily="34" charset="0"/>
                <a:ea typeface="Courier New" pitchFamily="34" charset="-122"/>
                <a:cs typeface="Courier New" pitchFamily="34" charset="-120"/>
              </a:rPr>
              <a:t>./main; echo $?   prints the exit status</a:t>
            </a:r>
            <a:endParaRPr lang="en-US" sz="14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Names, streams, and comments</a:t>
            </a:r>
            <a:endParaRPr lang="en-US" sz="3000" dirty="0"/>
          </a:p>
        </p:txBody>
      </p:sp>
      <p:sp>
        <p:nvSpPr>
          <p:cNvPr id="3" name="text-100"/>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Topics 07–09</a:t>
            </a:r>
            <a:endParaRPr lang="en-US" sz="1200" dirty="0"/>
          </a:p>
        </p:txBody>
      </p:sp>
      <p:sp>
        <p:nvSpPr>
          <p:cNvPr id="4" name="card-101"/>
          <p:cNvSpPr/>
          <p:nvPr/>
        </p:nvSpPr>
        <p:spPr>
          <a:xfrm>
            <a:off x="548640" y="1371600"/>
            <a:ext cx="3520440" cy="4663440"/>
          </a:xfrm>
          <a:prstGeom prst="roundRect">
            <a:avLst>
              <a:gd name="adj" fmla="val 31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102"/>
          <p:cNvSpPr txBox="1"/>
          <p:nvPr/>
        </p:nvSpPr>
        <p:spPr>
          <a:xfrm>
            <a:off x="822960" y="1600200"/>
            <a:ext cx="3017520" cy="457200"/>
          </a:xfrm>
          <a:prstGeom prst="rect">
            <a:avLst/>
          </a:prstGeom>
          <a:noFill/>
          <a:ln/>
        </p:spPr>
        <p:txBody>
          <a:bodyPr wrap="square" lIns="0" tIns="0" rIns="0" bIns="0" rtlCol="0" anchor="t"/>
          <a:lstStyle/>
          <a:p>
            <a:pPr indent="0" marL="0">
              <a:buNone/>
            </a:pPr>
            <a:r>
              <a:rPr lang="en-US" sz="2000" b="1" dirty="0">
                <a:solidFill>
                  <a:schemeClr val="accent1"/>
                </a:solidFill>
              </a:rPr>
              <a:t>Namespaces</a:t>
            </a:r>
            <a:endParaRPr lang="en-US" sz="2000" dirty="0"/>
          </a:p>
        </p:txBody>
      </p:sp>
      <p:sp>
        <p:nvSpPr>
          <p:cNvPr id="6" name="text-103"/>
          <p:cNvSpPr txBox="1"/>
          <p:nvPr/>
        </p:nvSpPr>
        <p:spPr>
          <a:xfrm>
            <a:off x="822960" y="2240280"/>
            <a:ext cx="301752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std:: is the Standard Library namespace</a:t>
            </a:r>
            <a:endParaRPr lang="en-US" sz="1500" dirty="0"/>
          </a:p>
          <a:p>
            <a:pPr marL="342900" indent="-342900">
              <a:spcAft>
                <a:spcPts val="1000"/>
              </a:spcAft>
              <a:buSzPct val="100000"/>
              <a:buChar char="•"/>
            </a:pPr>
            <a:r>
              <a:rPr lang="en-US" sz="1500" dirty="0">
                <a:solidFill>
                  <a:schemeClr val="bg1"/>
                </a:solidFill>
              </a:rPr>
              <a:t>:: means the name on the right, inside the left</a:t>
            </a:r>
            <a:endParaRPr lang="en-US" sz="1500" dirty="0"/>
          </a:p>
          <a:p>
            <a:pPr marL="342900" indent="-342900">
              <a:spcAft>
                <a:spcPts val="1000"/>
              </a:spcAft>
              <a:buSzPct val="100000"/>
              <a:buChar char="•"/>
            </a:pPr>
            <a:r>
              <a:rPr lang="en-US" sz="1500" dirty="0">
                <a:solidFill>
                  <a:schemeClr val="bg1"/>
                </a:solidFill>
              </a:rPr>
              <a:t>Avoid using namespace std; never in headers</a:t>
            </a:r>
            <a:endParaRPr lang="en-US" sz="1500" dirty="0"/>
          </a:p>
        </p:txBody>
      </p:sp>
      <p:sp>
        <p:nvSpPr>
          <p:cNvPr id="7" name="card-104"/>
          <p:cNvSpPr/>
          <p:nvPr/>
        </p:nvSpPr>
        <p:spPr>
          <a:xfrm>
            <a:off x="4297680" y="1371600"/>
            <a:ext cx="3520440" cy="4663440"/>
          </a:xfrm>
          <a:prstGeom prst="roundRect">
            <a:avLst>
              <a:gd name="adj" fmla="val 31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8" name="text-105"/>
          <p:cNvSpPr txBox="1"/>
          <p:nvPr/>
        </p:nvSpPr>
        <p:spPr>
          <a:xfrm>
            <a:off x="4572000" y="1600200"/>
            <a:ext cx="3017520" cy="457200"/>
          </a:xfrm>
          <a:prstGeom prst="rect">
            <a:avLst/>
          </a:prstGeom>
          <a:noFill/>
          <a:ln/>
        </p:spPr>
        <p:txBody>
          <a:bodyPr wrap="square" lIns="0" tIns="0" rIns="0" bIns="0" rtlCol="0" anchor="t"/>
          <a:lstStyle/>
          <a:p>
            <a:pPr indent="0" marL="0">
              <a:buNone/>
            </a:pPr>
            <a:r>
              <a:rPr lang="en-US" sz="2000" b="1" dirty="0">
                <a:solidFill>
                  <a:schemeClr val="accent6"/>
                </a:solidFill>
              </a:rPr>
              <a:t>Three streams</a:t>
            </a:r>
            <a:endParaRPr lang="en-US" sz="2000" dirty="0"/>
          </a:p>
        </p:txBody>
      </p:sp>
      <p:sp>
        <p:nvSpPr>
          <p:cNvPr id="9" name="text-106"/>
          <p:cNvSpPr txBox="1"/>
          <p:nvPr/>
        </p:nvSpPr>
        <p:spPr>
          <a:xfrm>
            <a:off x="4572000" y="2240280"/>
            <a:ext cx="301752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std::cout: normal output, buffered</a:t>
            </a:r>
            <a:endParaRPr lang="en-US" sz="1500" dirty="0"/>
          </a:p>
          <a:p>
            <a:pPr marL="342900" indent="-342900">
              <a:spcAft>
                <a:spcPts val="1000"/>
              </a:spcAft>
              <a:buSzPct val="100000"/>
              <a:buChar char="•"/>
            </a:pPr>
            <a:r>
              <a:rPr lang="en-US" sz="1500" dirty="0">
                <a:solidFill>
                  <a:schemeClr val="bg1"/>
                </a:solidFill>
              </a:rPr>
              <a:t>std::cerr: errors, unbuffered</a:t>
            </a:r>
            <a:endParaRPr lang="en-US" sz="1500" dirty="0"/>
          </a:p>
          <a:p>
            <a:pPr marL="342900" indent="-342900">
              <a:spcAft>
                <a:spcPts val="1000"/>
              </a:spcAft>
              <a:buSzPct val="100000"/>
              <a:buChar char="•"/>
            </a:pPr>
            <a:r>
              <a:rPr lang="en-US" sz="1500" dirty="0">
                <a:solidFill>
                  <a:schemeClr val="bg1"/>
                </a:solidFill>
              </a:rPr>
              <a:t>std::cin: input with &gt;&gt;</a:t>
            </a:r>
            <a:endParaRPr lang="en-US" sz="1500" dirty="0"/>
          </a:p>
          <a:p>
            <a:pPr marL="342900" indent="-342900">
              <a:spcAft>
                <a:spcPts val="1000"/>
              </a:spcAft>
              <a:buSzPct val="100000"/>
              <a:buChar char="•"/>
            </a:pPr>
            <a:r>
              <a:rPr lang="en-US" sz="1500" dirty="0">
                <a:solidFill>
                  <a:schemeClr val="bg1"/>
                </a:solidFill>
              </a:rPr>
              <a:t>Prefer '\n'; std::endl also flushes</a:t>
            </a:r>
            <a:endParaRPr lang="en-US" sz="1500" dirty="0"/>
          </a:p>
        </p:txBody>
      </p:sp>
      <p:sp>
        <p:nvSpPr>
          <p:cNvPr id="10" name="card-107"/>
          <p:cNvSpPr/>
          <p:nvPr/>
        </p:nvSpPr>
        <p:spPr>
          <a:xfrm>
            <a:off x="8046720" y="1371600"/>
            <a:ext cx="3520440" cy="4663440"/>
          </a:xfrm>
          <a:prstGeom prst="roundRect">
            <a:avLst>
              <a:gd name="adj" fmla="val 31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1" name="text-108"/>
          <p:cNvSpPr txBox="1"/>
          <p:nvPr/>
        </p:nvSpPr>
        <p:spPr>
          <a:xfrm>
            <a:off x="8321040" y="1600200"/>
            <a:ext cx="3017520" cy="457200"/>
          </a:xfrm>
          <a:prstGeom prst="rect">
            <a:avLst/>
          </a:prstGeom>
          <a:noFill/>
          <a:ln/>
        </p:spPr>
        <p:txBody>
          <a:bodyPr wrap="square" lIns="0" tIns="0" rIns="0" bIns="0" rtlCol="0" anchor="t"/>
          <a:lstStyle/>
          <a:p>
            <a:pPr indent="0" marL="0">
              <a:buNone/>
            </a:pPr>
            <a:r>
              <a:rPr lang="en-US" sz="2000" b="1" dirty="0">
                <a:solidFill>
                  <a:schemeClr val="accent3"/>
                </a:solidFill>
              </a:rPr>
              <a:t>Comments</a:t>
            </a:r>
            <a:endParaRPr lang="en-US" sz="2000" dirty="0"/>
          </a:p>
        </p:txBody>
      </p:sp>
      <p:sp>
        <p:nvSpPr>
          <p:cNvPr id="12" name="text-109"/>
          <p:cNvSpPr txBox="1"/>
          <p:nvPr/>
        </p:nvSpPr>
        <p:spPr>
          <a:xfrm>
            <a:off x="8321040" y="2240280"/>
            <a:ext cx="301752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 line   /* block */ (no nesting)</a:t>
            </a:r>
            <a:endParaRPr lang="en-US" sz="1500" dirty="0"/>
          </a:p>
          <a:p>
            <a:pPr marL="342900" indent="-342900">
              <a:spcAft>
                <a:spcPts val="1000"/>
              </a:spcAft>
              <a:buSzPct val="100000"/>
              <a:buChar char="•"/>
            </a:pPr>
            <a:r>
              <a:rPr lang="en-US" sz="1500" dirty="0">
                <a:solidFill>
                  <a:schemeClr val="bg1"/>
                </a:solidFill>
              </a:rPr>
              <a:t>Code says what; comments say why</a:t>
            </a:r>
            <a:endParaRPr lang="en-US" sz="1500" dirty="0"/>
          </a:p>
          <a:p>
            <a:pPr marL="342900" indent="-342900">
              <a:spcAft>
                <a:spcPts val="1000"/>
              </a:spcAft>
              <a:buSzPct val="100000"/>
              <a:buChar char="•"/>
            </a:pPr>
            <a:r>
              <a:rPr lang="en-US" sz="1500" dirty="0">
                <a:solidFill>
                  <a:schemeClr val="bg1"/>
                </a:solidFill>
              </a:rPr>
              <a:t>Outdated comments are worse than none</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110"/>
          <p:cNvSpPr txBox="1"/>
          <p:nvPr/>
        </p:nvSpPr>
        <p:spPr>
          <a:xfrm>
            <a:off x="731520" y="1920240"/>
            <a:ext cx="100584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PART 2  ·  TOPICS 10–14</a:t>
            </a:r>
            <a:endParaRPr lang="en-US" sz="1400" dirty="0"/>
          </a:p>
        </p:txBody>
      </p:sp>
      <p:sp>
        <p:nvSpPr>
          <p:cNvPr id="3" name="Text 0"/>
          <p:cNvSpPr/>
          <p:nvPr>
            <p:ph idx="100" type="title" hasCustomPrompt="1"/>
          </p:nvPr>
        </p:nvSpPr>
        <p:spPr>
          <a:xfrm>
            <a:off x="731520" y="2377440"/>
            <a:ext cx="10698480" cy="1097280"/>
          </a:xfrm>
          <a:prstGeom prst="rect">
            <a:avLst/>
          </a:prstGeom>
          <a:noFill/>
          <a:ln/>
        </p:spPr>
        <p:txBody>
          <a:bodyPr wrap="square"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Variables and types</a:t>
            </a:r>
            <a:endParaRPr lang="en-US" sz="4400" dirty="0"/>
          </a:p>
        </p:txBody>
      </p:sp>
      <p:sp>
        <p:nvSpPr>
          <p:cNvPr id="4" name="Text 0"/>
          <p:cNvSpPr/>
          <p:nvPr>
            <p:ph idx="101" type="body" hasCustomPrompt="1"/>
          </p:nvPr>
        </p:nvSpPr>
        <p:spPr>
          <a:xfrm>
            <a:off x="731520" y="3566160"/>
            <a:ext cx="10698480" cy="1280160"/>
          </a:xfrm>
          <a:prstGeom prst="rect">
            <a:avLst/>
          </a:prstGeom>
          <a:noFill/>
          <a:ln/>
        </p:spPr>
        <p:txBody>
          <a:bodyPr wrap="square" rtlCol="0" anchor="t"/>
          <a:lstStyle/>
          <a:p>
            <a:pPr algn="l" indent="0" marL="0">
              <a:buNone/>
            </a:pPr>
            <a:r>
              <a:rPr lang="en-US" sz="1800" dirty="0">
                <a:solidFill>
                  <a:schemeClr val="bg2"/>
                </a:solidFill>
              </a:rPr>
              <a:t>Objects, initialization, sizes, ranges, and the type of every literal</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Initialization: braces protect you</a:t>
            </a:r>
            <a:endParaRPr lang="en-US" sz="3000" dirty="0"/>
          </a:p>
        </p:txBody>
      </p:sp>
      <p:sp>
        <p:nvSpPr>
          <p:cNvPr id="3" name="text-111"/>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10</a:t>
            </a:r>
            <a:endParaRPr lang="en-US" sz="1200" dirty="0"/>
          </a:p>
        </p:txBody>
      </p:sp>
      <p:graphicFrame>
        <p:nvGraphicFramePr>
          <p:cNvPr id="11" name="table-112"/>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1371600"/>
                <a:gridCol w="2377440"/>
                <a:gridCol w="2834640"/>
              </a:tblGrid>
              <a:tr h="548640">
                <a:tc>
                  <a:txBody>
                    <a:bodyPr/>
                    <a:lstStyle/>
                    <a:p>
                      <a:pPr indent="0" marL="0">
                        <a:buNone/>
                      </a:pPr>
                      <a:r>
                        <a:rPr lang="en-US" sz="1500" b="1" dirty="0">
                          <a:solidFill>
                            <a:schemeClr val="accent3"/>
                          </a:solidFill>
                          <a:latin typeface="Calibri" pitchFamily="34" charset="0"/>
                          <a:ea typeface="Calibri" pitchFamily="34" charset="-122"/>
                          <a:cs typeface="Calibri" pitchFamily="34" charset="-120"/>
                        </a:rPr>
                        <a:t>Form</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3"/>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500" b="1" dirty="0">
                          <a:solidFill>
                            <a:schemeClr val="accent3"/>
                          </a:solidFill>
                          <a:latin typeface="Calibri" pitchFamily="34" charset="0"/>
                          <a:ea typeface="Calibri" pitchFamily="34" charset="-122"/>
                          <a:cs typeface="Calibri" pitchFamily="34" charset="-120"/>
                        </a:rPr>
                        <a:t>Narrowing 3.9 → int</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548640">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Copy</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ourier New" pitchFamily="34" charset="0"/>
                          <a:ea typeface="Courier New" pitchFamily="34" charset="-122"/>
                          <a:cs typeface="Courier New" pitchFamily="34" charset="-120"/>
                        </a:rPr>
                        <a:t>int a = 3.9;</a:t>
                      </a:r>
                      <a:endParaRPr lang="en-US" sz="15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silently becomes 3</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548640">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Direct</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latin typeface="Courier New" pitchFamily="34" charset="0"/>
                          <a:ea typeface="Courier New" pitchFamily="34" charset="-122"/>
                          <a:cs typeface="Courier New" pitchFamily="34" charset="-120"/>
                        </a:rPr>
                        <a:t>int b(3.9);</a:t>
                      </a:r>
                      <a:endParaRPr lang="en-US" sz="15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silently becomes 3</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548640">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Brace</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500" dirty="0">
                          <a:solidFill>
                            <a:schemeClr val="bg1"/>
                          </a:solidFill>
                          <a:latin typeface="Courier New" pitchFamily="34" charset="0"/>
                          <a:ea typeface="Courier New" pitchFamily="34" charset="-122"/>
                          <a:cs typeface="Courier New" pitchFamily="34" charset="-120"/>
                        </a:rPr>
                        <a:t>int c{3.9};</a:t>
                      </a:r>
                      <a:endParaRPr lang="en-US" sz="15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500" dirty="0">
                          <a:solidFill>
                            <a:schemeClr val="accent4"/>
                          </a:solidFill>
                          <a:latin typeface="Calibri" pitchFamily="34" charset="0"/>
                          <a:ea typeface="Calibri" pitchFamily="34" charset="-122"/>
                          <a:cs typeface="Calibri" pitchFamily="34" charset="-120"/>
                        </a:rPr>
                        <a:t>compile error ✓</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548640">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Value</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latin typeface="Courier New" pitchFamily="34" charset="0"/>
                          <a:ea typeface="Courier New" pitchFamily="34" charset="-122"/>
                          <a:cs typeface="Courier New" pitchFamily="34" charset="-120"/>
                        </a:rPr>
                        <a:t>int d{};</a:t>
                      </a:r>
                      <a:endParaRPr lang="en-US" sz="15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500" dirty="0">
                          <a:solidFill>
                            <a:schemeClr val="bg1"/>
                          </a:solidFill>
                          <a:latin typeface="Calibri" pitchFamily="34" charset="0"/>
                          <a:ea typeface="Calibri" pitchFamily="34" charset="-122"/>
                          <a:cs typeface="Calibri" pitchFamily="34" charset="-120"/>
                        </a:rPr>
                        <a:t>zero-initialized: 0</a:t>
                      </a:r>
                      <a:endParaRPr lang="en-US" sz="15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bl>
          </a:graphicData>
        </a:graphic>
      </p:graphicFrame>
      <p:sp>
        <p:nvSpPr>
          <p:cNvPr id="5" name="card-113"/>
          <p:cNvSpPr/>
          <p:nvPr/>
        </p:nvSpPr>
        <p:spPr>
          <a:xfrm>
            <a:off x="7406640" y="1371600"/>
            <a:ext cx="4206240" cy="2743200"/>
          </a:xfrm>
          <a:prstGeom prst="roundRect">
            <a:avLst>
              <a:gd name="adj" fmla="val 4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6" name="text-114"/>
          <p:cNvSpPr txBox="1"/>
          <p:nvPr/>
        </p:nvSpPr>
        <p:spPr>
          <a:xfrm>
            <a:off x="7680960" y="1554480"/>
            <a:ext cx="3657600" cy="365760"/>
          </a:xfrm>
          <a:prstGeom prst="rect">
            <a:avLst/>
          </a:prstGeom>
          <a:noFill/>
          <a:ln/>
        </p:spPr>
        <p:txBody>
          <a:bodyPr wrap="square" lIns="0" tIns="0" rIns="0" bIns="0" rtlCol="0" anchor="t"/>
          <a:lstStyle/>
          <a:p>
            <a:pPr indent="0" marL="0">
              <a:buNone/>
            </a:pPr>
            <a:r>
              <a:rPr lang="en-US" sz="1800" b="1" dirty="0">
                <a:solidFill>
                  <a:schemeClr val="accent5"/>
                </a:solidFill>
              </a:rPr>
              <a:t>Uninitialized read</a:t>
            </a:r>
            <a:endParaRPr lang="en-US" sz="1800" dirty="0"/>
          </a:p>
        </p:txBody>
      </p:sp>
      <p:sp>
        <p:nvSpPr>
          <p:cNvPr id="7" name="text-115"/>
          <p:cNvSpPr txBox="1"/>
          <p:nvPr/>
        </p:nvSpPr>
        <p:spPr>
          <a:xfrm>
            <a:off x="7680960" y="2057400"/>
            <a:ext cx="3657600" cy="73152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int score;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std::cout &lt;&lt; score;</a:t>
            </a:r>
            <a:endParaRPr lang="en-US" sz="1500" dirty="0"/>
          </a:p>
        </p:txBody>
      </p:sp>
      <p:sp>
        <p:nvSpPr>
          <p:cNvPr id="8" name="text-116"/>
          <p:cNvSpPr txBox="1"/>
          <p:nvPr/>
        </p:nvSpPr>
        <p:spPr>
          <a:xfrm>
            <a:off x="7680960" y="2926080"/>
            <a:ext cx="3657600" cy="1097280"/>
          </a:xfrm>
          <a:prstGeom prst="rect">
            <a:avLst/>
          </a:prstGeom>
          <a:noFill/>
          <a:ln/>
        </p:spPr>
        <p:txBody>
          <a:bodyPr wrap="square" lIns="0" tIns="0" rIns="0" bIns="0" rtlCol="0" anchor="t"/>
          <a:lstStyle/>
          <a:p>
            <a:pPr indent="0" marL="0">
              <a:buNone/>
            </a:pPr>
            <a:r>
              <a:rPr lang="en-US" sz="1500" dirty="0">
                <a:solidFill>
                  <a:schemeClr val="bg2"/>
                </a:solidFill>
              </a:rPr>
              <a:t>printed 32766 at -O0 and 0 at -O2: undefined behavior. Initialize every variable.</a:t>
            </a:r>
            <a:endParaRPr lang="en-US" sz="1500" dirty="0"/>
          </a:p>
        </p:txBody>
      </p:sp>
      <p:sp>
        <p:nvSpPr>
          <p:cNvPr id="9" name="text-117"/>
          <p:cNvSpPr txBox="1"/>
          <p:nvPr/>
        </p:nvSpPr>
        <p:spPr>
          <a:xfrm>
            <a:off x="548640" y="4572000"/>
            <a:ext cx="10972800" cy="548640"/>
          </a:xfrm>
          <a:prstGeom prst="rect">
            <a:avLst/>
          </a:prstGeom>
          <a:noFill/>
          <a:ln/>
        </p:spPr>
        <p:txBody>
          <a:bodyPr wrap="square" lIns="0" tIns="0" rIns="0" bIns="0" rtlCol="0" anchor="t"/>
          <a:lstStyle/>
          <a:p>
            <a:pPr indent="0" marL="0">
              <a:buNone/>
            </a:pPr>
            <a:r>
              <a:rPr lang="en-US" sz="1700" b="1" dirty="0">
                <a:solidFill>
                  <a:schemeClr val="accent2"/>
                </a:solidFill>
              </a:rPr>
              <a:t>Rule: define variables with braces, initialized with their real value, as late as possible.</a:t>
            </a:r>
            <a:endParaRPr lang="en-US" sz="17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Fundamental types: sizes on x86-64 Linux</a:t>
            </a:r>
            <a:endParaRPr lang="en-US" sz="3000" dirty="0"/>
          </a:p>
        </p:txBody>
      </p:sp>
      <p:sp>
        <p:nvSpPr>
          <p:cNvPr id="3" name="text-118"/>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11</a:t>
            </a:r>
            <a:endParaRPr lang="en-US" sz="1200" dirty="0"/>
          </a:p>
        </p:txBody>
      </p:sp>
      <p:graphicFrame>
        <p:nvGraphicFramePr>
          <p:cNvPr id="4" name="chart-119" descr=""/>
          <p:cNvGraphicFramePr/>
          <p:nvPr/>
        </p:nvGraphicFramePr>
        <p:xfrm>
          <a:off x="548640" y="128016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card-120"/>
          <p:cNvSpPr/>
          <p:nvPr/>
        </p:nvSpPr>
        <p:spPr>
          <a:xfrm>
            <a:off x="7589520" y="1371600"/>
            <a:ext cx="402336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6" name="text-121"/>
          <p:cNvSpPr txBox="1"/>
          <p:nvPr/>
        </p:nvSpPr>
        <p:spPr>
          <a:xfrm>
            <a:off x="7863840" y="1554480"/>
            <a:ext cx="3566160" cy="365760"/>
          </a:xfrm>
          <a:prstGeom prst="rect">
            <a:avLst/>
          </a:prstGeom>
          <a:noFill/>
          <a:ln/>
        </p:spPr>
        <p:txBody>
          <a:bodyPr wrap="square" lIns="0" tIns="0" rIns="0" bIns="0" rtlCol="0" anchor="t"/>
          <a:lstStyle/>
          <a:p>
            <a:pPr indent="0" marL="0">
              <a:buNone/>
            </a:pPr>
            <a:r>
              <a:rPr lang="en-US" sz="1800" b="1" dirty="0">
                <a:solidFill>
                  <a:schemeClr val="accent3"/>
                </a:solidFill>
                <a:latin typeface="Courier New" pitchFamily="34" charset="0"/>
                <a:ea typeface="Courier New" pitchFamily="34" charset="-122"/>
                <a:cs typeface="Courier New" pitchFamily="34" charset="-120"/>
              </a:rPr>
              <a:t>sizeof</a:t>
            </a:r>
            <a:endParaRPr lang="en-US" sz="1800" dirty="0"/>
          </a:p>
        </p:txBody>
      </p:sp>
      <p:sp>
        <p:nvSpPr>
          <p:cNvPr id="7" name="text-122"/>
          <p:cNvSpPr txBox="1"/>
          <p:nvPr/>
        </p:nvSpPr>
        <p:spPr>
          <a:xfrm>
            <a:off x="7863840" y="1965960"/>
            <a:ext cx="3566160" cy="640080"/>
          </a:xfrm>
          <a:prstGeom prst="rect">
            <a:avLst/>
          </a:prstGeom>
          <a:noFill/>
          <a:ln/>
        </p:spPr>
        <p:txBody>
          <a:bodyPr wrap="square" lIns="0" tIns="0" rIns="0" bIns="0" rtlCol="0" anchor="t"/>
          <a:lstStyle/>
          <a:p>
            <a:pPr indent="0" marL="0">
              <a:buNone/>
            </a:pPr>
            <a:r>
              <a:rPr lang="en-US" sz="1500" dirty="0">
                <a:solidFill>
                  <a:schemeClr val="bg2"/>
                </a:solidFill>
              </a:rPr>
              <a:t>measures bytes; char is always 1</a:t>
            </a:r>
            <a:endParaRPr lang="en-US" sz="1500" dirty="0"/>
          </a:p>
        </p:txBody>
      </p:sp>
      <p:sp>
        <p:nvSpPr>
          <p:cNvPr id="8" name="card-123"/>
          <p:cNvSpPr/>
          <p:nvPr/>
        </p:nvSpPr>
        <p:spPr>
          <a:xfrm>
            <a:off x="7589520" y="2880360"/>
            <a:ext cx="402336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9" name="text-124"/>
          <p:cNvSpPr txBox="1"/>
          <p:nvPr/>
        </p:nvSpPr>
        <p:spPr>
          <a:xfrm>
            <a:off x="7863840" y="3063240"/>
            <a:ext cx="3566160" cy="365760"/>
          </a:xfrm>
          <a:prstGeom prst="rect">
            <a:avLst/>
          </a:prstGeom>
          <a:noFill/>
          <a:ln/>
        </p:spPr>
        <p:txBody>
          <a:bodyPr wrap="square" lIns="0" tIns="0" rIns="0" bIns="0" rtlCol="0" anchor="t"/>
          <a:lstStyle/>
          <a:p>
            <a:pPr indent="0" marL="0">
              <a:buNone/>
            </a:pPr>
            <a:r>
              <a:rPr lang="en-US" sz="1800" b="1" dirty="0">
                <a:solidFill>
                  <a:schemeClr val="accent3"/>
                </a:solidFill>
                <a:latin typeface="Courier New" pitchFamily="34" charset="0"/>
                <a:ea typeface="Courier New" pitchFamily="34" charset="-122"/>
                <a:cs typeface="Courier New" pitchFamily="34" charset="-120"/>
              </a:rPr>
              <a:t>long</a:t>
            </a:r>
            <a:endParaRPr lang="en-US" sz="1800" dirty="0"/>
          </a:p>
        </p:txBody>
      </p:sp>
      <p:sp>
        <p:nvSpPr>
          <p:cNvPr id="10" name="text-125"/>
          <p:cNvSpPr txBox="1"/>
          <p:nvPr/>
        </p:nvSpPr>
        <p:spPr>
          <a:xfrm>
            <a:off x="7863840" y="3474720"/>
            <a:ext cx="3566160" cy="640080"/>
          </a:xfrm>
          <a:prstGeom prst="rect">
            <a:avLst/>
          </a:prstGeom>
          <a:noFill/>
          <a:ln/>
        </p:spPr>
        <p:txBody>
          <a:bodyPr wrap="square" lIns="0" tIns="0" rIns="0" bIns="0" rtlCol="0" anchor="t"/>
          <a:lstStyle/>
          <a:p>
            <a:pPr indent="0" marL="0">
              <a:buNone/>
            </a:pPr>
            <a:r>
              <a:rPr lang="en-US" sz="1500" dirty="0">
                <a:solidFill>
                  <a:schemeClr val="bg2"/>
                </a:solidFill>
              </a:rPr>
              <a:t>8 bytes on Linux, 4 on 64-bit Windows</a:t>
            </a:r>
            <a:endParaRPr lang="en-US" sz="1500" dirty="0"/>
          </a:p>
        </p:txBody>
      </p:sp>
      <p:sp>
        <p:nvSpPr>
          <p:cNvPr id="11" name="card-126"/>
          <p:cNvSpPr/>
          <p:nvPr/>
        </p:nvSpPr>
        <p:spPr>
          <a:xfrm>
            <a:off x="7589520" y="4389120"/>
            <a:ext cx="402336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2" name="text-127"/>
          <p:cNvSpPr txBox="1"/>
          <p:nvPr/>
        </p:nvSpPr>
        <p:spPr>
          <a:xfrm>
            <a:off x="7863840" y="4572000"/>
            <a:ext cx="3566160" cy="365760"/>
          </a:xfrm>
          <a:prstGeom prst="rect">
            <a:avLst/>
          </a:prstGeom>
          <a:noFill/>
          <a:ln/>
        </p:spPr>
        <p:txBody>
          <a:bodyPr wrap="square" lIns="0" tIns="0" rIns="0" bIns="0" rtlCol="0" anchor="t"/>
          <a:lstStyle/>
          <a:p>
            <a:pPr indent="0" marL="0">
              <a:buNone/>
            </a:pPr>
            <a:r>
              <a:rPr lang="en-US" sz="1800" b="1" dirty="0">
                <a:solidFill>
                  <a:schemeClr val="accent3"/>
                </a:solidFill>
                <a:latin typeface="Courier New" pitchFamily="34" charset="0"/>
                <a:ea typeface="Courier New" pitchFamily="34" charset="-122"/>
                <a:cs typeface="Courier New" pitchFamily="34" charset="-120"/>
              </a:rPr>
              <a:t>Platform</a:t>
            </a:r>
            <a:endParaRPr lang="en-US" sz="1800" dirty="0"/>
          </a:p>
        </p:txBody>
      </p:sp>
      <p:sp>
        <p:nvSpPr>
          <p:cNvPr id="13" name="text-128"/>
          <p:cNvSpPr txBox="1"/>
          <p:nvPr/>
        </p:nvSpPr>
        <p:spPr>
          <a:xfrm>
            <a:off x="7863840" y="4983480"/>
            <a:ext cx="3566160" cy="640080"/>
          </a:xfrm>
          <a:prstGeom prst="rect">
            <a:avLst/>
          </a:prstGeom>
          <a:noFill/>
          <a:ln/>
        </p:spPr>
        <p:txBody>
          <a:bodyPr wrap="square" lIns="0" tIns="0" rIns="0" bIns="0" rtlCol="0" anchor="t"/>
          <a:lstStyle/>
          <a:p>
            <a:pPr indent="0" marL="0">
              <a:buNone/>
            </a:pPr>
            <a:r>
              <a:rPr lang="en-US" sz="1500" dirty="0">
                <a:solidFill>
                  <a:schemeClr val="bg2"/>
                </a:solidFill>
              </a:rPr>
              <a:t>sizes beyond the minimums are implementation-defined</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Ranges and precision: the numbers to remember</a:t>
            </a:r>
            <a:endParaRPr lang="en-US" sz="3000" dirty="0"/>
          </a:p>
        </p:txBody>
      </p:sp>
      <p:sp>
        <p:nvSpPr>
          <p:cNvPr id="3" name="text-129"/>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12</a:t>
            </a:r>
            <a:endParaRPr lang="en-US" sz="1200" dirty="0"/>
          </a:p>
        </p:txBody>
      </p:sp>
      <p:sp>
        <p:nvSpPr>
          <p:cNvPr id="4" name="card-130"/>
          <p:cNvSpPr/>
          <p:nvPr/>
        </p:nvSpPr>
        <p:spPr>
          <a:xfrm>
            <a:off x="548640" y="1371600"/>
            <a:ext cx="3520440" cy="2011680"/>
          </a:xfrm>
          <a:prstGeom prst="roundRect">
            <a:avLst>
              <a:gd name="adj" fmla="val 545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131"/>
          <p:cNvSpPr txBox="1"/>
          <p:nvPr/>
        </p:nvSpPr>
        <p:spPr>
          <a:xfrm>
            <a:off x="822960" y="1645920"/>
            <a:ext cx="3108960" cy="8229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2,147,483,647</a:t>
            </a:r>
            <a:endParaRPr lang="en-US" sz="3200" dirty="0"/>
          </a:p>
        </p:txBody>
      </p:sp>
      <p:sp>
        <p:nvSpPr>
          <p:cNvPr id="6" name="text-132"/>
          <p:cNvSpPr txBox="1"/>
          <p:nvPr/>
        </p:nvSpPr>
        <p:spPr>
          <a:xfrm>
            <a:off x="822960" y="2560320"/>
            <a:ext cx="3108960" cy="548640"/>
          </a:xfrm>
          <a:prstGeom prst="rect">
            <a:avLst/>
          </a:prstGeom>
          <a:noFill/>
          <a:ln/>
        </p:spPr>
        <p:txBody>
          <a:bodyPr wrap="square" lIns="0" tIns="0" rIns="0" bIns="0" rtlCol="0" anchor="t"/>
          <a:lstStyle/>
          <a:p>
            <a:pPr indent="0" marL="0">
              <a:buNone/>
            </a:pPr>
            <a:r>
              <a:rPr lang="en-US" sz="1500" dirty="0">
                <a:solidFill>
                  <a:schemeClr val="bg2"/>
                </a:solidFill>
              </a:rPr>
              <a:t>int max (4 bytes)</a:t>
            </a:r>
            <a:endParaRPr lang="en-US" sz="1500" dirty="0"/>
          </a:p>
        </p:txBody>
      </p:sp>
      <p:sp>
        <p:nvSpPr>
          <p:cNvPr id="7" name="card-133"/>
          <p:cNvSpPr/>
          <p:nvPr/>
        </p:nvSpPr>
        <p:spPr>
          <a:xfrm>
            <a:off x="4297680" y="1371600"/>
            <a:ext cx="3520440" cy="2011680"/>
          </a:xfrm>
          <a:prstGeom prst="roundRect">
            <a:avLst>
              <a:gd name="adj" fmla="val 545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8" name="text-134"/>
          <p:cNvSpPr txBox="1"/>
          <p:nvPr/>
        </p:nvSpPr>
        <p:spPr>
          <a:xfrm>
            <a:off x="4572000" y="1645920"/>
            <a:ext cx="3108960" cy="822960"/>
          </a:xfrm>
          <a:prstGeom prst="rect">
            <a:avLst/>
          </a:prstGeom>
          <a:noFill/>
          <a:ln/>
        </p:spPr>
        <p:txBody>
          <a:bodyPr wrap="square" lIns="0" tIns="0" rIns="0" bIns="0" rtlCol="0" anchor="t"/>
          <a:lstStyle/>
          <a:p>
            <a:pPr indent="0" marL="0">
              <a:buNone/>
            </a:pPr>
            <a:r>
              <a:rPr lang="en-US" sz="3200" b="1" dirty="0">
                <a:solidFill>
                  <a:schemeClr val="accent3"/>
                </a:solidFill>
                <a:latin typeface="Cambria" pitchFamily="34" charset="0"/>
                <a:ea typeface="Cambria" pitchFamily="34" charset="-122"/>
                <a:cs typeface="Cambria" pitchFamily="34" charset="-120"/>
              </a:rPr>
              <a:t>16,777,216</a:t>
            </a:r>
            <a:endParaRPr lang="en-US" sz="3200" dirty="0"/>
          </a:p>
        </p:txBody>
      </p:sp>
      <p:sp>
        <p:nvSpPr>
          <p:cNvPr id="9" name="text-135"/>
          <p:cNvSpPr txBox="1"/>
          <p:nvPr/>
        </p:nvSpPr>
        <p:spPr>
          <a:xfrm>
            <a:off x="4572000" y="2560320"/>
            <a:ext cx="3108960" cy="548640"/>
          </a:xfrm>
          <a:prstGeom prst="rect">
            <a:avLst/>
          </a:prstGeom>
          <a:noFill/>
          <a:ln/>
        </p:spPr>
        <p:txBody>
          <a:bodyPr wrap="square" lIns="0" tIns="0" rIns="0" bIns="0" rtlCol="0" anchor="t"/>
          <a:lstStyle/>
          <a:p>
            <a:pPr indent="0" marL="0">
              <a:buNone/>
            </a:pPr>
            <a:r>
              <a:rPr lang="en-US" sz="1500" dirty="0">
                <a:solidFill>
                  <a:schemeClr val="bg2"/>
                </a:solidFill>
              </a:rPr>
              <a:t>2²⁴: float stops being exact</a:t>
            </a:r>
            <a:endParaRPr lang="en-US" sz="1500" dirty="0"/>
          </a:p>
        </p:txBody>
      </p:sp>
      <p:sp>
        <p:nvSpPr>
          <p:cNvPr id="10" name="card-136"/>
          <p:cNvSpPr/>
          <p:nvPr/>
        </p:nvSpPr>
        <p:spPr>
          <a:xfrm>
            <a:off x="8046720" y="1371600"/>
            <a:ext cx="3520440" cy="2011680"/>
          </a:xfrm>
          <a:prstGeom prst="roundRect">
            <a:avLst>
              <a:gd name="adj" fmla="val 545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1" name="text-137"/>
          <p:cNvSpPr txBox="1"/>
          <p:nvPr/>
        </p:nvSpPr>
        <p:spPr>
          <a:xfrm>
            <a:off x="8321040" y="1645920"/>
            <a:ext cx="3108960" cy="822960"/>
          </a:xfrm>
          <a:prstGeom prst="rect">
            <a:avLst/>
          </a:prstGeom>
          <a:noFill/>
          <a:ln/>
        </p:spPr>
        <p:txBody>
          <a:bodyPr wrap="square" lIns="0" tIns="0" rIns="0" bIns="0" rtlCol="0" anchor="t"/>
          <a:lstStyle/>
          <a:p>
            <a:pPr indent="0" marL="0">
              <a:buNone/>
            </a:pPr>
            <a:r>
              <a:rPr lang="en-US" sz="3200" b="1" dirty="0">
                <a:solidFill>
                  <a:schemeClr val="accent6"/>
                </a:solidFill>
                <a:latin typeface="Cambria" pitchFamily="34" charset="0"/>
                <a:ea typeface="Cambria" pitchFamily="34" charset="-122"/>
                <a:cs typeface="Cambria" pitchFamily="34" charset="-120"/>
              </a:rPr>
              <a:t>6 vs 15</a:t>
            </a:r>
            <a:endParaRPr lang="en-US" sz="3200" dirty="0"/>
          </a:p>
        </p:txBody>
      </p:sp>
      <p:sp>
        <p:nvSpPr>
          <p:cNvPr id="12" name="text-138"/>
          <p:cNvSpPr txBox="1"/>
          <p:nvPr/>
        </p:nvSpPr>
        <p:spPr>
          <a:xfrm>
            <a:off x="8321040" y="2560320"/>
            <a:ext cx="3108960" cy="548640"/>
          </a:xfrm>
          <a:prstGeom prst="rect">
            <a:avLst/>
          </a:prstGeom>
          <a:noFill/>
          <a:ln/>
        </p:spPr>
        <p:txBody>
          <a:bodyPr wrap="square" lIns="0" tIns="0" rIns="0" bIns="0" rtlCol="0" anchor="t"/>
          <a:lstStyle/>
          <a:p>
            <a:pPr indent="0" marL="0">
              <a:buNone/>
            </a:pPr>
            <a:r>
              <a:rPr lang="en-US" sz="1500" dirty="0">
                <a:solidFill>
                  <a:schemeClr val="bg2"/>
                </a:solidFill>
              </a:rPr>
              <a:t>decimal digits: float vs double</a:t>
            </a:r>
            <a:endParaRPr lang="en-US" sz="1500" dirty="0"/>
          </a:p>
        </p:txBody>
      </p:sp>
      <p:sp>
        <p:nvSpPr>
          <p:cNvPr id="13" name="card-139"/>
          <p:cNvSpPr/>
          <p:nvPr/>
        </p:nvSpPr>
        <p:spPr>
          <a:xfrm>
            <a:off x="548640" y="3657600"/>
            <a:ext cx="5440680" cy="1051560"/>
          </a:xfrm>
          <a:prstGeom prst="roundRect">
            <a:avLst>
              <a:gd name="adj" fmla="val 1043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4" name="text-140"/>
          <p:cNvSpPr txBox="1"/>
          <p:nvPr/>
        </p:nvSpPr>
        <p:spPr>
          <a:xfrm>
            <a:off x="822960" y="3794760"/>
            <a:ext cx="49377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0.1 is not exact</a:t>
            </a:r>
            <a:endParaRPr lang="en-US" sz="1600" dirty="0"/>
          </a:p>
        </p:txBody>
      </p:sp>
      <p:sp>
        <p:nvSpPr>
          <p:cNvPr id="15" name="text-141"/>
          <p:cNvSpPr txBox="1"/>
          <p:nvPr/>
        </p:nvSpPr>
        <p:spPr>
          <a:xfrm>
            <a:off x="822960" y="4187952"/>
            <a:ext cx="4937760" cy="365760"/>
          </a:xfrm>
          <a:prstGeom prst="rect">
            <a:avLst/>
          </a:prstGeom>
          <a:noFill/>
          <a:ln/>
        </p:spPr>
        <p:txBody>
          <a:bodyPr wrap="square" lIns="0" tIns="0" rIns="0" bIns="0" rtlCol="0" anchor="t"/>
          <a:lstStyle/>
          <a:p>
            <a:pPr indent="0" marL="0">
              <a:buNone/>
            </a:pPr>
            <a:r>
              <a:rPr lang="en-US" sz="1400" dirty="0">
                <a:solidFill>
                  <a:schemeClr val="bg2"/>
                </a:solidFill>
              </a:rPr>
              <a:t>binary can't represent it; 0.5 is exact</a:t>
            </a:r>
            <a:endParaRPr lang="en-US" sz="1400" dirty="0"/>
          </a:p>
        </p:txBody>
      </p:sp>
      <p:sp>
        <p:nvSpPr>
          <p:cNvPr id="16" name="card-142"/>
          <p:cNvSpPr/>
          <p:nvPr/>
        </p:nvSpPr>
        <p:spPr>
          <a:xfrm>
            <a:off x="6172200" y="3657600"/>
            <a:ext cx="5440680" cy="1051560"/>
          </a:xfrm>
          <a:prstGeom prst="roundRect">
            <a:avLst>
              <a:gd name="adj" fmla="val 1043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7" name="text-143"/>
          <p:cNvSpPr txBox="1"/>
          <p:nvPr/>
        </p:nvSpPr>
        <p:spPr>
          <a:xfrm>
            <a:off x="6446520" y="3794760"/>
            <a:ext cx="493776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unsigned wraps</a:t>
            </a:r>
            <a:endParaRPr lang="en-US" sz="1600" dirty="0"/>
          </a:p>
        </p:txBody>
      </p:sp>
      <p:sp>
        <p:nvSpPr>
          <p:cNvPr id="18" name="text-144"/>
          <p:cNvSpPr txBox="1"/>
          <p:nvPr/>
        </p:nvSpPr>
        <p:spPr>
          <a:xfrm>
            <a:off x="6446520" y="4187952"/>
            <a:ext cx="4937760" cy="365760"/>
          </a:xfrm>
          <a:prstGeom prst="rect">
            <a:avLst/>
          </a:prstGeom>
          <a:noFill/>
          <a:ln/>
        </p:spPr>
        <p:txBody>
          <a:bodyPr wrap="square" lIns="0" tIns="0" rIns="0" bIns="0" rtlCol="0" anchor="t"/>
          <a:lstStyle/>
          <a:p>
            <a:pPr indent="0" marL="0">
              <a:buNone/>
            </a:pPr>
            <a:r>
              <a:rPr lang="en-US" sz="1400" dirty="0">
                <a:solidFill>
                  <a:schemeClr val="bg2"/>
                </a:solidFill>
              </a:rPr>
              <a:t>0u - 1 = 4,294,967,295 (defined)</a:t>
            </a:r>
            <a:endParaRPr lang="en-US" sz="1400" dirty="0"/>
          </a:p>
        </p:txBody>
      </p:sp>
      <p:sp>
        <p:nvSpPr>
          <p:cNvPr id="19" name="card-145"/>
          <p:cNvSpPr/>
          <p:nvPr/>
        </p:nvSpPr>
        <p:spPr>
          <a:xfrm>
            <a:off x="548640" y="4892040"/>
            <a:ext cx="5440680" cy="1051560"/>
          </a:xfrm>
          <a:prstGeom prst="roundRect">
            <a:avLst>
              <a:gd name="adj" fmla="val 1043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0" name="text-146"/>
          <p:cNvSpPr txBox="1"/>
          <p:nvPr/>
        </p:nvSpPr>
        <p:spPr>
          <a:xfrm>
            <a:off x="822960" y="5029200"/>
            <a:ext cx="4937760" cy="365760"/>
          </a:xfrm>
          <a:prstGeom prst="rect">
            <a:avLst/>
          </a:prstGeom>
          <a:noFill/>
          <a:ln/>
        </p:spPr>
        <p:txBody>
          <a:bodyPr wrap="square" lIns="0" tIns="0" rIns="0" bIns="0" rtlCol="0" anchor="t"/>
          <a:lstStyle/>
          <a:p>
            <a:pPr indent="0" marL="0">
              <a:buNone/>
            </a:pPr>
            <a:r>
              <a:rPr lang="en-US" sz="1600" b="1" dirty="0">
                <a:solidFill>
                  <a:schemeClr val="accent5"/>
                </a:solidFill>
                <a:latin typeface="Calibri" pitchFamily="34" charset="0"/>
                <a:ea typeface="Calibri" pitchFamily="34" charset="-122"/>
                <a:cs typeface="Calibri" pitchFamily="34" charset="-120"/>
              </a:rPr>
              <a:t>signed overflow</a:t>
            </a:r>
            <a:endParaRPr lang="en-US" sz="1600" dirty="0"/>
          </a:p>
        </p:txBody>
      </p:sp>
      <p:sp>
        <p:nvSpPr>
          <p:cNvPr id="21" name="text-147"/>
          <p:cNvSpPr txBox="1"/>
          <p:nvPr/>
        </p:nvSpPr>
        <p:spPr>
          <a:xfrm>
            <a:off x="822960" y="5422392"/>
            <a:ext cx="4937760" cy="365760"/>
          </a:xfrm>
          <a:prstGeom prst="rect">
            <a:avLst/>
          </a:prstGeom>
          <a:noFill/>
          <a:ln/>
        </p:spPr>
        <p:txBody>
          <a:bodyPr wrap="square" lIns="0" tIns="0" rIns="0" bIns="0" rtlCol="0" anchor="t"/>
          <a:lstStyle/>
          <a:p>
            <a:pPr indent="0" marL="0">
              <a:buNone/>
            </a:pPr>
            <a:r>
              <a:rPr lang="en-US" sz="1400" dirty="0">
                <a:solidFill>
                  <a:schemeClr val="bg2"/>
                </a:solidFill>
              </a:rPr>
              <a:t>undefined behavior (topics 18, 24)</a:t>
            </a:r>
            <a:endParaRPr lang="en-US" sz="1400" dirty="0"/>
          </a:p>
        </p:txBody>
      </p:sp>
      <p:sp>
        <p:nvSpPr>
          <p:cNvPr id="22" name="card-148"/>
          <p:cNvSpPr/>
          <p:nvPr/>
        </p:nvSpPr>
        <p:spPr>
          <a:xfrm>
            <a:off x="6172200" y="4892040"/>
            <a:ext cx="5440680" cy="1051560"/>
          </a:xfrm>
          <a:prstGeom prst="roundRect">
            <a:avLst>
              <a:gd name="adj" fmla="val 10435"/>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3" name="text-149"/>
          <p:cNvSpPr txBox="1"/>
          <p:nvPr/>
        </p:nvSpPr>
        <p:spPr>
          <a:xfrm>
            <a:off x="6446520" y="5029200"/>
            <a:ext cx="4937760" cy="36576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numeric_limits&lt;double&gt;::min()</a:t>
            </a:r>
            <a:endParaRPr lang="en-US" sz="1600" dirty="0"/>
          </a:p>
        </p:txBody>
      </p:sp>
      <p:sp>
        <p:nvSpPr>
          <p:cNvPr id="24" name="text-150"/>
          <p:cNvSpPr txBox="1"/>
          <p:nvPr/>
        </p:nvSpPr>
        <p:spPr>
          <a:xfrm>
            <a:off x="6446520" y="5422392"/>
            <a:ext cx="4937760" cy="365760"/>
          </a:xfrm>
          <a:prstGeom prst="rect">
            <a:avLst/>
          </a:prstGeom>
          <a:noFill/>
          <a:ln/>
        </p:spPr>
        <p:txBody>
          <a:bodyPr wrap="square" lIns="0" tIns="0" rIns="0" bIns="0" rtlCol="0" anchor="t"/>
          <a:lstStyle/>
          <a:p>
            <a:pPr indent="0" marL="0">
              <a:buNone/>
            </a:pPr>
            <a:r>
              <a:rPr lang="en-US" sz="1400" dirty="0">
                <a:solidFill>
                  <a:schemeClr val="bg2"/>
                </a:solidFill>
              </a:rPr>
              <a:t>smallest positive, not most negative: use lowest()</a:t>
            </a:r>
            <a:endParaRPr lang="en-US" sz="14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One byte, two meanings</a:t>
            </a:r>
            <a:endParaRPr lang="en-US" sz="3000" dirty="0"/>
          </a:p>
        </p:txBody>
      </p:sp>
      <p:sp>
        <p:nvSpPr>
          <p:cNvPr id="3" name="text-151"/>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13</a:t>
            </a:r>
            <a:endParaRPr lang="en-US" sz="1200" dirty="0"/>
          </a:p>
        </p:txBody>
      </p:sp>
      <p:sp>
        <p:nvSpPr>
          <p:cNvPr id="4" name="bit-152"/>
          <p:cNvSpPr/>
          <p:nvPr/>
        </p:nvSpPr>
        <p:spPr>
          <a:xfrm>
            <a:off x="822960" y="1463040"/>
            <a:ext cx="566928" cy="685800"/>
          </a:xfrm>
          <a:prstGeom prst="roundRect">
            <a:avLst>
              <a:gd name="adj" fmla="val 12903"/>
            </a:avLst>
          </a:prstGeom>
          <a:solidFill>
            <a:schemeClr val="accent3"/>
          </a:solidFill>
          <a:ln w="12700">
            <a:solidFill>
              <a:schemeClr val="tx2"/>
            </a:solidFill>
            <a:prstDash val="solid"/>
          </a:ln>
        </p:spPr>
      </p:sp>
      <p:sp>
        <p:nvSpPr>
          <p:cNvPr id="5" name="text-153"/>
          <p:cNvSpPr txBox="1"/>
          <p:nvPr/>
        </p:nvSpPr>
        <p:spPr>
          <a:xfrm>
            <a:off x="822960" y="1463040"/>
            <a:ext cx="566928"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1</a:t>
            </a:r>
            <a:endParaRPr lang="en-US" sz="2200" dirty="0"/>
          </a:p>
        </p:txBody>
      </p:sp>
      <p:sp>
        <p:nvSpPr>
          <p:cNvPr id="6" name="bit-154"/>
          <p:cNvSpPr/>
          <p:nvPr/>
        </p:nvSpPr>
        <p:spPr>
          <a:xfrm>
            <a:off x="1508760" y="1463040"/>
            <a:ext cx="566928" cy="685800"/>
          </a:xfrm>
          <a:prstGeom prst="roundRect">
            <a:avLst>
              <a:gd name="adj" fmla="val 12903"/>
            </a:avLst>
          </a:prstGeom>
          <a:solidFill>
            <a:schemeClr val="accent1"/>
          </a:solidFill>
          <a:ln w="12700">
            <a:solidFill>
              <a:schemeClr val="tx2"/>
            </a:solidFill>
            <a:prstDash val="solid"/>
          </a:ln>
        </p:spPr>
      </p:sp>
      <p:sp>
        <p:nvSpPr>
          <p:cNvPr id="7" name="text-155"/>
          <p:cNvSpPr txBox="1"/>
          <p:nvPr/>
        </p:nvSpPr>
        <p:spPr>
          <a:xfrm>
            <a:off x="1508760" y="1463040"/>
            <a:ext cx="566928"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1</a:t>
            </a:r>
            <a:endParaRPr lang="en-US" sz="2200" dirty="0"/>
          </a:p>
        </p:txBody>
      </p:sp>
      <p:sp>
        <p:nvSpPr>
          <p:cNvPr id="8" name="bit-156"/>
          <p:cNvSpPr/>
          <p:nvPr/>
        </p:nvSpPr>
        <p:spPr>
          <a:xfrm>
            <a:off x="2194560" y="1463040"/>
            <a:ext cx="566928" cy="685800"/>
          </a:xfrm>
          <a:prstGeom prst="roundRect">
            <a:avLst>
              <a:gd name="adj" fmla="val 12903"/>
            </a:avLst>
          </a:prstGeom>
          <a:solidFill>
            <a:schemeClr val="tx2"/>
          </a:solidFill>
          <a:ln w="12700">
            <a:solidFill>
              <a:schemeClr val="tx2"/>
            </a:solidFill>
            <a:prstDash val="solid"/>
          </a:ln>
        </p:spPr>
      </p:sp>
      <p:sp>
        <p:nvSpPr>
          <p:cNvPr id="9" name="text-157"/>
          <p:cNvSpPr txBox="1"/>
          <p:nvPr/>
        </p:nvSpPr>
        <p:spPr>
          <a:xfrm>
            <a:off x="2194560" y="1463040"/>
            <a:ext cx="566928" cy="685800"/>
          </a:xfrm>
          <a:prstGeom prst="rect">
            <a:avLst/>
          </a:prstGeom>
          <a:noFill/>
          <a:ln/>
        </p:spPr>
        <p:txBody>
          <a:bodyPr wrap="square" lIns="0" tIns="0" rIns="0" bIns="0" rtlCol="0" anchor="ctr"/>
          <a:lstStyle/>
          <a:p>
            <a:pPr algn="ctr" indent="0" marL="0">
              <a:buNone/>
            </a:pPr>
            <a:r>
              <a:rPr lang="en-US" sz="2200" b="1" dirty="0">
                <a:solidFill>
                  <a:schemeClr val="bg2"/>
                </a:solidFill>
                <a:latin typeface="Courier New" pitchFamily="34" charset="0"/>
                <a:ea typeface="Courier New" pitchFamily="34" charset="-122"/>
                <a:cs typeface="Courier New" pitchFamily="34" charset="-120"/>
              </a:rPr>
              <a:t>0</a:t>
            </a:r>
            <a:endParaRPr lang="en-US" sz="2200" dirty="0"/>
          </a:p>
        </p:txBody>
      </p:sp>
      <p:sp>
        <p:nvSpPr>
          <p:cNvPr id="10" name="bit-158"/>
          <p:cNvSpPr/>
          <p:nvPr/>
        </p:nvSpPr>
        <p:spPr>
          <a:xfrm>
            <a:off x="2880360" y="1463040"/>
            <a:ext cx="566928" cy="685800"/>
          </a:xfrm>
          <a:prstGeom prst="roundRect">
            <a:avLst>
              <a:gd name="adj" fmla="val 12903"/>
            </a:avLst>
          </a:prstGeom>
          <a:solidFill>
            <a:schemeClr val="tx2"/>
          </a:solidFill>
          <a:ln w="12700">
            <a:solidFill>
              <a:schemeClr val="tx2"/>
            </a:solidFill>
            <a:prstDash val="solid"/>
          </a:ln>
        </p:spPr>
      </p:sp>
      <p:sp>
        <p:nvSpPr>
          <p:cNvPr id="11" name="text-159"/>
          <p:cNvSpPr txBox="1"/>
          <p:nvPr/>
        </p:nvSpPr>
        <p:spPr>
          <a:xfrm>
            <a:off x="2880360" y="1463040"/>
            <a:ext cx="566928" cy="685800"/>
          </a:xfrm>
          <a:prstGeom prst="rect">
            <a:avLst/>
          </a:prstGeom>
          <a:noFill/>
          <a:ln/>
        </p:spPr>
        <p:txBody>
          <a:bodyPr wrap="square" lIns="0" tIns="0" rIns="0" bIns="0" rtlCol="0" anchor="ctr"/>
          <a:lstStyle/>
          <a:p>
            <a:pPr algn="ctr" indent="0" marL="0">
              <a:buNone/>
            </a:pPr>
            <a:r>
              <a:rPr lang="en-US" sz="2200" b="1" dirty="0">
                <a:solidFill>
                  <a:schemeClr val="bg2"/>
                </a:solidFill>
                <a:latin typeface="Courier New" pitchFamily="34" charset="0"/>
                <a:ea typeface="Courier New" pitchFamily="34" charset="-122"/>
                <a:cs typeface="Courier New" pitchFamily="34" charset="-120"/>
              </a:rPr>
              <a:t>0</a:t>
            </a:r>
            <a:endParaRPr lang="en-US" sz="2200" dirty="0"/>
          </a:p>
        </p:txBody>
      </p:sp>
      <p:sp>
        <p:nvSpPr>
          <p:cNvPr id="12" name="bit-160"/>
          <p:cNvSpPr/>
          <p:nvPr/>
        </p:nvSpPr>
        <p:spPr>
          <a:xfrm>
            <a:off x="3566160" y="1463040"/>
            <a:ext cx="566928" cy="685800"/>
          </a:xfrm>
          <a:prstGeom prst="roundRect">
            <a:avLst>
              <a:gd name="adj" fmla="val 12903"/>
            </a:avLst>
          </a:prstGeom>
          <a:solidFill>
            <a:schemeClr val="accent1"/>
          </a:solidFill>
          <a:ln w="12700">
            <a:solidFill>
              <a:schemeClr val="tx2"/>
            </a:solidFill>
            <a:prstDash val="solid"/>
          </a:ln>
        </p:spPr>
      </p:sp>
      <p:sp>
        <p:nvSpPr>
          <p:cNvPr id="13" name="text-161"/>
          <p:cNvSpPr txBox="1"/>
          <p:nvPr/>
        </p:nvSpPr>
        <p:spPr>
          <a:xfrm>
            <a:off x="3566160" y="1463040"/>
            <a:ext cx="566928" cy="68580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1</a:t>
            </a:r>
            <a:endParaRPr lang="en-US" sz="2200" dirty="0"/>
          </a:p>
        </p:txBody>
      </p:sp>
      <p:sp>
        <p:nvSpPr>
          <p:cNvPr id="14" name="bit-162"/>
          <p:cNvSpPr/>
          <p:nvPr/>
        </p:nvSpPr>
        <p:spPr>
          <a:xfrm>
            <a:off x="4251960" y="1463040"/>
            <a:ext cx="566928" cy="685800"/>
          </a:xfrm>
          <a:prstGeom prst="roundRect">
            <a:avLst>
              <a:gd name="adj" fmla="val 12903"/>
            </a:avLst>
          </a:prstGeom>
          <a:solidFill>
            <a:schemeClr val="tx2"/>
          </a:solidFill>
          <a:ln w="12700">
            <a:solidFill>
              <a:schemeClr val="tx2"/>
            </a:solidFill>
            <a:prstDash val="solid"/>
          </a:ln>
        </p:spPr>
      </p:sp>
      <p:sp>
        <p:nvSpPr>
          <p:cNvPr id="15" name="text-163"/>
          <p:cNvSpPr txBox="1"/>
          <p:nvPr/>
        </p:nvSpPr>
        <p:spPr>
          <a:xfrm>
            <a:off x="4251960" y="1463040"/>
            <a:ext cx="566928" cy="685800"/>
          </a:xfrm>
          <a:prstGeom prst="rect">
            <a:avLst/>
          </a:prstGeom>
          <a:noFill/>
          <a:ln/>
        </p:spPr>
        <p:txBody>
          <a:bodyPr wrap="square" lIns="0" tIns="0" rIns="0" bIns="0" rtlCol="0" anchor="ctr"/>
          <a:lstStyle/>
          <a:p>
            <a:pPr algn="ctr" indent="0" marL="0">
              <a:buNone/>
            </a:pPr>
            <a:r>
              <a:rPr lang="en-US" sz="2200" b="1" dirty="0">
                <a:solidFill>
                  <a:schemeClr val="bg2"/>
                </a:solidFill>
                <a:latin typeface="Courier New" pitchFamily="34" charset="0"/>
                <a:ea typeface="Courier New" pitchFamily="34" charset="-122"/>
                <a:cs typeface="Courier New" pitchFamily="34" charset="-120"/>
              </a:rPr>
              <a:t>0</a:t>
            </a:r>
            <a:endParaRPr lang="en-US" sz="2200" dirty="0"/>
          </a:p>
        </p:txBody>
      </p:sp>
      <p:sp>
        <p:nvSpPr>
          <p:cNvPr id="16" name="bit-164"/>
          <p:cNvSpPr/>
          <p:nvPr/>
        </p:nvSpPr>
        <p:spPr>
          <a:xfrm>
            <a:off x="4937760" y="1463040"/>
            <a:ext cx="566928" cy="685800"/>
          </a:xfrm>
          <a:prstGeom prst="roundRect">
            <a:avLst>
              <a:gd name="adj" fmla="val 12903"/>
            </a:avLst>
          </a:prstGeom>
          <a:solidFill>
            <a:schemeClr val="tx2"/>
          </a:solidFill>
          <a:ln w="12700">
            <a:solidFill>
              <a:schemeClr val="tx2"/>
            </a:solidFill>
            <a:prstDash val="solid"/>
          </a:ln>
        </p:spPr>
      </p:sp>
      <p:sp>
        <p:nvSpPr>
          <p:cNvPr id="17" name="text-165"/>
          <p:cNvSpPr txBox="1"/>
          <p:nvPr/>
        </p:nvSpPr>
        <p:spPr>
          <a:xfrm>
            <a:off x="4937760" y="1463040"/>
            <a:ext cx="566928" cy="685800"/>
          </a:xfrm>
          <a:prstGeom prst="rect">
            <a:avLst/>
          </a:prstGeom>
          <a:noFill/>
          <a:ln/>
        </p:spPr>
        <p:txBody>
          <a:bodyPr wrap="square" lIns="0" tIns="0" rIns="0" bIns="0" rtlCol="0" anchor="ctr"/>
          <a:lstStyle/>
          <a:p>
            <a:pPr algn="ctr" indent="0" marL="0">
              <a:buNone/>
            </a:pPr>
            <a:r>
              <a:rPr lang="en-US" sz="2200" b="1" dirty="0">
                <a:solidFill>
                  <a:schemeClr val="bg2"/>
                </a:solidFill>
                <a:latin typeface="Courier New" pitchFamily="34" charset="0"/>
                <a:ea typeface="Courier New" pitchFamily="34" charset="-122"/>
                <a:cs typeface="Courier New" pitchFamily="34" charset="-120"/>
              </a:rPr>
              <a:t>0</a:t>
            </a:r>
            <a:endParaRPr lang="en-US" sz="2200" dirty="0"/>
          </a:p>
        </p:txBody>
      </p:sp>
      <p:sp>
        <p:nvSpPr>
          <p:cNvPr id="18" name="bit-166"/>
          <p:cNvSpPr/>
          <p:nvPr/>
        </p:nvSpPr>
        <p:spPr>
          <a:xfrm>
            <a:off x="5623560" y="1463040"/>
            <a:ext cx="566928" cy="685800"/>
          </a:xfrm>
          <a:prstGeom prst="roundRect">
            <a:avLst>
              <a:gd name="adj" fmla="val 12903"/>
            </a:avLst>
          </a:prstGeom>
          <a:solidFill>
            <a:schemeClr val="tx2"/>
          </a:solidFill>
          <a:ln w="12700">
            <a:solidFill>
              <a:schemeClr val="tx2"/>
            </a:solidFill>
            <a:prstDash val="solid"/>
          </a:ln>
        </p:spPr>
      </p:sp>
      <p:sp>
        <p:nvSpPr>
          <p:cNvPr id="19" name="text-167"/>
          <p:cNvSpPr txBox="1"/>
          <p:nvPr/>
        </p:nvSpPr>
        <p:spPr>
          <a:xfrm>
            <a:off x="5623560" y="1463040"/>
            <a:ext cx="566928" cy="685800"/>
          </a:xfrm>
          <a:prstGeom prst="rect">
            <a:avLst/>
          </a:prstGeom>
          <a:noFill/>
          <a:ln/>
        </p:spPr>
        <p:txBody>
          <a:bodyPr wrap="square" lIns="0" tIns="0" rIns="0" bIns="0" rtlCol="0" anchor="ctr"/>
          <a:lstStyle/>
          <a:p>
            <a:pPr algn="ctr" indent="0" marL="0">
              <a:buNone/>
            </a:pPr>
            <a:r>
              <a:rPr lang="en-US" sz="2200" b="1" dirty="0">
                <a:solidFill>
                  <a:schemeClr val="bg2"/>
                </a:solidFill>
                <a:latin typeface="Courier New" pitchFamily="34" charset="0"/>
                <a:ea typeface="Courier New" pitchFamily="34" charset="-122"/>
                <a:cs typeface="Courier New" pitchFamily="34" charset="-120"/>
              </a:rPr>
              <a:t>0</a:t>
            </a:r>
            <a:endParaRPr lang="en-US" sz="2200" dirty="0"/>
          </a:p>
        </p:txBody>
      </p:sp>
      <p:sp>
        <p:nvSpPr>
          <p:cNvPr id="20" name="text-168"/>
          <p:cNvSpPr txBox="1"/>
          <p:nvPr/>
        </p:nvSpPr>
        <p:spPr>
          <a:xfrm>
            <a:off x="822960" y="2286000"/>
            <a:ext cx="5486400" cy="365760"/>
          </a:xfrm>
          <a:prstGeom prst="rect">
            <a:avLst/>
          </a:prstGeom>
          <a:noFill/>
          <a:ln/>
        </p:spPr>
        <p:txBody>
          <a:bodyPr wrap="square" lIns="0" tIns="0" rIns="0" bIns="0" rtlCol="0" anchor="t"/>
          <a:lstStyle/>
          <a:p>
            <a:pPr indent="0" marL="0">
              <a:buNone/>
            </a:pPr>
            <a:r>
              <a:rPr lang="en-US" sz="1400" dirty="0">
                <a:solidFill>
                  <a:schemeClr val="bg2"/>
                </a:solidFill>
              </a:rPr>
              <a:t>top bit: −128 if signed, +128 if unsigned</a:t>
            </a:r>
            <a:endParaRPr lang="en-US" sz="1400" dirty="0"/>
          </a:p>
        </p:txBody>
      </p:sp>
      <p:sp>
        <p:nvSpPr>
          <p:cNvPr id="21" name="card-169"/>
          <p:cNvSpPr/>
          <p:nvPr/>
        </p:nvSpPr>
        <p:spPr>
          <a:xfrm>
            <a:off x="548640" y="2834640"/>
            <a:ext cx="640080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2" name="text-170"/>
          <p:cNvSpPr txBox="1"/>
          <p:nvPr/>
        </p:nvSpPr>
        <p:spPr>
          <a:xfrm>
            <a:off x="822960" y="3063240"/>
            <a:ext cx="3291840" cy="457200"/>
          </a:xfrm>
          <a:prstGeom prst="rect">
            <a:avLst/>
          </a:prstGeom>
          <a:noFill/>
          <a:ln/>
        </p:spPr>
        <p:txBody>
          <a:bodyPr wrap="square" lIns="0" tIns="0" rIns="0" bIns="0" rtlCol="0" anchor="t"/>
          <a:lstStyle/>
          <a:p>
            <a:pPr indent="0" marL="0">
              <a:buNone/>
            </a:pPr>
            <a:r>
              <a:rPr lang="en-US" sz="1500" dirty="0">
                <a:solidFill>
                  <a:schemeClr val="bg1"/>
                </a:solidFill>
              </a:rPr>
              <a:t>char on x86-64 Linux (signed)</a:t>
            </a:r>
            <a:endParaRPr lang="en-US" sz="1500" dirty="0"/>
          </a:p>
        </p:txBody>
      </p:sp>
      <p:sp>
        <p:nvSpPr>
          <p:cNvPr id="23" name="text-171"/>
          <p:cNvSpPr txBox="1"/>
          <p:nvPr/>
        </p:nvSpPr>
        <p:spPr>
          <a:xfrm>
            <a:off x="4023360" y="3063240"/>
            <a:ext cx="1645920" cy="45720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−128 + 64 + 8</a:t>
            </a:r>
            <a:endParaRPr lang="en-US" sz="1400" dirty="0"/>
          </a:p>
        </p:txBody>
      </p:sp>
      <p:sp>
        <p:nvSpPr>
          <p:cNvPr id="24" name="text-172"/>
          <p:cNvSpPr txBox="1"/>
          <p:nvPr/>
        </p:nvSpPr>
        <p:spPr>
          <a:xfrm>
            <a:off x="5669280" y="2971800"/>
            <a:ext cx="1097280" cy="594360"/>
          </a:xfrm>
          <a:prstGeom prst="rect">
            <a:avLst/>
          </a:prstGeom>
          <a:noFill/>
          <a:ln/>
        </p:spPr>
        <p:txBody>
          <a:bodyPr wrap="square" lIns="0" tIns="0" rIns="0" bIns="0" rtlCol="0" anchor="t"/>
          <a:lstStyle/>
          <a:p>
            <a:pPr algn="r" indent="0" marL="0">
              <a:buNone/>
            </a:pPr>
            <a:r>
              <a:rPr lang="en-US" sz="2600" b="1" dirty="0">
                <a:solidFill>
                  <a:schemeClr val="accent5"/>
                </a:solidFill>
              </a:rPr>
              <a:t>−56</a:t>
            </a:r>
            <a:endParaRPr lang="en-US" sz="2600" dirty="0"/>
          </a:p>
        </p:txBody>
      </p:sp>
      <p:sp>
        <p:nvSpPr>
          <p:cNvPr id="25" name="card-173"/>
          <p:cNvSpPr/>
          <p:nvPr/>
        </p:nvSpPr>
        <p:spPr>
          <a:xfrm>
            <a:off x="548640" y="3886200"/>
            <a:ext cx="640080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6" name="text-174"/>
          <p:cNvSpPr txBox="1"/>
          <p:nvPr/>
        </p:nvSpPr>
        <p:spPr>
          <a:xfrm>
            <a:off x="822960" y="4114800"/>
            <a:ext cx="3291840" cy="457200"/>
          </a:xfrm>
          <a:prstGeom prst="rect">
            <a:avLst/>
          </a:prstGeom>
          <a:noFill/>
          <a:ln/>
        </p:spPr>
        <p:txBody>
          <a:bodyPr wrap="square" lIns="0" tIns="0" rIns="0" bIns="0" rtlCol="0" anchor="t"/>
          <a:lstStyle/>
          <a:p>
            <a:pPr indent="0" marL="0">
              <a:buNone/>
            </a:pPr>
            <a:r>
              <a:rPr lang="en-US" sz="1500" dirty="0">
                <a:solidFill>
                  <a:schemeClr val="bg1"/>
                </a:solidFill>
              </a:rPr>
              <a:t>char on ARM Linux (unsigned)</a:t>
            </a:r>
            <a:endParaRPr lang="en-US" sz="1500" dirty="0"/>
          </a:p>
        </p:txBody>
      </p:sp>
      <p:sp>
        <p:nvSpPr>
          <p:cNvPr id="27" name="text-175"/>
          <p:cNvSpPr txBox="1"/>
          <p:nvPr/>
        </p:nvSpPr>
        <p:spPr>
          <a:xfrm>
            <a:off x="4023360" y="4114800"/>
            <a:ext cx="1645920" cy="45720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128 + 64 + 8</a:t>
            </a:r>
            <a:endParaRPr lang="en-US" sz="1400" dirty="0"/>
          </a:p>
        </p:txBody>
      </p:sp>
      <p:sp>
        <p:nvSpPr>
          <p:cNvPr id="28" name="text-176"/>
          <p:cNvSpPr txBox="1"/>
          <p:nvPr/>
        </p:nvSpPr>
        <p:spPr>
          <a:xfrm>
            <a:off x="5669280" y="4023360"/>
            <a:ext cx="1097280" cy="594360"/>
          </a:xfrm>
          <a:prstGeom prst="rect">
            <a:avLst/>
          </a:prstGeom>
          <a:noFill/>
          <a:ln/>
        </p:spPr>
        <p:txBody>
          <a:bodyPr wrap="square" lIns="0" tIns="0" rIns="0" bIns="0" rtlCol="0" anchor="t"/>
          <a:lstStyle/>
          <a:p>
            <a:pPr algn="r" indent="0" marL="0">
              <a:buNone/>
            </a:pPr>
            <a:r>
              <a:rPr lang="en-US" sz="2600" b="1" dirty="0">
                <a:solidFill>
                  <a:schemeClr val="accent3"/>
                </a:solidFill>
              </a:rPr>
              <a:t>200</a:t>
            </a:r>
            <a:endParaRPr lang="en-US" sz="2600" dirty="0"/>
          </a:p>
        </p:txBody>
      </p:sp>
      <p:sp>
        <p:nvSpPr>
          <p:cNvPr id="29" name="card-177"/>
          <p:cNvSpPr/>
          <p:nvPr/>
        </p:nvSpPr>
        <p:spPr>
          <a:xfrm>
            <a:off x="548640" y="4937760"/>
            <a:ext cx="640080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30" name="text-178"/>
          <p:cNvSpPr txBox="1"/>
          <p:nvPr/>
        </p:nvSpPr>
        <p:spPr>
          <a:xfrm>
            <a:off x="822960" y="5166360"/>
            <a:ext cx="3291840" cy="457200"/>
          </a:xfrm>
          <a:prstGeom prst="rect">
            <a:avLst/>
          </a:prstGeom>
          <a:noFill/>
          <a:ln/>
        </p:spPr>
        <p:txBody>
          <a:bodyPr wrap="square" lIns="0" tIns="0" rIns="0" bIns="0" rtlCol="0" anchor="t"/>
          <a:lstStyle/>
          <a:p>
            <a:pPr indent="0" marL="0">
              <a:buNone/>
            </a:pPr>
            <a:r>
              <a:rPr lang="en-US" sz="1500" dirty="0">
                <a:solidFill>
                  <a:schemeClr val="bg1"/>
                </a:solidFill>
              </a:rPr>
              <a:t>unsigned char, everywhere</a:t>
            </a:r>
            <a:endParaRPr lang="en-US" sz="1500" dirty="0"/>
          </a:p>
        </p:txBody>
      </p:sp>
      <p:sp>
        <p:nvSpPr>
          <p:cNvPr id="31" name="text-179"/>
          <p:cNvSpPr txBox="1"/>
          <p:nvPr/>
        </p:nvSpPr>
        <p:spPr>
          <a:xfrm>
            <a:off x="4023360" y="5166360"/>
            <a:ext cx="1645920" cy="45720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128 + 64 + 8</a:t>
            </a:r>
            <a:endParaRPr lang="en-US" sz="1400" dirty="0"/>
          </a:p>
        </p:txBody>
      </p:sp>
      <p:sp>
        <p:nvSpPr>
          <p:cNvPr id="32" name="text-180"/>
          <p:cNvSpPr txBox="1"/>
          <p:nvPr/>
        </p:nvSpPr>
        <p:spPr>
          <a:xfrm>
            <a:off x="5669280" y="5074920"/>
            <a:ext cx="1097280" cy="594360"/>
          </a:xfrm>
          <a:prstGeom prst="rect">
            <a:avLst/>
          </a:prstGeom>
          <a:noFill/>
          <a:ln/>
        </p:spPr>
        <p:txBody>
          <a:bodyPr wrap="square" lIns="0" tIns="0" rIns="0" bIns="0" rtlCol="0" anchor="t"/>
          <a:lstStyle/>
          <a:p>
            <a:pPr algn="r" indent="0" marL="0">
              <a:buNone/>
            </a:pPr>
            <a:r>
              <a:rPr lang="en-US" sz="2600" b="1" dirty="0">
                <a:solidFill>
                  <a:schemeClr val="accent4"/>
                </a:solidFill>
              </a:rPr>
              <a:t>200</a:t>
            </a:r>
            <a:endParaRPr lang="en-US" sz="2600" dirty="0"/>
          </a:p>
        </p:txBody>
      </p:sp>
      <p:sp>
        <p:nvSpPr>
          <p:cNvPr id="33" name="card-181"/>
          <p:cNvSpPr/>
          <p:nvPr/>
        </p:nvSpPr>
        <p:spPr>
          <a:xfrm>
            <a:off x="7223760" y="1463040"/>
            <a:ext cx="4389120" cy="1280160"/>
          </a:xfrm>
          <a:prstGeom prst="roundRect">
            <a:avLst>
              <a:gd name="adj" fmla="val 85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34" name="text-182"/>
          <p:cNvSpPr txBox="1"/>
          <p:nvPr/>
        </p:nvSpPr>
        <p:spPr>
          <a:xfrm>
            <a:off x="7498080" y="164592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ourier New" pitchFamily="34" charset="0"/>
                <a:ea typeface="Courier New" pitchFamily="34" charset="-122"/>
                <a:cs typeface="Courier New" pitchFamily="34" charset="-120"/>
              </a:rPr>
              <a:t>char</a:t>
            </a:r>
            <a:endParaRPr lang="en-US" sz="1800" dirty="0"/>
          </a:p>
        </p:txBody>
      </p:sp>
      <p:sp>
        <p:nvSpPr>
          <p:cNvPr id="35" name="text-183"/>
          <p:cNvSpPr txBox="1"/>
          <p:nvPr/>
        </p:nvSpPr>
        <p:spPr>
          <a:xfrm>
            <a:off x="7498080" y="2057400"/>
            <a:ext cx="3931920" cy="640080"/>
          </a:xfrm>
          <a:prstGeom prst="rect">
            <a:avLst/>
          </a:prstGeom>
          <a:noFill/>
          <a:ln/>
        </p:spPr>
        <p:txBody>
          <a:bodyPr wrap="square" lIns="0" tIns="0" rIns="0" bIns="0" rtlCol="0" anchor="t"/>
          <a:lstStyle/>
          <a:p>
            <a:pPr indent="0" marL="0">
              <a:buNone/>
            </a:pPr>
            <a:r>
              <a:rPr lang="en-US" sz="1500" dirty="0">
                <a:solidFill>
                  <a:schemeClr val="bg2"/>
                </a:solidFill>
              </a:rPr>
              <a:t>a 1-byte integer printed as a character: 'A' is 65</a:t>
            </a:r>
            <a:endParaRPr lang="en-US" sz="1500" dirty="0"/>
          </a:p>
        </p:txBody>
      </p:sp>
      <p:sp>
        <p:nvSpPr>
          <p:cNvPr id="36" name="card-184"/>
          <p:cNvSpPr/>
          <p:nvPr/>
        </p:nvSpPr>
        <p:spPr>
          <a:xfrm>
            <a:off x="7223760" y="2926080"/>
            <a:ext cx="4389120" cy="1280160"/>
          </a:xfrm>
          <a:prstGeom prst="roundRect">
            <a:avLst>
              <a:gd name="adj" fmla="val 85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37" name="text-185"/>
          <p:cNvSpPr txBox="1"/>
          <p:nvPr/>
        </p:nvSpPr>
        <p:spPr>
          <a:xfrm>
            <a:off x="7498080" y="31089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ourier New" pitchFamily="34" charset="0"/>
                <a:ea typeface="Courier New" pitchFamily="34" charset="-122"/>
                <a:cs typeface="Courier New" pitchFamily="34" charset="-120"/>
              </a:rPr>
              <a:t>bool</a:t>
            </a:r>
            <a:endParaRPr lang="en-US" sz="1800" dirty="0"/>
          </a:p>
        </p:txBody>
      </p:sp>
      <p:sp>
        <p:nvSpPr>
          <p:cNvPr id="38" name="text-186"/>
          <p:cNvSpPr txBox="1"/>
          <p:nvPr/>
        </p:nvSpPr>
        <p:spPr>
          <a:xfrm>
            <a:off x="7498080" y="3520440"/>
            <a:ext cx="3931920" cy="640080"/>
          </a:xfrm>
          <a:prstGeom prst="rect">
            <a:avLst/>
          </a:prstGeom>
          <a:noFill/>
          <a:ln/>
        </p:spPr>
        <p:txBody>
          <a:bodyPr wrap="square" lIns="0" tIns="0" rIns="0" bIns="0" rtlCol="0" anchor="t"/>
          <a:lstStyle/>
          <a:p>
            <a:pPr indent="0" marL="0">
              <a:buNone/>
            </a:pPr>
            <a:r>
              <a:rPr lang="en-US" sz="1500" dirty="0">
                <a:solidFill>
                  <a:schemeClr val="bg2"/>
                </a:solidFill>
              </a:rPr>
              <a:t>1 byte; prints 1/0, or true/false with std::boolalpha</a:t>
            </a:r>
            <a:endParaRPr lang="en-US" sz="1500" dirty="0"/>
          </a:p>
        </p:txBody>
      </p:sp>
      <p:sp>
        <p:nvSpPr>
          <p:cNvPr id="39" name="card-187"/>
          <p:cNvSpPr/>
          <p:nvPr/>
        </p:nvSpPr>
        <p:spPr>
          <a:xfrm>
            <a:off x="7223760" y="4389120"/>
            <a:ext cx="4389120" cy="1280160"/>
          </a:xfrm>
          <a:prstGeom prst="roundRect">
            <a:avLst>
              <a:gd name="adj" fmla="val 85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40" name="text-188"/>
          <p:cNvSpPr txBox="1"/>
          <p:nvPr/>
        </p:nvSpPr>
        <p:spPr>
          <a:xfrm>
            <a:off x="7498080" y="457200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ourier New" pitchFamily="34" charset="0"/>
                <a:ea typeface="Courier New" pitchFamily="34" charset="-122"/>
                <a:cs typeface="Courier New" pitchFamily="34" charset="-120"/>
              </a:rPr>
              <a:t>void</a:t>
            </a:r>
            <a:endParaRPr lang="en-US" sz="1800" dirty="0"/>
          </a:p>
        </p:txBody>
      </p:sp>
      <p:sp>
        <p:nvSpPr>
          <p:cNvPr id="41" name="text-189"/>
          <p:cNvSpPr txBox="1"/>
          <p:nvPr/>
        </p:nvSpPr>
        <p:spPr>
          <a:xfrm>
            <a:off x="7498080" y="4983480"/>
            <a:ext cx="3931920" cy="640080"/>
          </a:xfrm>
          <a:prstGeom prst="rect">
            <a:avLst/>
          </a:prstGeom>
          <a:noFill/>
          <a:ln/>
        </p:spPr>
        <p:txBody>
          <a:bodyPr wrap="square" lIns="0" tIns="0" rIns="0" bIns="0" rtlCol="0" anchor="t"/>
          <a:lstStyle/>
          <a:p>
            <a:pPr indent="0" marL="0">
              <a:buNone/>
            </a:pPr>
            <a:r>
              <a:rPr lang="en-US" sz="1500" dirty="0">
                <a:solidFill>
                  <a:schemeClr val="bg2"/>
                </a:solidFill>
              </a:rPr>
              <a:t>no value, no size, no objects</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Literals: notation changes, value doesn't</a:t>
            </a:r>
            <a:endParaRPr lang="en-US" sz="3000" dirty="0"/>
          </a:p>
        </p:txBody>
      </p:sp>
      <p:sp>
        <p:nvSpPr>
          <p:cNvPr id="3" name="text-190"/>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14</a:t>
            </a:r>
            <a:endParaRPr lang="en-US" sz="1200" dirty="0"/>
          </a:p>
        </p:txBody>
      </p:sp>
      <p:sp>
        <p:nvSpPr>
          <p:cNvPr id="4" name="card-191"/>
          <p:cNvSpPr/>
          <p:nvPr/>
        </p:nvSpPr>
        <p:spPr>
          <a:xfrm>
            <a:off x="548640" y="1371600"/>
            <a:ext cx="2633472"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192"/>
          <p:cNvSpPr txBox="1"/>
          <p:nvPr/>
        </p:nvSpPr>
        <p:spPr>
          <a:xfrm>
            <a:off x="777240" y="1600200"/>
            <a:ext cx="2194560" cy="640080"/>
          </a:xfrm>
          <a:prstGeom prst="rect">
            <a:avLst/>
          </a:prstGeom>
          <a:noFill/>
          <a:ln/>
        </p:spPr>
        <p:txBody>
          <a:bodyPr wrap="square" lIns="0" tIns="0" rIns="0" bIns="0" rtlCol="0" anchor="t"/>
          <a:lstStyle/>
          <a:p>
            <a:pPr indent="0" marL="0">
              <a:buNone/>
            </a:pPr>
            <a:r>
              <a:rPr lang="en-US" sz="2600" b="1" dirty="0">
                <a:solidFill>
                  <a:schemeClr val="accent3"/>
                </a:solidFill>
                <a:latin typeface="Courier New" pitchFamily="34" charset="0"/>
                <a:ea typeface="Courier New" pitchFamily="34" charset="-122"/>
                <a:cs typeface="Courier New" pitchFamily="34" charset="-120"/>
              </a:rPr>
              <a:t>255</a:t>
            </a:r>
            <a:endParaRPr lang="en-US" sz="2600" dirty="0"/>
          </a:p>
        </p:txBody>
      </p:sp>
      <p:sp>
        <p:nvSpPr>
          <p:cNvPr id="6" name="text-193"/>
          <p:cNvSpPr txBox="1"/>
          <p:nvPr/>
        </p:nvSpPr>
        <p:spPr>
          <a:xfrm>
            <a:off x="777240" y="2331720"/>
            <a:ext cx="2286000" cy="548640"/>
          </a:xfrm>
          <a:prstGeom prst="rect">
            <a:avLst/>
          </a:prstGeom>
          <a:noFill/>
          <a:ln/>
        </p:spPr>
        <p:txBody>
          <a:bodyPr wrap="square" lIns="0" tIns="0" rIns="0" bIns="0" rtlCol="0" anchor="t"/>
          <a:lstStyle/>
          <a:p>
            <a:pPr indent="0" marL="0">
              <a:buNone/>
            </a:pPr>
            <a:r>
              <a:rPr lang="en-US" sz="1400" dirty="0">
                <a:solidFill>
                  <a:schemeClr val="bg2"/>
                </a:solidFill>
              </a:rPr>
              <a:t>decimal</a:t>
            </a:r>
            <a:endParaRPr lang="en-US" sz="1400" dirty="0"/>
          </a:p>
        </p:txBody>
      </p:sp>
      <p:sp>
        <p:nvSpPr>
          <p:cNvPr id="7" name="card-194"/>
          <p:cNvSpPr/>
          <p:nvPr/>
        </p:nvSpPr>
        <p:spPr>
          <a:xfrm>
            <a:off x="3364992" y="1371600"/>
            <a:ext cx="2633472"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8" name="text-195"/>
          <p:cNvSpPr txBox="1"/>
          <p:nvPr/>
        </p:nvSpPr>
        <p:spPr>
          <a:xfrm>
            <a:off x="3593592" y="1600200"/>
            <a:ext cx="2194560" cy="640080"/>
          </a:xfrm>
          <a:prstGeom prst="rect">
            <a:avLst/>
          </a:prstGeom>
          <a:noFill/>
          <a:ln/>
        </p:spPr>
        <p:txBody>
          <a:bodyPr wrap="square" lIns="0" tIns="0" rIns="0" bIns="0" rtlCol="0" anchor="t"/>
          <a:lstStyle/>
          <a:p>
            <a:pPr indent="0" marL="0">
              <a:buNone/>
            </a:pPr>
            <a:r>
              <a:rPr lang="en-US" sz="2600" b="1" dirty="0">
                <a:solidFill>
                  <a:schemeClr val="accent3"/>
                </a:solidFill>
                <a:latin typeface="Courier New" pitchFamily="34" charset="0"/>
                <a:ea typeface="Courier New" pitchFamily="34" charset="-122"/>
                <a:cs typeface="Courier New" pitchFamily="34" charset="-120"/>
              </a:rPr>
              <a:t>0xFF</a:t>
            </a:r>
            <a:endParaRPr lang="en-US" sz="2600" dirty="0"/>
          </a:p>
        </p:txBody>
      </p:sp>
      <p:sp>
        <p:nvSpPr>
          <p:cNvPr id="9" name="text-196"/>
          <p:cNvSpPr txBox="1"/>
          <p:nvPr/>
        </p:nvSpPr>
        <p:spPr>
          <a:xfrm>
            <a:off x="3593592" y="2331720"/>
            <a:ext cx="2286000" cy="548640"/>
          </a:xfrm>
          <a:prstGeom prst="rect">
            <a:avLst/>
          </a:prstGeom>
          <a:noFill/>
          <a:ln/>
        </p:spPr>
        <p:txBody>
          <a:bodyPr wrap="square" lIns="0" tIns="0" rIns="0" bIns="0" rtlCol="0" anchor="t"/>
          <a:lstStyle/>
          <a:p>
            <a:pPr indent="0" marL="0">
              <a:buNone/>
            </a:pPr>
            <a:r>
              <a:rPr lang="en-US" sz="1400" dirty="0">
                <a:solidFill>
                  <a:schemeClr val="bg2"/>
                </a:solidFill>
              </a:rPr>
              <a:t>hex: 15×16 + 15</a:t>
            </a:r>
            <a:endParaRPr lang="en-US" sz="1400" dirty="0"/>
          </a:p>
        </p:txBody>
      </p:sp>
      <p:sp>
        <p:nvSpPr>
          <p:cNvPr id="10" name="card-197"/>
          <p:cNvSpPr/>
          <p:nvPr/>
        </p:nvSpPr>
        <p:spPr>
          <a:xfrm>
            <a:off x="6181344" y="1371600"/>
            <a:ext cx="2633472"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1" name="text-198"/>
          <p:cNvSpPr txBox="1"/>
          <p:nvPr/>
        </p:nvSpPr>
        <p:spPr>
          <a:xfrm>
            <a:off x="6409944" y="1600200"/>
            <a:ext cx="2194560" cy="640080"/>
          </a:xfrm>
          <a:prstGeom prst="rect">
            <a:avLst/>
          </a:prstGeom>
          <a:noFill/>
          <a:ln/>
        </p:spPr>
        <p:txBody>
          <a:bodyPr wrap="square" lIns="0" tIns="0" rIns="0" bIns="0" rtlCol="0" anchor="t"/>
          <a:lstStyle/>
          <a:p>
            <a:pPr indent="0" marL="0">
              <a:buNone/>
            </a:pPr>
            <a:r>
              <a:rPr lang="en-US" sz="2600" b="1" dirty="0">
                <a:solidFill>
                  <a:schemeClr val="accent3"/>
                </a:solidFill>
                <a:latin typeface="Courier New" pitchFamily="34" charset="0"/>
                <a:ea typeface="Courier New" pitchFamily="34" charset="-122"/>
                <a:cs typeface="Courier New" pitchFamily="34" charset="-120"/>
              </a:rPr>
              <a:t>0377</a:t>
            </a:r>
            <a:endParaRPr lang="en-US" sz="2600" dirty="0"/>
          </a:p>
        </p:txBody>
      </p:sp>
      <p:sp>
        <p:nvSpPr>
          <p:cNvPr id="12" name="text-199"/>
          <p:cNvSpPr txBox="1"/>
          <p:nvPr/>
        </p:nvSpPr>
        <p:spPr>
          <a:xfrm>
            <a:off x="6409944" y="2331720"/>
            <a:ext cx="2286000" cy="548640"/>
          </a:xfrm>
          <a:prstGeom prst="rect">
            <a:avLst/>
          </a:prstGeom>
          <a:noFill/>
          <a:ln/>
        </p:spPr>
        <p:txBody>
          <a:bodyPr wrap="square" lIns="0" tIns="0" rIns="0" bIns="0" rtlCol="0" anchor="t"/>
          <a:lstStyle/>
          <a:p>
            <a:pPr indent="0" marL="0">
              <a:buNone/>
            </a:pPr>
            <a:r>
              <a:rPr lang="en-US" sz="1400" dirty="0">
                <a:solidFill>
                  <a:schemeClr val="bg2"/>
                </a:solidFill>
              </a:rPr>
              <a:t>octal: 3×64 + 7×8 + 7</a:t>
            </a:r>
            <a:endParaRPr lang="en-US" sz="1400" dirty="0"/>
          </a:p>
        </p:txBody>
      </p:sp>
      <p:sp>
        <p:nvSpPr>
          <p:cNvPr id="13" name="card-200"/>
          <p:cNvSpPr/>
          <p:nvPr/>
        </p:nvSpPr>
        <p:spPr>
          <a:xfrm>
            <a:off x="8997696" y="1371600"/>
            <a:ext cx="2633472"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4" name="text-201"/>
          <p:cNvSpPr txBox="1"/>
          <p:nvPr/>
        </p:nvSpPr>
        <p:spPr>
          <a:xfrm>
            <a:off x="9226296" y="1600200"/>
            <a:ext cx="2194560" cy="640080"/>
          </a:xfrm>
          <a:prstGeom prst="rect">
            <a:avLst/>
          </a:prstGeom>
          <a:noFill/>
          <a:ln/>
        </p:spPr>
        <p:txBody>
          <a:bodyPr wrap="square" lIns="0" tIns="0" rIns="0" bIns="0" rtlCol="0" anchor="t"/>
          <a:lstStyle/>
          <a:p>
            <a:pPr indent="0" marL="0">
              <a:buNone/>
            </a:pPr>
            <a:r>
              <a:rPr lang="en-US" sz="2600" b="1" dirty="0">
                <a:solidFill>
                  <a:schemeClr val="accent3"/>
                </a:solidFill>
                <a:latin typeface="Courier New" pitchFamily="34" charset="0"/>
                <a:ea typeface="Courier New" pitchFamily="34" charset="-122"/>
                <a:cs typeface="Courier New" pitchFamily="34" charset="-120"/>
              </a:rPr>
              <a:t>0b11111111</a:t>
            </a:r>
            <a:endParaRPr lang="en-US" sz="2600" dirty="0"/>
          </a:p>
        </p:txBody>
      </p:sp>
      <p:sp>
        <p:nvSpPr>
          <p:cNvPr id="15" name="text-202"/>
          <p:cNvSpPr txBox="1"/>
          <p:nvPr/>
        </p:nvSpPr>
        <p:spPr>
          <a:xfrm>
            <a:off x="9226296" y="2331720"/>
            <a:ext cx="2286000" cy="548640"/>
          </a:xfrm>
          <a:prstGeom prst="rect">
            <a:avLst/>
          </a:prstGeom>
          <a:noFill/>
          <a:ln/>
        </p:spPr>
        <p:txBody>
          <a:bodyPr wrap="square" lIns="0" tIns="0" rIns="0" bIns="0" rtlCol="0" anchor="t"/>
          <a:lstStyle/>
          <a:p>
            <a:pPr indent="0" marL="0">
              <a:buNone/>
            </a:pPr>
            <a:r>
              <a:rPr lang="en-US" sz="1400" dirty="0">
                <a:solidFill>
                  <a:schemeClr val="bg2"/>
                </a:solidFill>
              </a:rPr>
              <a:t>binary: all 8 bits</a:t>
            </a:r>
            <a:endParaRPr lang="en-US" sz="1400" dirty="0"/>
          </a:p>
        </p:txBody>
      </p:sp>
      <p:graphicFrame>
        <p:nvGraphicFramePr>
          <p:cNvPr id="15" name="table-203"/>
          <p:cNvGraphicFramePr>
            <a:graphicFrameLocks noGrp="1"/>
          </p:cNvGraphicFramePr>
          <p:nvPr>
            <p:extLst>
              <p:ext uri="{D42A27DB-BD31-4B8C-83A1-F6EECF244321}">
                <p14:modId xmlns:p14="http://schemas.microsoft.com/office/powerpoint/2010/main" val="1579011935"/>
              </p:ext>
            </p:extLst>
          </p:nvPr>
        </p:nvGraphicFramePr>
        <p:xfrm>
          <a:off x="548640" y="3383280"/>
          <a:ext cx="5669280" cy="914400"/>
        </p:xfrm>
        <a:graphic>
          <a:graphicData uri="http://schemas.openxmlformats.org/drawingml/2006/table">
            <a:tbl>
              <a:tblPr/>
              <a:tblGrid>
                <a:gridCol w="2194560"/>
                <a:gridCol w="2194560"/>
                <a:gridCol w="1280160"/>
              </a:tblGrid>
              <a:tr h="411480">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Literal</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sizeof</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42</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int</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1148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3000000000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long</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3.14</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double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1148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3.14f</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float</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"hi"</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const char[3]</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bl>
          </a:graphicData>
        </a:graphic>
      </p:graphicFrame>
      <p:sp>
        <p:nvSpPr>
          <p:cNvPr id="17" name="card-204"/>
          <p:cNvSpPr/>
          <p:nvPr/>
        </p:nvSpPr>
        <p:spPr>
          <a:xfrm>
            <a:off x="6492240" y="3383280"/>
            <a:ext cx="5120640" cy="1143000"/>
          </a:xfrm>
          <a:prstGeom prst="roundRect">
            <a:avLst>
              <a:gd name="adj" fmla="val 96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8" name="text-205"/>
          <p:cNvSpPr txBox="1"/>
          <p:nvPr/>
        </p:nvSpPr>
        <p:spPr>
          <a:xfrm>
            <a:off x="6766560" y="3547872"/>
            <a:ext cx="4572000" cy="411480"/>
          </a:xfrm>
          <a:prstGeom prst="rect">
            <a:avLst/>
          </a:prstGeom>
          <a:noFill/>
          <a:ln/>
        </p:spPr>
        <p:txBody>
          <a:bodyPr wrap="square" lIns="0" tIns="0" rIns="0" bIns="0" rtlCol="0" anchor="t"/>
          <a:lstStyle/>
          <a:p>
            <a:pPr indent="0" marL="0">
              <a:buNone/>
            </a:pPr>
            <a:r>
              <a:rPr lang="en-US" sz="1700" b="1" dirty="0">
                <a:solidFill>
                  <a:schemeClr val="accent5"/>
                </a:solidFill>
                <a:latin typeface="Courier New" pitchFamily="34" charset="0"/>
                <a:ea typeface="Courier New" pitchFamily="34" charset="-122"/>
                <a:cs typeface="Courier New" pitchFamily="34" charset="-120"/>
              </a:rPr>
              <a:t>010 is 8</a:t>
            </a:r>
            <a:endParaRPr lang="en-US" sz="1700" dirty="0"/>
          </a:p>
        </p:txBody>
      </p:sp>
      <p:sp>
        <p:nvSpPr>
          <p:cNvPr id="19" name="text-206"/>
          <p:cNvSpPr txBox="1"/>
          <p:nvPr/>
        </p:nvSpPr>
        <p:spPr>
          <a:xfrm>
            <a:off x="6766560" y="3977640"/>
            <a:ext cx="4572000" cy="411480"/>
          </a:xfrm>
          <a:prstGeom prst="rect">
            <a:avLst/>
          </a:prstGeom>
          <a:noFill/>
          <a:ln/>
        </p:spPr>
        <p:txBody>
          <a:bodyPr wrap="square" lIns="0" tIns="0" rIns="0" bIns="0" rtlCol="0" anchor="t"/>
          <a:lstStyle/>
          <a:p>
            <a:pPr indent="0" marL="0">
              <a:buNone/>
            </a:pPr>
            <a:r>
              <a:rPr lang="en-US" sz="1500" dirty="0">
                <a:solidFill>
                  <a:schemeClr val="bg2"/>
                </a:solidFill>
              </a:rPr>
              <a:t>a leading 0 means octal</a:t>
            </a:r>
            <a:endParaRPr lang="en-US" sz="1500" dirty="0"/>
          </a:p>
        </p:txBody>
      </p:sp>
      <p:sp>
        <p:nvSpPr>
          <p:cNvPr id="20" name="card-207"/>
          <p:cNvSpPr/>
          <p:nvPr/>
        </p:nvSpPr>
        <p:spPr>
          <a:xfrm>
            <a:off x="6492240" y="4709160"/>
            <a:ext cx="5120640" cy="1143000"/>
          </a:xfrm>
          <a:prstGeom prst="roundRect">
            <a:avLst>
              <a:gd name="adj" fmla="val 96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1" name="text-208"/>
          <p:cNvSpPr txBox="1"/>
          <p:nvPr/>
        </p:nvSpPr>
        <p:spPr>
          <a:xfrm>
            <a:off x="6766560" y="4873752"/>
            <a:ext cx="4572000" cy="411480"/>
          </a:xfrm>
          <a:prstGeom prst="rect">
            <a:avLst/>
          </a:prstGeom>
          <a:noFill/>
          <a:ln/>
        </p:spPr>
        <p:txBody>
          <a:bodyPr wrap="square" lIns="0" tIns="0" rIns="0" bIns="0" rtlCol="0" anchor="t"/>
          <a:lstStyle/>
          <a:p>
            <a:pPr indent="0" marL="0">
              <a:buNone/>
            </a:pPr>
            <a:r>
              <a:rPr lang="en-US" sz="1700" b="1" dirty="0">
                <a:solidFill>
                  <a:schemeClr val="accent5"/>
                </a:solidFill>
                <a:latin typeface="Courier New" pitchFamily="34" charset="0"/>
                <a:ea typeface="Courier New" pitchFamily="34" charset="-122"/>
                <a:cs typeface="Courier New" pitchFamily="34" charset="-120"/>
              </a:rPr>
              <a:t>"C:\new\table"</a:t>
            </a:r>
            <a:endParaRPr lang="en-US" sz="1700" dirty="0"/>
          </a:p>
        </p:txBody>
      </p:sp>
      <p:sp>
        <p:nvSpPr>
          <p:cNvPr id="22" name="text-209"/>
          <p:cNvSpPr txBox="1"/>
          <p:nvPr/>
        </p:nvSpPr>
        <p:spPr>
          <a:xfrm>
            <a:off x="6766560" y="5303520"/>
            <a:ext cx="4572000" cy="411480"/>
          </a:xfrm>
          <a:prstGeom prst="rect">
            <a:avLst/>
          </a:prstGeom>
          <a:noFill/>
          <a:ln/>
        </p:spPr>
        <p:txBody>
          <a:bodyPr wrap="square" lIns="0" tIns="0" rIns="0" bIns="0" rtlCol="0" anchor="t"/>
          <a:lstStyle/>
          <a:p>
            <a:pPr indent="0" marL="0">
              <a:buNone/>
            </a:pPr>
            <a:r>
              <a:rPr lang="en-US" sz="1500" dirty="0">
                <a:solidFill>
                  <a:schemeClr val="bg2"/>
                </a:solidFill>
              </a:rPr>
              <a:t>\n and \t become a newline and a tab</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210"/>
          <p:cNvSpPr txBox="1"/>
          <p:nvPr/>
        </p:nvSpPr>
        <p:spPr>
          <a:xfrm>
            <a:off x="731520" y="1920240"/>
            <a:ext cx="10058400" cy="365760"/>
          </a:xfrm>
          <a:prstGeom prst="rect">
            <a:avLst/>
          </a:prstGeom>
          <a:noFill/>
          <a:ln/>
        </p:spPr>
        <p:txBody>
          <a:bodyPr wrap="square" lIns="0" tIns="0" rIns="0" bIns="0" rtlCol="0" anchor="t"/>
          <a:lstStyle/>
          <a:p>
            <a:pPr indent="0" marL="0">
              <a:buNone/>
            </a:pPr>
            <a:r>
              <a:rPr lang="en-US" sz="1400" b="1" spc="300" kern="0" dirty="0">
                <a:solidFill>
                  <a:schemeClr val="accent3"/>
                </a:solidFill>
              </a:rPr>
              <a:t>PART 3  ·  TOPICS 15–19</a:t>
            </a:r>
            <a:endParaRPr lang="en-US" sz="1400" dirty="0"/>
          </a:p>
        </p:txBody>
      </p:sp>
      <p:sp>
        <p:nvSpPr>
          <p:cNvPr id="3" name="Text 0"/>
          <p:cNvSpPr/>
          <p:nvPr>
            <p:ph idx="100" type="title" hasCustomPrompt="1"/>
          </p:nvPr>
        </p:nvSpPr>
        <p:spPr>
          <a:xfrm>
            <a:off x="731520" y="2377440"/>
            <a:ext cx="10698480" cy="1097280"/>
          </a:xfrm>
          <a:prstGeom prst="rect">
            <a:avLst/>
          </a:prstGeom>
          <a:noFill/>
          <a:ln/>
        </p:spPr>
        <p:txBody>
          <a:bodyPr wrap="square"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Working with values</a:t>
            </a:r>
            <a:endParaRPr lang="en-US" sz="4400" dirty="0"/>
          </a:p>
        </p:txBody>
      </p:sp>
      <p:sp>
        <p:nvSpPr>
          <p:cNvPr id="4" name="Text 0"/>
          <p:cNvSpPr/>
          <p:nvPr>
            <p:ph idx="101" type="body" hasCustomPrompt="1"/>
          </p:nvPr>
        </p:nvSpPr>
        <p:spPr>
          <a:xfrm>
            <a:off x="731520" y="3566160"/>
            <a:ext cx="10698480" cy="1280160"/>
          </a:xfrm>
          <a:prstGeom prst="rect">
            <a:avLst/>
          </a:prstGeom>
          <a:noFill/>
          <a:ln/>
        </p:spPr>
        <p:txBody>
          <a:bodyPr wrap="square" rtlCol="0" anchor="t"/>
          <a:lstStyle/>
          <a:p>
            <a:pPr algn="l" indent="0" marL="0">
              <a:buNone/>
            </a:pPr>
            <a:r>
              <a:rPr lang="en-US" sz="1800" dirty="0">
                <a:solidFill>
                  <a:schemeClr val="bg2"/>
                </a:solidFill>
              </a:rPr>
              <a:t>Changing values, fixing them, deducing types, operating on them, converting them</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Initialization creates. Assignment replaces.</a:t>
            </a:r>
            <a:endParaRPr lang="en-US" sz="3000" dirty="0"/>
          </a:p>
        </p:txBody>
      </p:sp>
      <p:sp>
        <p:nvSpPr>
          <p:cNvPr id="3" name="text-211"/>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15</a:t>
            </a:r>
            <a:endParaRPr lang="en-US" sz="1200" dirty="0"/>
          </a:p>
        </p:txBody>
      </p:sp>
      <p:sp>
        <p:nvSpPr>
          <p:cNvPr id="4" name="card-212"/>
          <p:cNvSpPr/>
          <p:nvPr/>
        </p:nvSpPr>
        <p:spPr>
          <a:xfrm>
            <a:off x="548640" y="1371600"/>
            <a:ext cx="2633472" cy="2103120"/>
          </a:xfrm>
          <a:prstGeom prst="roundRect">
            <a:avLst>
              <a:gd name="adj" fmla="val 5217"/>
            </a:avLst>
          </a:prstGeom>
          <a:solidFill>
            <a:schemeClr val="tx2"/>
          </a:solidFill>
          <a:ln w="12700">
            <a:solidFill>
              <a:schemeClr val="accent4"/>
            </a:solidFill>
            <a:prstDash val="solid"/>
          </a:ln>
          <a:effectLst>
            <a:outerShdw sx="100000" sy="100000" kx="0" ky="0" algn="bl" rotWithShape="0" blurRad="76200" dist="25400" dir="5400000">
              <a:srgbClr val="000000">
                <a:alpha val="35000"/>
              </a:srgbClr>
            </a:outerShdw>
          </a:effectLst>
        </p:spPr>
      </p:sp>
      <p:sp>
        <p:nvSpPr>
          <p:cNvPr id="5" name="text-213"/>
          <p:cNvSpPr txBox="1"/>
          <p:nvPr/>
        </p:nvSpPr>
        <p:spPr>
          <a:xfrm>
            <a:off x="731520" y="1554480"/>
            <a:ext cx="2286000" cy="365760"/>
          </a:xfrm>
          <a:prstGeom prst="rect">
            <a:avLst/>
          </a:prstGeom>
          <a:noFill/>
          <a:ln/>
        </p:spPr>
        <p:txBody>
          <a:bodyPr wrap="square" lIns="0" tIns="0" rIns="0" bIns="0" rtlCol="0" anchor="t"/>
          <a:lstStyle/>
          <a:p>
            <a:pPr algn="ctr" indent="0" marL="0">
              <a:buNone/>
            </a:pPr>
            <a:r>
              <a:rPr lang="en-US" sz="1400" dirty="0">
                <a:solidFill>
                  <a:schemeClr val="accent4"/>
                </a:solidFill>
                <a:latin typeface="Courier New" pitchFamily="34" charset="0"/>
                <a:ea typeface="Courier New" pitchFamily="34" charset="-122"/>
                <a:cs typeface="Courier New" pitchFamily="34" charset="-120"/>
              </a:rPr>
              <a:t>int balance{1000};</a:t>
            </a:r>
            <a:endParaRPr lang="en-US" sz="1400" dirty="0"/>
          </a:p>
        </p:txBody>
      </p:sp>
      <p:sp>
        <p:nvSpPr>
          <p:cNvPr id="6" name="text-214"/>
          <p:cNvSpPr txBox="1"/>
          <p:nvPr/>
        </p:nvSpPr>
        <p:spPr>
          <a:xfrm>
            <a:off x="731520" y="2057400"/>
            <a:ext cx="2286000" cy="731520"/>
          </a:xfrm>
          <a:prstGeom prst="rect">
            <a:avLst/>
          </a:prstGeom>
          <a:noFill/>
          <a:ln/>
        </p:spPr>
        <p:txBody>
          <a:bodyPr wrap="square" lIns="0" tIns="0" rIns="0" bIns="0" rtlCol="0" anchor="t"/>
          <a:lstStyle/>
          <a:p>
            <a:pPr algn="ctr" indent="0" marL="0">
              <a:buNone/>
            </a:pPr>
            <a:r>
              <a:rPr lang="en-US" sz="3600" b="1" dirty="0">
                <a:solidFill>
                  <a:schemeClr val="accent3"/>
                </a:solidFill>
              </a:rPr>
              <a:t>1000</a:t>
            </a:r>
            <a:endParaRPr lang="en-US" sz="3600" dirty="0"/>
          </a:p>
        </p:txBody>
      </p:sp>
      <p:sp>
        <p:nvSpPr>
          <p:cNvPr id="7" name="text-215"/>
          <p:cNvSpPr txBox="1"/>
          <p:nvPr/>
        </p:nvSpPr>
        <p:spPr>
          <a:xfrm>
            <a:off x="731520" y="2880360"/>
            <a:ext cx="2286000" cy="365760"/>
          </a:xfrm>
          <a:prstGeom prst="rect">
            <a:avLst/>
          </a:prstGeom>
          <a:noFill/>
          <a:ln/>
        </p:spPr>
        <p:txBody>
          <a:bodyPr wrap="square" lIns="0" tIns="0" rIns="0" bIns="0" rtlCol="0" anchor="t"/>
          <a:lstStyle/>
          <a:p>
            <a:pPr algn="ctr" indent="0" marL="0">
              <a:buNone/>
            </a:pPr>
            <a:r>
              <a:rPr lang="en-US" sz="1400" dirty="0">
                <a:solidFill>
                  <a:schemeClr val="bg2"/>
                </a:solidFill>
              </a:rPr>
              <a:t>created</a:t>
            </a:r>
            <a:endParaRPr lang="en-US" sz="1400" dirty="0"/>
          </a:p>
        </p:txBody>
      </p:sp>
      <p:sp>
        <p:nvSpPr>
          <p:cNvPr id="8" name="card-216"/>
          <p:cNvSpPr/>
          <p:nvPr/>
        </p:nvSpPr>
        <p:spPr>
          <a:xfrm>
            <a:off x="3364992" y="1371600"/>
            <a:ext cx="2633472"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9" name="text-217"/>
          <p:cNvSpPr txBox="1"/>
          <p:nvPr/>
        </p:nvSpPr>
        <p:spPr>
          <a:xfrm>
            <a:off x="3547872" y="1554480"/>
            <a:ext cx="2286000" cy="365760"/>
          </a:xfrm>
          <a:prstGeom prst="rect">
            <a:avLst/>
          </a:prstGeom>
          <a:noFill/>
          <a:ln/>
        </p:spPr>
        <p:txBody>
          <a:bodyPr wrap="square" lIns="0" tIns="0" rIns="0" bIns="0" rtlCol="0" anchor="t"/>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balance = 1500;</a:t>
            </a:r>
            <a:endParaRPr lang="en-US" sz="1400" dirty="0"/>
          </a:p>
        </p:txBody>
      </p:sp>
      <p:sp>
        <p:nvSpPr>
          <p:cNvPr id="10" name="text-218"/>
          <p:cNvSpPr txBox="1"/>
          <p:nvPr/>
        </p:nvSpPr>
        <p:spPr>
          <a:xfrm>
            <a:off x="3547872" y="2057400"/>
            <a:ext cx="2286000" cy="731520"/>
          </a:xfrm>
          <a:prstGeom prst="rect">
            <a:avLst/>
          </a:prstGeom>
          <a:noFill/>
          <a:ln/>
        </p:spPr>
        <p:txBody>
          <a:bodyPr wrap="square" lIns="0" tIns="0" rIns="0" bIns="0" rtlCol="0" anchor="t"/>
          <a:lstStyle/>
          <a:p>
            <a:pPr algn="ctr" indent="0" marL="0">
              <a:buNone/>
            </a:pPr>
            <a:r>
              <a:rPr lang="en-US" sz="3600" b="1" dirty="0">
                <a:solidFill>
                  <a:schemeClr val="accent3"/>
                </a:solidFill>
              </a:rPr>
              <a:t>1500</a:t>
            </a:r>
            <a:endParaRPr lang="en-US" sz="3600" dirty="0"/>
          </a:p>
        </p:txBody>
      </p:sp>
      <p:sp>
        <p:nvSpPr>
          <p:cNvPr id="11" name="text-219"/>
          <p:cNvSpPr txBox="1"/>
          <p:nvPr/>
        </p:nvSpPr>
        <p:spPr>
          <a:xfrm>
            <a:off x="3547872" y="2880360"/>
            <a:ext cx="2286000" cy="365760"/>
          </a:xfrm>
          <a:prstGeom prst="rect">
            <a:avLst/>
          </a:prstGeom>
          <a:noFill/>
          <a:ln/>
        </p:spPr>
        <p:txBody>
          <a:bodyPr wrap="square" lIns="0" tIns="0" rIns="0" bIns="0" rtlCol="0" anchor="t"/>
          <a:lstStyle/>
          <a:p>
            <a:pPr algn="ctr" indent="0" marL="0">
              <a:buNone/>
            </a:pPr>
            <a:r>
              <a:rPr lang="en-US" sz="1400" dirty="0">
                <a:solidFill>
                  <a:schemeClr val="bg2"/>
                </a:solidFill>
              </a:rPr>
              <a:t>replaced</a:t>
            </a:r>
            <a:endParaRPr lang="en-US" sz="1400" dirty="0"/>
          </a:p>
        </p:txBody>
      </p:sp>
      <p:sp>
        <p:nvSpPr>
          <p:cNvPr id="12" name="card-220"/>
          <p:cNvSpPr/>
          <p:nvPr/>
        </p:nvSpPr>
        <p:spPr>
          <a:xfrm>
            <a:off x="6181344" y="1371600"/>
            <a:ext cx="2633472"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221"/>
          <p:cNvSpPr txBox="1"/>
          <p:nvPr/>
        </p:nvSpPr>
        <p:spPr>
          <a:xfrm>
            <a:off x="6364224" y="1554480"/>
            <a:ext cx="2286000" cy="365760"/>
          </a:xfrm>
          <a:prstGeom prst="rect">
            <a:avLst/>
          </a:prstGeom>
          <a:noFill/>
          <a:ln/>
        </p:spPr>
        <p:txBody>
          <a:bodyPr wrap="square" lIns="0" tIns="0" rIns="0" bIns="0" rtlCol="0" anchor="t"/>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balance += 250;</a:t>
            </a:r>
            <a:endParaRPr lang="en-US" sz="1400" dirty="0"/>
          </a:p>
        </p:txBody>
      </p:sp>
      <p:sp>
        <p:nvSpPr>
          <p:cNvPr id="14" name="text-222"/>
          <p:cNvSpPr txBox="1"/>
          <p:nvPr/>
        </p:nvSpPr>
        <p:spPr>
          <a:xfrm>
            <a:off x="6364224" y="2057400"/>
            <a:ext cx="2286000" cy="731520"/>
          </a:xfrm>
          <a:prstGeom prst="rect">
            <a:avLst/>
          </a:prstGeom>
          <a:noFill/>
          <a:ln/>
        </p:spPr>
        <p:txBody>
          <a:bodyPr wrap="square" lIns="0" tIns="0" rIns="0" bIns="0" rtlCol="0" anchor="t"/>
          <a:lstStyle/>
          <a:p>
            <a:pPr algn="ctr" indent="0" marL="0">
              <a:buNone/>
            </a:pPr>
            <a:r>
              <a:rPr lang="en-US" sz="3600" b="1" dirty="0">
                <a:solidFill>
                  <a:schemeClr val="accent3"/>
                </a:solidFill>
              </a:rPr>
              <a:t>1750</a:t>
            </a:r>
            <a:endParaRPr lang="en-US" sz="3600" dirty="0"/>
          </a:p>
        </p:txBody>
      </p:sp>
      <p:sp>
        <p:nvSpPr>
          <p:cNvPr id="15" name="text-223"/>
          <p:cNvSpPr txBox="1"/>
          <p:nvPr/>
        </p:nvSpPr>
        <p:spPr>
          <a:xfrm>
            <a:off x="6364224" y="2880360"/>
            <a:ext cx="2286000" cy="365760"/>
          </a:xfrm>
          <a:prstGeom prst="rect">
            <a:avLst/>
          </a:prstGeom>
          <a:noFill/>
          <a:ln/>
        </p:spPr>
        <p:txBody>
          <a:bodyPr wrap="square" lIns="0" tIns="0" rIns="0" bIns="0" rtlCol="0" anchor="t"/>
          <a:lstStyle/>
          <a:p>
            <a:pPr algn="ctr" indent="0" marL="0">
              <a:buNone/>
            </a:pPr>
            <a:r>
              <a:rPr lang="en-US" sz="1400" dirty="0">
                <a:solidFill>
                  <a:schemeClr val="bg2"/>
                </a:solidFill>
              </a:rPr>
              <a:t>1500 + 250</a:t>
            </a:r>
            <a:endParaRPr lang="en-US" sz="1400" dirty="0"/>
          </a:p>
        </p:txBody>
      </p:sp>
      <p:sp>
        <p:nvSpPr>
          <p:cNvPr id="16" name="card-224"/>
          <p:cNvSpPr/>
          <p:nvPr/>
        </p:nvSpPr>
        <p:spPr>
          <a:xfrm>
            <a:off x="8997696" y="1371600"/>
            <a:ext cx="2633472"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7" name="text-225"/>
          <p:cNvSpPr txBox="1"/>
          <p:nvPr/>
        </p:nvSpPr>
        <p:spPr>
          <a:xfrm>
            <a:off x="9180576" y="1554480"/>
            <a:ext cx="2286000" cy="365760"/>
          </a:xfrm>
          <a:prstGeom prst="rect">
            <a:avLst/>
          </a:prstGeom>
          <a:noFill/>
          <a:ln/>
        </p:spPr>
        <p:txBody>
          <a:bodyPr wrap="square" lIns="0" tIns="0" rIns="0" bIns="0" rtlCol="0" anchor="t"/>
          <a:lstStyle/>
          <a:p>
            <a:pPr algn="ctr" indent="0" marL="0">
              <a:buNone/>
            </a:pPr>
            <a:r>
              <a:rPr lang="en-US" sz="1400" dirty="0">
                <a:solidFill>
                  <a:schemeClr val="accent1"/>
                </a:solidFill>
                <a:latin typeface="Courier New" pitchFamily="34" charset="0"/>
                <a:ea typeface="Courier New" pitchFamily="34" charset="-122"/>
                <a:cs typeface="Courier New" pitchFamily="34" charset="-120"/>
              </a:rPr>
              <a:t>balance -= 100;</a:t>
            </a:r>
            <a:endParaRPr lang="en-US" sz="1400" dirty="0"/>
          </a:p>
        </p:txBody>
      </p:sp>
      <p:sp>
        <p:nvSpPr>
          <p:cNvPr id="18" name="text-226"/>
          <p:cNvSpPr txBox="1"/>
          <p:nvPr/>
        </p:nvSpPr>
        <p:spPr>
          <a:xfrm>
            <a:off x="9180576" y="2057400"/>
            <a:ext cx="2286000" cy="731520"/>
          </a:xfrm>
          <a:prstGeom prst="rect">
            <a:avLst/>
          </a:prstGeom>
          <a:noFill/>
          <a:ln/>
        </p:spPr>
        <p:txBody>
          <a:bodyPr wrap="square" lIns="0" tIns="0" rIns="0" bIns="0" rtlCol="0" anchor="t"/>
          <a:lstStyle/>
          <a:p>
            <a:pPr algn="ctr" indent="0" marL="0">
              <a:buNone/>
            </a:pPr>
            <a:r>
              <a:rPr lang="en-US" sz="3600" b="1" dirty="0">
                <a:solidFill>
                  <a:schemeClr val="accent3"/>
                </a:solidFill>
              </a:rPr>
              <a:t>1650</a:t>
            </a:r>
            <a:endParaRPr lang="en-US" sz="3600" dirty="0"/>
          </a:p>
        </p:txBody>
      </p:sp>
      <p:sp>
        <p:nvSpPr>
          <p:cNvPr id="19" name="text-227"/>
          <p:cNvSpPr txBox="1"/>
          <p:nvPr/>
        </p:nvSpPr>
        <p:spPr>
          <a:xfrm>
            <a:off x="9180576" y="2880360"/>
            <a:ext cx="2286000" cy="365760"/>
          </a:xfrm>
          <a:prstGeom prst="rect">
            <a:avLst/>
          </a:prstGeom>
          <a:noFill/>
          <a:ln/>
        </p:spPr>
        <p:txBody>
          <a:bodyPr wrap="square" lIns="0" tIns="0" rIns="0" bIns="0" rtlCol="0" anchor="t"/>
          <a:lstStyle/>
          <a:p>
            <a:pPr algn="ctr" indent="0" marL="0">
              <a:buNone/>
            </a:pPr>
            <a:r>
              <a:rPr lang="en-US" sz="1400" dirty="0">
                <a:solidFill>
                  <a:schemeClr val="bg2"/>
                </a:solidFill>
              </a:rPr>
              <a:t>1750 − 100</a:t>
            </a:r>
            <a:endParaRPr lang="en-US" sz="1400" dirty="0"/>
          </a:p>
        </p:txBody>
      </p:sp>
      <p:graphicFrame>
        <p:nvGraphicFramePr>
          <p:cNvPr id="17" name="table-228"/>
          <p:cNvGraphicFramePr>
            <a:graphicFrameLocks noGrp="1"/>
          </p:cNvGraphicFramePr>
          <p:nvPr>
            <p:extLst>
              <p:ext uri="{D42A27DB-BD31-4B8C-83A1-F6EECF244321}">
                <p14:modId xmlns:p14="http://schemas.microsoft.com/office/powerpoint/2010/main" val="1579011935"/>
              </p:ext>
            </p:extLst>
          </p:nvPr>
        </p:nvGraphicFramePr>
        <p:xfrm>
          <a:off x="548640" y="3840480"/>
          <a:ext cx="5852160" cy="914400"/>
        </p:xfrm>
        <a:graphic>
          <a:graphicData uri="http://schemas.openxmlformats.org/drawingml/2006/table">
            <a:tbl>
              <a:tblPr/>
              <a:tblGrid>
                <a:gridCol w="1737360"/>
                <a:gridCol w="1828800"/>
                <a:gridCol w="2286000"/>
              </a:tblGrid>
              <a:tr h="457200">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Build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p = 7.8;</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cxx</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7, no message</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p = 7.8;</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-Wconversion</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warning: 7.8 → 7</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p = {7.8};</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cxx</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4"/>
                          </a:solidFill>
                          <a:latin typeface="Calibri" pitchFamily="34" charset="0"/>
                          <a:ea typeface="Calibri" pitchFamily="34" charset="-122"/>
                          <a:cs typeface="Calibri" pitchFamily="34" charset="-120"/>
                        </a:rPr>
                        <a:t>compile error</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bl>
          </a:graphicData>
        </a:graphic>
      </p:graphicFrame>
      <p:sp>
        <p:nvSpPr>
          <p:cNvPr id="21" name="card-229"/>
          <p:cNvSpPr/>
          <p:nvPr/>
        </p:nvSpPr>
        <p:spPr>
          <a:xfrm>
            <a:off x="6675120" y="3840480"/>
            <a:ext cx="4937760" cy="1828800"/>
          </a:xfrm>
          <a:prstGeom prst="roundRect">
            <a:avLst>
              <a:gd name="adj" fmla="val 6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2" name="text-230"/>
          <p:cNvSpPr txBox="1"/>
          <p:nvPr/>
        </p:nvSpPr>
        <p:spPr>
          <a:xfrm>
            <a:off x="6949440" y="4023360"/>
            <a:ext cx="4480560" cy="365760"/>
          </a:xfrm>
          <a:prstGeom prst="rect">
            <a:avLst/>
          </a:prstGeom>
          <a:noFill/>
          <a:ln/>
        </p:spPr>
        <p:txBody>
          <a:bodyPr wrap="square" lIns="0" tIns="0" rIns="0" bIns="0" rtlCol="0" anchor="t"/>
          <a:lstStyle/>
          <a:p>
            <a:pPr indent="0" marL="0">
              <a:buNone/>
            </a:pPr>
            <a:r>
              <a:rPr lang="en-US" sz="1700" b="1" dirty="0">
                <a:solidFill>
                  <a:schemeClr val="accent2"/>
                </a:solidFill>
                <a:latin typeface="Courier New" pitchFamily="34" charset="0"/>
                <a:ea typeface="Courier New" pitchFamily="34" charset="-122"/>
                <a:cs typeface="Courier New" pitchFamily="34" charset="-120"/>
              </a:rPr>
              <a:t>Chained: a = b = 42</a:t>
            </a:r>
            <a:endParaRPr lang="en-US" sz="1700" dirty="0"/>
          </a:p>
        </p:txBody>
      </p:sp>
      <p:sp>
        <p:nvSpPr>
          <p:cNvPr id="23" name="text-231"/>
          <p:cNvSpPr txBox="1"/>
          <p:nvPr/>
        </p:nvSpPr>
        <p:spPr>
          <a:xfrm>
            <a:off x="6949440" y="4480560"/>
            <a:ext cx="4480560" cy="1005840"/>
          </a:xfrm>
          <a:prstGeom prst="rect">
            <a:avLst/>
          </a:prstGeom>
          <a:noFill/>
          <a:ln/>
        </p:spPr>
        <p:txBody>
          <a:bodyPr wrap="square" lIns="0" tIns="0" rIns="0" bIns="0" rtlCol="0" anchor="t"/>
          <a:lstStyle/>
          <a:p>
            <a:pPr indent="0" marL="0">
              <a:buNone/>
            </a:pPr>
            <a:r>
              <a:rPr lang="en-US" sz="1500" dirty="0">
                <a:solidFill>
                  <a:schemeClr val="bg2"/>
                </a:solidFill>
              </a:rPr>
              <a:t>groups right to left: a = (b = 42). Each assignment changes only its left side.</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const: the bug it prevents</a:t>
            </a:r>
            <a:endParaRPr lang="en-US" sz="3000" dirty="0"/>
          </a:p>
        </p:txBody>
      </p:sp>
      <p:sp>
        <p:nvSpPr>
          <p:cNvPr id="3" name="text-232"/>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16</a:t>
            </a:r>
            <a:endParaRPr lang="en-US" sz="1200" dirty="0"/>
          </a:p>
        </p:txBody>
      </p:sp>
      <p:sp>
        <p:nvSpPr>
          <p:cNvPr id="4" name="card-233"/>
          <p:cNvSpPr/>
          <p:nvPr/>
        </p:nvSpPr>
        <p:spPr>
          <a:xfrm>
            <a:off x="548640" y="1371600"/>
            <a:ext cx="5440680" cy="2651760"/>
          </a:xfrm>
          <a:prstGeom prst="roundRect">
            <a:avLst>
              <a:gd name="adj" fmla="val 4138"/>
            </a:avLst>
          </a:prstGeom>
          <a:solidFill>
            <a:schemeClr val="tx2"/>
          </a:solidFill>
          <a:ln w="12700">
            <a:solidFill>
              <a:schemeClr val="accent5"/>
            </a:solidFill>
            <a:prstDash val="solid"/>
          </a:ln>
          <a:effectLst>
            <a:outerShdw sx="100000" sy="100000" kx="0" ky="0" algn="bl" rotWithShape="0" blurRad="76200" dist="25400" dir="5400000">
              <a:srgbClr val="000000">
                <a:alpha val="35000"/>
              </a:srgbClr>
            </a:outerShdw>
          </a:effectLst>
        </p:spPr>
      </p:sp>
      <p:sp>
        <p:nvSpPr>
          <p:cNvPr id="5" name="text-234"/>
          <p:cNvSpPr txBox="1"/>
          <p:nvPr/>
        </p:nvSpPr>
        <p:spPr>
          <a:xfrm>
            <a:off x="822960" y="1554480"/>
            <a:ext cx="4572000" cy="411480"/>
          </a:xfrm>
          <a:prstGeom prst="rect">
            <a:avLst/>
          </a:prstGeom>
          <a:noFill/>
          <a:ln/>
        </p:spPr>
        <p:txBody>
          <a:bodyPr wrap="square" lIns="0" tIns="0" rIns="0" bIns="0" rtlCol="0" anchor="t"/>
          <a:lstStyle/>
          <a:p>
            <a:pPr indent="0" marL="0">
              <a:buNone/>
            </a:pPr>
            <a:r>
              <a:rPr lang="en-US" sz="2000" b="1" dirty="0">
                <a:solidFill>
                  <a:schemeClr val="accent5"/>
                </a:solidFill>
              </a:rPr>
              <a:t>Without const</a:t>
            </a:r>
            <a:endParaRPr lang="en-US" sz="2000" dirty="0"/>
          </a:p>
        </p:txBody>
      </p:sp>
      <p:sp>
        <p:nvSpPr>
          <p:cNvPr id="6" name="text-235"/>
          <p:cNvSpPr txBox="1"/>
          <p:nvPr/>
        </p:nvSpPr>
        <p:spPr>
          <a:xfrm>
            <a:off x="822960" y="2103120"/>
            <a:ext cx="4937760" cy="7315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double taxRate{0.18};</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taxRate = 0.28;  // meant for another variable</a:t>
            </a:r>
            <a:endParaRPr lang="en-US" sz="1400" dirty="0"/>
          </a:p>
        </p:txBody>
      </p:sp>
      <p:sp>
        <p:nvSpPr>
          <p:cNvPr id="7" name="text-236"/>
          <p:cNvSpPr txBox="1"/>
          <p:nvPr/>
        </p:nvSpPr>
        <p:spPr>
          <a:xfrm>
            <a:off x="822960" y="3017520"/>
            <a:ext cx="4937760" cy="822960"/>
          </a:xfrm>
          <a:prstGeom prst="rect">
            <a:avLst/>
          </a:prstGeom>
          <a:noFill/>
          <a:ln/>
        </p:spPr>
        <p:txBody>
          <a:bodyPr wrap="square" lIns="0" tIns="0" rIns="0" bIns="0" rtlCol="0" anchor="t"/>
          <a:lstStyle/>
          <a:p>
            <a:pPr indent="0" marL="0">
              <a:buNone/>
            </a:pPr>
            <a:r>
              <a:rPr lang="en-US" sz="1500" b="1" dirty="0">
                <a:solidFill>
                  <a:schemeClr val="accent5"/>
                </a:solidFill>
              </a:rPr>
              <a:t>compiles, no warning: price 100 prints 128, not 118</a:t>
            </a:r>
            <a:endParaRPr lang="en-US" sz="1500" dirty="0"/>
          </a:p>
        </p:txBody>
      </p:sp>
      <p:sp>
        <p:nvSpPr>
          <p:cNvPr id="8" name="card-237"/>
          <p:cNvSpPr/>
          <p:nvPr/>
        </p:nvSpPr>
        <p:spPr>
          <a:xfrm>
            <a:off x="6172200" y="1371600"/>
            <a:ext cx="5440680" cy="2651760"/>
          </a:xfrm>
          <a:prstGeom prst="roundRect">
            <a:avLst>
              <a:gd name="adj" fmla="val 4138"/>
            </a:avLst>
          </a:prstGeom>
          <a:solidFill>
            <a:schemeClr val="tx2"/>
          </a:solidFill>
          <a:ln w="12700">
            <a:solidFill>
              <a:schemeClr val="accent4"/>
            </a:solidFill>
            <a:prstDash val="solid"/>
          </a:ln>
          <a:effectLst>
            <a:outerShdw sx="100000" sy="100000" kx="0" ky="0" algn="bl" rotWithShape="0" blurRad="76200" dist="25400" dir="5400000">
              <a:srgbClr val="000000">
                <a:alpha val="35000"/>
              </a:srgbClr>
            </a:outerShdw>
          </a:effectLst>
        </p:spPr>
      </p:sp>
      <p:sp>
        <p:nvSpPr>
          <p:cNvPr id="9" name="text-238"/>
          <p:cNvSpPr txBox="1"/>
          <p:nvPr/>
        </p:nvSpPr>
        <p:spPr>
          <a:xfrm>
            <a:off x="6446520" y="1554480"/>
            <a:ext cx="4572000" cy="411480"/>
          </a:xfrm>
          <a:prstGeom prst="rect">
            <a:avLst/>
          </a:prstGeom>
          <a:noFill/>
          <a:ln/>
        </p:spPr>
        <p:txBody>
          <a:bodyPr wrap="square" lIns="0" tIns="0" rIns="0" bIns="0" rtlCol="0" anchor="t"/>
          <a:lstStyle/>
          <a:p>
            <a:pPr indent="0" marL="0">
              <a:buNone/>
            </a:pPr>
            <a:r>
              <a:rPr lang="en-US" sz="2000" b="1" dirty="0">
                <a:solidFill>
                  <a:schemeClr val="accent4"/>
                </a:solidFill>
              </a:rPr>
              <a:t>With const</a:t>
            </a:r>
            <a:endParaRPr lang="en-US" sz="2000" dirty="0"/>
          </a:p>
        </p:txBody>
      </p:sp>
      <p:sp>
        <p:nvSpPr>
          <p:cNvPr id="10" name="text-239"/>
          <p:cNvSpPr txBox="1"/>
          <p:nvPr/>
        </p:nvSpPr>
        <p:spPr>
          <a:xfrm>
            <a:off x="6446520" y="2103120"/>
            <a:ext cx="4937760" cy="7315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const double taxRate{0.18};</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taxRate = 0.28;  // meant for another variable</a:t>
            </a:r>
            <a:endParaRPr lang="en-US" sz="1400" dirty="0"/>
          </a:p>
        </p:txBody>
      </p:sp>
      <p:sp>
        <p:nvSpPr>
          <p:cNvPr id="11" name="text-240"/>
          <p:cNvSpPr txBox="1"/>
          <p:nvPr/>
        </p:nvSpPr>
        <p:spPr>
          <a:xfrm>
            <a:off x="6446520" y="3017520"/>
            <a:ext cx="4937760" cy="822960"/>
          </a:xfrm>
          <a:prstGeom prst="rect">
            <a:avLst/>
          </a:prstGeom>
          <a:noFill/>
          <a:ln/>
        </p:spPr>
        <p:txBody>
          <a:bodyPr wrap="square" lIns="0" tIns="0" rIns="0" bIns="0" rtlCol="0" anchor="t"/>
          <a:lstStyle/>
          <a:p>
            <a:pPr indent="0" marL="0">
              <a:buNone/>
            </a:pPr>
            <a:r>
              <a:rPr lang="en-US" sz="1500" b="1" dirty="0">
                <a:solidFill>
                  <a:schemeClr val="accent4"/>
                </a:solidFill>
              </a:rPr>
              <a:t>error: assignment of read-only variable</a:t>
            </a:r>
            <a:endParaRPr lang="en-US" sz="1500" dirty="0"/>
          </a:p>
        </p:txBody>
      </p:sp>
      <p:sp>
        <p:nvSpPr>
          <p:cNvPr id="12" name="card-241"/>
          <p:cNvSpPr/>
          <p:nvPr/>
        </p:nvSpPr>
        <p:spPr>
          <a:xfrm>
            <a:off x="548640" y="4297680"/>
            <a:ext cx="3520440"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242"/>
          <p:cNvSpPr txBox="1"/>
          <p:nvPr/>
        </p:nvSpPr>
        <p:spPr>
          <a:xfrm>
            <a:off x="822960" y="4480560"/>
            <a:ext cx="3017520" cy="365760"/>
          </a:xfrm>
          <a:prstGeom prst="rect">
            <a:avLst/>
          </a:prstGeom>
          <a:noFill/>
          <a:ln/>
        </p:spPr>
        <p:txBody>
          <a:bodyPr wrap="square" lIns="0" tIns="0" rIns="0" bIns="0" rtlCol="0" anchor="t"/>
          <a:lstStyle/>
          <a:p>
            <a:pPr indent="0" marL="0">
              <a:buNone/>
            </a:pPr>
            <a:r>
              <a:rPr lang="en-US" sz="1700" b="1" dirty="0">
                <a:solidFill>
                  <a:schemeClr val="accent3"/>
                </a:solidFill>
              </a:rPr>
              <a:t>must be initialized</a:t>
            </a:r>
            <a:endParaRPr lang="en-US" sz="1700" dirty="0"/>
          </a:p>
        </p:txBody>
      </p:sp>
      <p:sp>
        <p:nvSpPr>
          <p:cNvPr id="14" name="text-243"/>
          <p:cNvSpPr txBox="1"/>
          <p:nvPr/>
        </p:nvSpPr>
        <p:spPr>
          <a:xfrm>
            <a:off x="822960" y="4937760"/>
            <a:ext cx="3017520" cy="914400"/>
          </a:xfrm>
          <a:prstGeom prst="rect">
            <a:avLst/>
          </a:prstGeom>
          <a:noFill/>
          <a:ln/>
        </p:spPr>
        <p:txBody>
          <a:bodyPr wrap="square" lIns="0" tIns="0" rIns="0" bIns="0" rtlCol="0" anchor="t"/>
          <a:lstStyle/>
          <a:p>
            <a:pPr indent="0" marL="0">
              <a:buNone/>
            </a:pPr>
            <a:r>
              <a:rPr lang="en-US" sz="1500" dirty="0">
                <a:solidFill>
                  <a:schemeClr val="bg2"/>
                </a:solidFill>
              </a:rPr>
              <a:t>const int limit; is an error</a:t>
            </a:r>
            <a:endParaRPr lang="en-US" sz="1500" dirty="0"/>
          </a:p>
        </p:txBody>
      </p:sp>
      <p:sp>
        <p:nvSpPr>
          <p:cNvPr id="15" name="card-244"/>
          <p:cNvSpPr/>
          <p:nvPr/>
        </p:nvSpPr>
        <p:spPr>
          <a:xfrm>
            <a:off x="4297680" y="4297680"/>
            <a:ext cx="3520440"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6" name="text-245"/>
          <p:cNvSpPr txBox="1"/>
          <p:nvPr/>
        </p:nvSpPr>
        <p:spPr>
          <a:xfrm>
            <a:off x="4572000" y="4480560"/>
            <a:ext cx="3017520" cy="365760"/>
          </a:xfrm>
          <a:prstGeom prst="rect">
            <a:avLst/>
          </a:prstGeom>
          <a:noFill/>
          <a:ln/>
        </p:spPr>
        <p:txBody>
          <a:bodyPr wrap="square" lIns="0" tIns="0" rIns="0" bIns="0" rtlCol="0" anchor="t"/>
          <a:lstStyle/>
          <a:p>
            <a:pPr indent="0" marL="0">
              <a:buNone/>
            </a:pPr>
            <a:r>
              <a:rPr lang="en-US" sz="1700" b="1" dirty="0">
                <a:solidFill>
                  <a:schemeClr val="accent3"/>
                </a:solidFill>
              </a:rPr>
              <a:t>not compile-time</a:t>
            </a:r>
            <a:endParaRPr lang="en-US" sz="1700" dirty="0"/>
          </a:p>
        </p:txBody>
      </p:sp>
      <p:sp>
        <p:nvSpPr>
          <p:cNvPr id="17" name="text-246"/>
          <p:cNvSpPr txBox="1"/>
          <p:nvPr/>
        </p:nvSpPr>
        <p:spPr>
          <a:xfrm>
            <a:off x="4572000" y="4937760"/>
            <a:ext cx="3017520" cy="914400"/>
          </a:xfrm>
          <a:prstGeom prst="rect">
            <a:avLst/>
          </a:prstGeom>
          <a:noFill/>
          <a:ln/>
        </p:spPr>
        <p:txBody>
          <a:bodyPr wrap="square" lIns="0" tIns="0" rIns="0" bIns="0" rtlCol="0" anchor="t"/>
          <a:lstStyle/>
          <a:p>
            <a:pPr indent="0" marL="0">
              <a:buNone/>
            </a:pPr>
            <a:r>
              <a:rPr lang="en-US" sz="1500" dirty="0">
                <a:solidFill>
                  <a:schemeClr val="bg2"/>
                </a:solidFill>
              </a:rPr>
              <a:t>const int q{input}; is fine; constexpr is compile-time</a:t>
            </a:r>
            <a:endParaRPr lang="en-US" sz="1500" dirty="0"/>
          </a:p>
        </p:txBody>
      </p:sp>
      <p:sp>
        <p:nvSpPr>
          <p:cNvPr id="18" name="card-247"/>
          <p:cNvSpPr/>
          <p:nvPr/>
        </p:nvSpPr>
        <p:spPr>
          <a:xfrm>
            <a:off x="8046720" y="4297680"/>
            <a:ext cx="3520440" cy="1737360"/>
          </a:xfrm>
          <a:prstGeom prst="roundRect">
            <a:avLst>
              <a:gd name="adj" fmla="val 631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9" name="text-248"/>
          <p:cNvSpPr txBox="1"/>
          <p:nvPr/>
        </p:nvSpPr>
        <p:spPr>
          <a:xfrm>
            <a:off x="8321040" y="4480560"/>
            <a:ext cx="3017520" cy="365760"/>
          </a:xfrm>
          <a:prstGeom prst="rect">
            <a:avLst/>
          </a:prstGeom>
          <a:noFill/>
          <a:ln/>
        </p:spPr>
        <p:txBody>
          <a:bodyPr wrap="square" lIns="0" tIns="0" rIns="0" bIns="0" rtlCol="0" anchor="t"/>
          <a:lstStyle/>
          <a:p>
            <a:pPr indent="0" marL="0">
              <a:buNone/>
            </a:pPr>
            <a:r>
              <a:rPr lang="en-US" sz="1700" b="1" dirty="0">
                <a:solidFill>
                  <a:schemeClr val="accent3"/>
                </a:solidFill>
              </a:rPr>
              <a:t>input pattern</a:t>
            </a:r>
            <a:endParaRPr lang="en-US" sz="1700" dirty="0"/>
          </a:p>
        </p:txBody>
      </p:sp>
      <p:sp>
        <p:nvSpPr>
          <p:cNvPr id="20" name="text-249"/>
          <p:cNvSpPr txBox="1"/>
          <p:nvPr/>
        </p:nvSpPr>
        <p:spPr>
          <a:xfrm>
            <a:off x="8321040" y="4937760"/>
            <a:ext cx="3017520" cy="914400"/>
          </a:xfrm>
          <a:prstGeom prst="rect">
            <a:avLst/>
          </a:prstGeom>
          <a:noFill/>
          <a:ln/>
        </p:spPr>
        <p:txBody>
          <a:bodyPr wrap="square" lIns="0" tIns="0" rIns="0" bIns="0" rtlCol="0" anchor="t"/>
          <a:lstStyle/>
          <a:p>
            <a:pPr indent="0" marL="0">
              <a:buNone/>
            </a:pPr>
            <a:r>
              <a:rPr lang="en-US" sz="1500" dirty="0">
                <a:solidFill>
                  <a:schemeClr val="bg2"/>
                </a:solidFill>
              </a:rPr>
              <a:t>read into a normal variable, then copy into a const</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auto copies the initializer's type</a:t>
            </a:r>
            <a:endParaRPr lang="en-US" sz="3000" dirty="0"/>
          </a:p>
        </p:txBody>
      </p:sp>
      <p:sp>
        <p:nvSpPr>
          <p:cNvPr id="3" name="text-250"/>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17</a:t>
            </a:r>
            <a:endParaRPr lang="en-US" sz="1200" dirty="0"/>
          </a:p>
        </p:txBody>
      </p:sp>
      <p:graphicFrame>
        <p:nvGraphicFramePr>
          <p:cNvPr id="19" name="table-251"/>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3291840"/>
                <a:gridCol w="1645920"/>
                <a:gridCol w="1097280"/>
              </a:tblGrid>
              <a:tr h="475488">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Declaration</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Deduced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sizeof</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auto count{42};</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ourier New" pitchFamily="34" charset="0"/>
                          <a:ea typeface="Courier New" pitchFamily="34" charset="-122"/>
                          <a:cs typeface="Courier New" pitchFamily="34" charset="-120"/>
                        </a:rPr>
                        <a:t>int</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auto total{3000000000};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ourier New" pitchFamily="34" charset="0"/>
                          <a:ea typeface="Courier New" pitchFamily="34" charset="-122"/>
                          <a:cs typeface="Courier New" pitchFamily="34" charset="-120"/>
                        </a:rPr>
                        <a:t>long</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auto price{19.99};</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ourier New" pitchFamily="34" charset="0"/>
                          <a:ea typeface="Courier New" pitchFamily="34" charset="-122"/>
                          <a:cs typeface="Courier New" pitchFamily="34" charset="-120"/>
                        </a:rPr>
                        <a:t>double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auto ratio{0.5f};</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ourier New" pitchFamily="34" charset="0"/>
                          <a:ea typeface="Courier New" pitchFamily="34" charset="-122"/>
                          <a:cs typeface="Courier New" pitchFamily="34" charset="-120"/>
                        </a:rPr>
                        <a:t>float</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auto grade{'A'};</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6"/>
                          </a:solidFill>
                          <a:latin typeface="Courier New" pitchFamily="34" charset="0"/>
                          <a:ea typeface="Courier New" pitchFamily="34" charset="-122"/>
                          <a:cs typeface="Courier New" pitchFamily="34" charset="-120"/>
                        </a:rPr>
                        <a:t>char</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auto ready{true};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6"/>
                          </a:solidFill>
                          <a:latin typeface="Courier New" pitchFamily="34" charset="0"/>
                          <a:ea typeface="Courier New" pitchFamily="34" charset="-122"/>
                          <a:cs typeface="Courier New" pitchFamily="34" charset="-120"/>
                        </a:rPr>
                        <a:t>bool</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bl>
          </a:graphicData>
        </a:graphic>
      </p:graphicFrame>
      <p:sp>
        <p:nvSpPr>
          <p:cNvPr id="5" name="card-252"/>
          <p:cNvSpPr/>
          <p:nvPr/>
        </p:nvSpPr>
        <p:spPr>
          <a:xfrm>
            <a:off x="6858000" y="1371600"/>
            <a:ext cx="47548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6" name="text-253"/>
          <p:cNvSpPr txBox="1"/>
          <p:nvPr/>
        </p:nvSpPr>
        <p:spPr>
          <a:xfrm>
            <a:off x="7132320" y="1554480"/>
            <a:ext cx="4206240" cy="365760"/>
          </a:xfrm>
          <a:prstGeom prst="rect">
            <a:avLst/>
          </a:prstGeom>
          <a:noFill/>
          <a:ln/>
        </p:spPr>
        <p:txBody>
          <a:bodyPr wrap="square" lIns="0" tIns="0" rIns="0" bIns="0" rtlCol="0" anchor="t"/>
          <a:lstStyle/>
          <a:p>
            <a:pPr indent="0" marL="0">
              <a:buNone/>
            </a:pPr>
            <a:r>
              <a:rPr lang="en-US" sz="1700" b="1" dirty="0">
                <a:solidFill>
                  <a:schemeClr val="accent2"/>
                </a:solidFill>
              </a:rPr>
              <a:t>Deduced once</a:t>
            </a:r>
            <a:endParaRPr lang="en-US" sz="1700" dirty="0"/>
          </a:p>
        </p:txBody>
      </p:sp>
      <p:sp>
        <p:nvSpPr>
          <p:cNvPr id="7" name="text-254"/>
          <p:cNvSpPr txBox="1"/>
          <p:nvPr/>
        </p:nvSpPr>
        <p:spPr>
          <a:xfrm>
            <a:off x="7132320" y="1965960"/>
            <a:ext cx="4297680" cy="64008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auto n{5}; n = 3.9; → n is 3, still int</a:t>
            </a:r>
            <a:endParaRPr lang="en-US" sz="1400" dirty="0"/>
          </a:p>
        </p:txBody>
      </p:sp>
      <p:sp>
        <p:nvSpPr>
          <p:cNvPr id="8" name="card-255"/>
          <p:cNvSpPr/>
          <p:nvPr/>
        </p:nvSpPr>
        <p:spPr>
          <a:xfrm>
            <a:off x="6858000" y="2880360"/>
            <a:ext cx="47548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9" name="text-256"/>
          <p:cNvSpPr txBox="1"/>
          <p:nvPr/>
        </p:nvSpPr>
        <p:spPr>
          <a:xfrm>
            <a:off x="7132320" y="3063240"/>
            <a:ext cx="4206240" cy="365760"/>
          </a:xfrm>
          <a:prstGeom prst="rect">
            <a:avLst/>
          </a:prstGeom>
          <a:noFill/>
          <a:ln/>
        </p:spPr>
        <p:txBody>
          <a:bodyPr wrap="square" lIns="0" tIns="0" rIns="0" bIns="0" rtlCol="0" anchor="t"/>
          <a:lstStyle/>
          <a:p>
            <a:pPr indent="0" marL="0">
              <a:buNone/>
            </a:pPr>
            <a:r>
              <a:rPr lang="en-US" sz="1700" b="1" dirty="0">
                <a:solidFill>
                  <a:schemeClr val="accent2"/>
                </a:solidFill>
              </a:rPr>
              <a:t>Drops top-level const</a:t>
            </a:r>
            <a:endParaRPr lang="en-US" sz="1700" dirty="0"/>
          </a:p>
        </p:txBody>
      </p:sp>
      <p:sp>
        <p:nvSpPr>
          <p:cNvPr id="10" name="text-257"/>
          <p:cNvSpPr txBox="1"/>
          <p:nvPr/>
        </p:nvSpPr>
        <p:spPr>
          <a:xfrm>
            <a:off x="7132320" y="3474720"/>
            <a:ext cx="4297680" cy="64008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auto copy{limit}; is modifiable: use const auto</a:t>
            </a:r>
            <a:endParaRPr lang="en-US" sz="1400" dirty="0"/>
          </a:p>
        </p:txBody>
      </p:sp>
      <p:sp>
        <p:nvSpPr>
          <p:cNvPr id="11" name="card-258"/>
          <p:cNvSpPr/>
          <p:nvPr/>
        </p:nvSpPr>
        <p:spPr>
          <a:xfrm>
            <a:off x="6858000" y="4389120"/>
            <a:ext cx="47548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2" name="text-259"/>
          <p:cNvSpPr txBox="1"/>
          <p:nvPr/>
        </p:nvSpPr>
        <p:spPr>
          <a:xfrm>
            <a:off x="7132320" y="4572000"/>
            <a:ext cx="4206240" cy="365760"/>
          </a:xfrm>
          <a:prstGeom prst="rect">
            <a:avLst/>
          </a:prstGeom>
          <a:noFill/>
          <a:ln/>
        </p:spPr>
        <p:txBody>
          <a:bodyPr wrap="square" lIns="0" tIns="0" rIns="0" bIns="0" rtlCol="0" anchor="t"/>
          <a:lstStyle/>
          <a:p>
            <a:pPr indent="0" marL="0">
              <a:buNone/>
            </a:pPr>
            <a:r>
              <a:rPr lang="en-US" sz="1700" b="1" dirty="0">
                <a:solidFill>
                  <a:schemeClr val="accent2"/>
                </a:solidFill>
              </a:rPr>
              <a:t>Brace rule</a:t>
            </a:r>
            <a:endParaRPr lang="en-US" sz="1700" dirty="0"/>
          </a:p>
        </p:txBody>
      </p:sp>
      <p:sp>
        <p:nvSpPr>
          <p:cNvPr id="13" name="text-260"/>
          <p:cNvSpPr txBox="1"/>
          <p:nvPr/>
        </p:nvSpPr>
        <p:spPr>
          <a:xfrm>
            <a:off x="7132320" y="4983480"/>
            <a:ext cx="4297680" cy="64008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auto x{5} is int · auto x = {5} is a list · auto x{1, 2} is an error</a:t>
            </a:r>
            <a:endParaRPr lang="en-US" sz="14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Operators: the operand types decide</a:t>
            </a:r>
            <a:endParaRPr lang="en-US" sz="3000" dirty="0"/>
          </a:p>
        </p:txBody>
      </p:sp>
      <p:sp>
        <p:nvSpPr>
          <p:cNvPr id="3" name="text-261"/>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18</a:t>
            </a:r>
            <a:endParaRPr lang="en-US" sz="1200" dirty="0"/>
          </a:p>
        </p:txBody>
      </p:sp>
      <p:graphicFrame>
        <p:nvGraphicFramePr>
          <p:cNvPr id="20" name="table-262"/>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645920"/>
                <a:gridCol w="1097280"/>
                <a:gridCol w="3291840"/>
              </a:tblGrid>
              <a:tr h="457200">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Expression</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17 / 5</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3"/>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integer division drops the fraction</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17.0 / 5</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ourier New" pitchFamily="34" charset="0"/>
                          <a:ea typeface="Courier New" pitchFamily="34" charset="-122"/>
                          <a:cs typeface="Courier New" pitchFamily="34" charset="-120"/>
                        </a:rPr>
                        <a:t>3.4</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one double operand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-17 / 5</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3"/>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toward zero, not -4</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-17 % 5</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3"/>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sign of the left operand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2 + 3 * 4</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3"/>
                          </a:solidFill>
                          <a:latin typeface="Courier New" pitchFamily="34" charset="0"/>
                          <a:ea typeface="Courier New" pitchFamily="34" charset="-122"/>
                          <a:cs typeface="Courier New" pitchFamily="34" charset="-120"/>
                        </a:rPr>
                        <a:t>14</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 before +</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bl>
          </a:graphicData>
        </a:graphic>
      </p:graphicFrame>
      <p:sp>
        <p:nvSpPr>
          <p:cNvPr id="5" name="card-263"/>
          <p:cNvSpPr/>
          <p:nvPr/>
        </p:nvSpPr>
        <p:spPr>
          <a:xfrm>
            <a:off x="6858000" y="1371600"/>
            <a:ext cx="4754880" cy="2286000"/>
          </a:xfrm>
          <a:prstGeom prst="roundRect">
            <a:avLst>
              <a:gd name="adj" fmla="val 48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6" name="text-264"/>
          <p:cNvSpPr txBox="1"/>
          <p:nvPr/>
        </p:nvSpPr>
        <p:spPr>
          <a:xfrm>
            <a:off x="7132320" y="1554480"/>
            <a:ext cx="4206240" cy="411480"/>
          </a:xfrm>
          <a:prstGeom prst="rect">
            <a:avLst/>
          </a:prstGeom>
          <a:noFill/>
          <a:ln/>
        </p:spPr>
        <p:txBody>
          <a:bodyPr wrap="square" lIns="0" tIns="0" rIns="0" bIns="0" rtlCol="0" anchor="t"/>
          <a:lstStyle/>
          <a:p>
            <a:pPr indent="0" marL="0">
              <a:buNone/>
            </a:pPr>
            <a:r>
              <a:rPr lang="en-US" sz="1900" b="1" dirty="0">
                <a:solidFill>
                  <a:schemeClr val="accent6"/>
                </a:solidFill>
              </a:rPr>
              <a:t>&amp;&amp; is a gate</a:t>
            </a:r>
            <a:endParaRPr lang="en-US" sz="1900" dirty="0"/>
          </a:p>
        </p:txBody>
      </p:sp>
      <p:sp>
        <p:nvSpPr>
          <p:cNvPr id="7" name="text-265"/>
          <p:cNvSpPr txBox="1"/>
          <p:nvPr/>
        </p:nvSpPr>
        <p:spPr>
          <a:xfrm>
            <a:off x="7132320" y="2103120"/>
            <a:ext cx="4297680" cy="8229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d != 0 &amp;&amp; 10 / d &gt; 1   → safe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10 / d &gt; 1 &amp;&amp; d != 0   → crash at d = 0</a:t>
            </a:r>
            <a:endParaRPr lang="en-US" sz="1400" dirty="0"/>
          </a:p>
        </p:txBody>
      </p:sp>
      <p:sp>
        <p:nvSpPr>
          <p:cNvPr id="8" name="text-266"/>
          <p:cNvSpPr txBox="1"/>
          <p:nvPr/>
        </p:nvSpPr>
        <p:spPr>
          <a:xfrm>
            <a:off x="7132320" y="3063240"/>
            <a:ext cx="4297680" cy="457200"/>
          </a:xfrm>
          <a:prstGeom prst="rect">
            <a:avLst/>
          </a:prstGeom>
          <a:noFill/>
          <a:ln/>
        </p:spPr>
        <p:txBody>
          <a:bodyPr wrap="square" lIns="0" tIns="0" rIns="0" bIns="0" rtlCol="0" anchor="t"/>
          <a:lstStyle/>
          <a:p>
            <a:pPr indent="0" marL="0">
              <a:buNone/>
            </a:pPr>
            <a:r>
              <a:rPr lang="en-US" sz="1500" dirty="0">
                <a:solidFill>
                  <a:schemeClr val="bg2"/>
                </a:solidFill>
              </a:rPr>
              <a:t>The guard only protects what comes after it.</a:t>
            </a:r>
            <a:endParaRPr lang="en-US" sz="1500" dirty="0"/>
          </a:p>
        </p:txBody>
      </p:sp>
      <p:sp>
        <p:nvSpPr>
          <p:cNvPr id="9" name="card-267"/>
          <p:cNvSpPr/>
          <p:nvPr/>
        </p:nvSpPr>
        <p:spPr>
          <a:xfrm>
            <a:off x="6858000" y="3931920"/>
            <a:ext cx="4754880"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0" name="text-268"/>
          <p:cNvSpPr txBox="1"/>
          <p:nvPr/>
        </p:nvSpPr>
        <p:spPr>
          <a:xfrm>
            <a:off x="7132320" y="4114800"/>
            <a:ext cx="4206240" cy="411480"/>
          </a:xfrm>
          <a:prstGeom prst="rect">
            <a:avLst/>
          </a:prstGeom>
          <a:noFill/>
          <a:ln/>
        </p:spPr>
        <p:txBody>
          <a:bodyPr wrap="square" lIns="0" tIns="0" rIns="0" bIns="0" rtlCol="0" anchor="t"/>
          <a:lstStyle/>
          <a:p>
            <a:pPr indent="0" marL="0">
              <a:buNone/>
            </a:pPr>
            <a:r>
              <a:rPr lang="en-US" sz="1900" b="1" dirty="0">
                <a:solidFill>
                  <a:schemeClr val="accent5"/>
                </a:solidFill>
              </a:rPr>
              <a:t>Overflow and UBSan</a:t>
            </a:r>
            <a:endParaRPr lang="en-US" sz="1900" dirty="0"/>
          </a:p>
        </p:txBody>
      </p:sp>
      <p:sp>
        <p:nvSpPr>
          <p:cNvPr id="11" name="text-269"/>
          <p:cNvSpPr txBox="1"/>
          <p:nvPr/>
        </p:nvSpPr>
        <p:spPr>
          <a:xfrm>
            <a:off x="7132320" y="4617720"/>
            <a:ext cx="4297680" cy="1280160"/>
          </a:xfrm>
          <a:prstGeom prst="rect">
            <a:avLst/>
          </a:prstGeom>
          <a:noFill/>
          <a:ln/>
        </p:spPr>
        <p:txBody>
          <a:bodyPr wrap="square" lIns="0" tIns="0" rIns="0" bIns="0" rtlCol="0" anchor="t"/>
          <a:lstStyle/>
          <a:p>
            <a:pPr indent="0" marL="0">
              <a:buNone/>
            </a:pPr>
            <a:r>
              <a:rPr lang="en-US" sz="1500" dirty="0">
                <a:solidFill>
                  <a:schemeClr val="bg2"/>
                </a:solidFill>
              </a:rPr>
              <a:t>2147483647 + 1: normal build prints -2147483648 silently; -fsanitize=undefined reports signed integer overflow.</a:t>
            </a:r>
            <a:endParaRPr lang="en-US" sz="1500" dirty="0"/>
          </a:p>
        </p:txBody>
      </p:sp>
      <p:sp>
        <p:nvSpPr>
          <p:cNvPr id="12" name="text-270"/>
          <p:cNvSpPr txBox="1"/>
          <p:nvPr/>
        </p:nvSpPr>
        <p:spPr>
          <a:xfrm>
            <a:off x="548640" y="4480560"/>
            <a:ext cx="6035040" cy="731520"/>
          </a:xfrm>
          <a:prstGeom prst="rect">
            <a:avLst/>
          </a:prstGeom>
          <a:noFill/>
          <a:ln/>
        </p:spPr>
        <p:txBody>
          <a:bodyPr wrap="square" lIns="0" tIns="0" rIns="0" bIns="0" rtlCol="0" anchor="t"/>
          <a:lstStyle/>
          <a:p>
            <a:pPr indent="0" marL="0">
              <a:buNone/>
            </a:pPr>
            <a:r>
              <a:rPr lang="en-US" sz="1600" b="1" dirty="0">
                <a:solidFill>
                  <a:schemeClr val="accent5"/>
                </a:solidFill>
              </a:rPr>
              <a:t>Trap: 1 &lt; x &lt; 3 compiles but is not a range. Write 1 &lt; x &amp;&amp; x &lt; 3.</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Conversions: cast operands, guard signedness</a:t>
            </a:r>
            <a:endParaRPr lang="en-US" sz="3000" dirty="0"/>
          </a:p>
        </p:txBody>
      </p:sp>
      <p:sp>
        <p:nvSpPr>
          <p:cNvPr id="3" name="text-271"/>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19</a:t>
            </a:r>
            <a:endParaRPr lang="en-US" sz="1200" dirty="0"/>
          </a:p>
        </p:txBody>
      </p:sp>
      <p:sp>
        <p:nvSpPr>
          <p:cNvPr id="4" name="card-272"/>
          <p:cNvSpPr/>
          <p:nvPr/>
        </p:nvSpPr>
        <p:spPr>
          <a:xfrm>
            <a:off x="548640" y="1371600"/>
            <a:ext cx="11064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273"/>
          <p:cNvSpPr txBox="1"/>
          <p:nvPr/>
        </p:nvSpPr>
        <p:spPr>
          <a:xfrm>
            <a:off x="822960" y="1572768"/>
            <a:ext cx="5303520" cy="365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sum / count</a:t>
            </a:r>
            <a:endParaRPr lang="en-US" sz="1500" dirty="0"/>
          </a:p>
        </p:txBody>
      </p:sp>
      <p:sp>
        <p:nvSpPr>
          <p:cNvPr id="6" name="text-274"/>
          <p:cNvSpPr txBox="1"/>
          <p:nvPr/>
        </p:nvSpPr>
        <p:spPr>
          <a:xfrm>
            <a:off x="6217920" y="1508760"/>
            <a:ext cx="1645920" cy="457200"/>
          </a:xfrm>
          <a:prstGeom prst="rect">
            <a:avLst/>
          </a:prstGeom>
          <a:noFill/>
          <a:ln/>
        </p:spPr>
        <p:txBody>
          <a:bodyPr wrap="square" lIns="0" tIns="0" rIns="0" bIns="0" rtlCol="0" anchor="t"/>
          <a:lstStyle/>
          <a:p>
            <a:pPr indent="0" marL="0">
              <a:buNone/>
            </a:pPr>
            <a:r>
              <a:rPr lang="en-US" sz="2200" b="1" dirty="0">
                <a:solidFill>
                  <a:schemeClr val="accent3"/>
                </a:solidFill>
              </a:rPr>
              <a:t>8</a:t>
            </a:r>
            <a:endParaRPr lang="en-US" sz="2200" dirty="0"/>
          </a:p>
        </p:txBody>
      </p:sp>
      <p:sp>
        <p:nvSpPr>
          <p:cNvPr id="7" name="text-275"/>
          <p:cNvSpPr txBox="1"/>
          <p:nvPr/>
        </p:nvSpPr>
        <p:spPr>
          <a:xfrm>
            <a:off x="7955280" y="1572768"/>
            <a:ext cx="3474720" cy="365760"/>
          </a:xfrm>
          <a:prstGeom prst="rect">
            <a:avLst/>
          </a:prstGeom>
          <a:noFill/>
          <a:ln/>
        </p:spPr>
        <p:txBody>
          <a:bodyPr wrap="square" lIns="0" tIns="0" rIns="0" bIns="0" rtlCol="0" anchor="t"/>
          <a:lstStyle/>
          <a:p>
            <a:pPr indent="0" marL="0">
              <a:buNone/>
            </a:pPr>
            <a:r>
              <a:rPr lang="en-US" sz="1500" dirty="0">
                <a:solidFill>
                  <a:schemeClr val="bg2"/>
                </a:solidFill>
              </a:rPr>
              <a:t>integer division</a:t>
            </a:r>
            <a:endParaRPr lang="en-US" sz="1500" dirty="0"/>
          </a:p>
        </p:txBody>
      </p:sp>
      <p:sp>
        <p:nvSpPr>
          <p:cNvPr id="8" name="card-276"/>
          <p:cNvSpPr/>
          <p:nvPr/>
        </p:nvSpPr>
        <p:spPr>
          <a:xfrm>
            <a:off x="548640" y="2240280"/>
            <a:ext cx="11064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9" name="text-277"/>
          <p:cNvSpPr txBox="1"/>
          <p:nvPr/>
        </p:nvSpPr>
        <p:spPr>
          <a:xfrm>
            <a:off x="822960" y="2441448"/>
            <a:ext cx="5303520" cy="365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static_cast&lt;double&gt;(sum / count)</a:t>
            </a:r>
            <a:endParaRPr lang="en-US" sz="1500" dirty="0"/>
          </a:p>
        </p:txBody>
      </p:sp>
      <p:sp>
        <p:nvSpPr>
          <p:cNvPr id="10" name="text-278"/>
          <p:cNvSpPr txBox="1"/>
          <p:nvPr/>
        </p:nvSpPr>
        <p:spPr>
          <a:xfrm>
            <a:off x="6217920" y="2377440"/>
            <a:ext cx="1645920" cy="457200"/>
          </a:xfrm>
          <a:prstGeom prst="rect">
            <a:avLst/>
          </a:prstGeom>
          <a:noFill/>
          <a:ln/>
        </p:spPr>
        <p:txBody>
          <a:bodyPr wrap="square" lIns="0" tIns="0" rIns="0" bIns="0" rtlCol="0" anchor="t"/>
          <a:lstStyle/>
          <a:p>
            <a:pPr indent="0" marL="0">
              <a:buNone/>
            </a:pPr>
            <a:r>
              <a:rPr lang="en-US" sz="2200" b="1" dirty="0">
                <a:solidFill>
                  <a:schemeClr val="accent5"/>
                </a:solidFill>
              </a:rPr>
              <a:t>8</a:t>
            </a:r>
            <a:endParaRPr lang="en-US" sz="2200" dirty="0"/>
          </a:p>
        </p:txBody>
      </p:sp>
      <p:sp>
        <p:nvSpPr>
          <p:cNvPr id="11" name="text-279"/>
          <p:cNvSpPr txBox="1"/>
          <p:nvPr/>
        </p:nvSpPr>
        <p:spPr>
          <a:xfrm>
            <a:off x="7955280" y="2441448"/>
            <a:ext cx="3474720" cy="365760"/>
          </a:xfrm>
          <a:prstGeom prst="rect">
            <a:avLst/>
          </a:prstGeom>
          <a:noFill/>
          <a:ln/>
        </p:spPr>
        <p:txBody>
          <a:bodyPr wrap="square" lIns="0" tIns="0" rIns="0" bIns="0" rtlCol="0" anchor="t"/>
          <a:lstStyle/>
          <a:p>
            <a:pPr indent="0" marL="0">
              <a:buNone/>
            </a:pPr>
            <a:r>
              <a:rPr lang="en-US" sz="1500" dirty="0">
                <a:solidFill>
                  <a:schemeClr val="accent5"/>
                </a:solidFill>
              </a:rPr>
              <a:t>too late: the .33 is gone</a:t>
            </a:r>
            <a:endParaRPr lang="en-US" sz="1500" dirty="0"/>
          </a:p>
        </p:txBody>
      </p:sp>
      <p:sp>
        <p:nvSpPr>
          <p:cNvPr id="12" name="card-280"/>
          <p:cNvSpPr/>
          <p:nvPr/>
        </p:nvSpPr>
        <p:spPr>
          <a:xfrm>
            <a:off x="548640" y="3108960"/>
            <a:ext cx="11064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281"/>
          <p:cNvSpPr txBox="1"/>
          <p:nvPr/>
        </p:nvSpPr>
        <p:spPr>
          <a:xfrm>
            <a:off x="822960" y="3310128"/>
            <a:ext cx="5303520" cy="365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static_cast&lt;double&gt;(sum) / count</a:t>
            </a:r>
            <a:endParaRPr lang="en-US" sz="1500" dirty="0"/>
          </a:p>
        </p:txBody>
      </p:sp>
      <p:sp>
        <p:nvSpPr>
          <p:cNvPr id="14" name="text-282"/>
          <p:cNvSpPr txBox="1"/>
          <p:nvPr/>
        </p:nvSpPr>
        <p:spPr>
          <a:xfrm>
            <a:off x="6217920" y="3246120"/>
            <a:ext cx="1645920" cy="457200"/>
          </a:xfrm>
          <a:prstGeom prst="rect">
            <a:avLst/>
          </a:prstGeom>
          <a:noFill/>
          <a:ln/>
        </p:spPr>
        <p:txBody>
          <a:bodyPr wrap="square" lIns="0" tIns="0" rIns="0" bIns="0" rtlCol="0" anchor="t"/>
          <a:lstStyle/>
          <a:p>
            <a:pPr indent="0" marL="0">
              <a:buNone/>
            </a:pPr>
            <a:r>
              <a:rPr lang="en-US" sz="2200" b="1" dirty="0">
                <a:solidFill>
                  <a:schemeClr val="accent4"/>
                </a:solidFill>
              </a:rPr>
              <a:t>8.33333</a:t>
            </a:r>
            <a:endParaRPr lang="en-US" sz="2200" dirty="0"/>
          </a:p>
        </p:txBody>
      </p:sp>
      <p:sp>
        <p:nvSpPr>
          <p:cNvPr id="15" name="text-283"/>
          <p:cNvSpPr txBox="1"/>
          <p:nvPr/>
        </p:nvSpPr>
        <p:spPr>
          <a:xfrm>
            <a:off x="7955280" y="3310128"/>
            <a:ext cx="3474720" cy="365760"/>
          </a:xfrm>
          <a:prstGeom prst="rect">
            <a:avLst/>
          </a:prstGeom>
          <a:noFill/>
          <a:ln/>
        </p:spPr>
        <p:txBody>
          <a:bodyPr wrap="square" lIns="0" tIns="0" rIns="0" bIns="0" rtlCol="0" anchor="t"/>
          <a:lstStyle/>
          <a:p>
            <a:pPr indent="0" marL="0">
              <a:buNone/>
            </a:pPr>
            <a:r>
              <a:rPr lang="en-US" sz="1500" dirty="0">
                <a:solidFill>
                  <a:schemeClr val="accent4"/>
                </a:solidFill>
              </a:rPr>
              <a:t>cast an operand</a:t>
            </a:r>
            <a:endParaRPr lang="en-US" sz="1500" dirty="0"/>
          </a:p>
        </p:txBody>
      </p:sp>
      <p:sp>
        <p:nvSpPr>
          <p:cNvPr id="16" name="card-284"/>
          <p:cNvSpPr/>
          <p:nvPr/>
        </p:nvSpPr>
        <p:spPr>
          <a:xfrm>
            <a:off x="548640" y="4114800"/>
            <a:ext cx="5440680" cy="1920240"/>
          </a:xfrm>
          <a:prstGeom prst="roundRect">
            <a:avLst>
              <a:gd name="adj" fmla="val 5714"/>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7" name="text-285"/>
          <p:cNvSpPr txBox="1"/>
          <p:nvPr/>
        </p:nvSpPr>
        <p:spPr>
          <a:xfrm>
            <a:off x="822960" y="4297680"/>
            <a:ext cx="4937760" cy="411480"/>
          </a:xfrm>
          <a:prstGeom prst="rect">
            <a:avLst/>
          </a:prstGeom>
          <a:noFill/>
          <a:ln/>
        </p:spPr>
        <p:txBody>
          <a:bodyPr wrap="square" lIns="0" tIns="0" rIns="0" bIns="0" rtlCol="0" anchor="t"/>
          <a:lstStyle/>
          <a:p>
            <a:pPr indent="0" marL="0">
              <a:buNone/>
            </a:pPr>
            <a:r>
              <a:rPr lang="en-US" sz="1800" b="1" dirty="0">
                <a:solidFill>
                  <a:schemeClr val="accent5"/>
                </a:solidFill>
              </a:rPr>
              <a:t>-1 &lt; 0u is false</a:t>
            </a:r>
            <a:endParaRPr lang="en-US" sz="1800" dirty="0"/>
          </a:p>
        </p:txBody>
      </p:sp>
      <p:sp>
        <p:nvSpPr>
          <p:cNvPr id="18" name="text-286"/>
          <p:cNvSpPr txBox="1"/>
          <p:nvPr/>
        </p:nvSpPr>
        <p:spPr>
          <a:xfrm>
            <a:off x="822960" y="4800600"/>
            <a:ext cx="4937760" cy="1097280"/>
          </a:xfrm>
          <a:prstGeom prst="rect">
            <a:avLst/>
          </a:prstGeom>
          <a:noFill/>
          <a:ln/>
        </p:spPr>
        <p:txBody>
          <a:bodyPr wrap="square" lIns="0" tIns="0" rIns="0" bIns="0" rtlCol="0" anchor="t"/>
          <a:lstStyle/>
          <a:p>
            <a:pPr indent="0" marL="0">
              <a:buNone/>
            </a:pPr>
            <a:r>
              <a:rPr lang="en-US" sz="1400" dirty="0">
                <a:solidFill>
                  <a:schemeClr val="bg2"/>
                </a:solidFill>
              </a:rPr>
              <a:t>signed meets unsigned: -1 becomes 4294967295. Fix: index &lt; 0 || static_cast&lt;unsigned&gt;(index) &lt; size</a:t>
            </a:r>
            <a:endParaRPr lang="en-US" sz="1400" dirty="0"/>
          </a:p>
        </p:txBody>
      </p:sp>
      <p:sp>
        <p:nvSpPr>
          <p:cNvPr id="19" name="card-287"/>
          <p:cNvSpPr/>
          <p:nvPr/>
        </p:nvSpPr>
        <p:spPr>
          <a:xfrm>
            <a:off x="6172200" y="4114800"/>
            <a:ext cx="5440680" cy="1920240"/>
          </a:xfrm>
          <a:prstGeom prst="roundRect">
            <a:avLst>
              <a:gd name="adj" fmla="val 5714"/>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0" name="text-288"/>
          <p:cNvSpPr txBox="1"/>
          <p:nvPr/>
        </p:nvSpPr>
        <p:spPr>
          <a:xfrm>
            <a:off x="6446520" y="4297680"/>
            <a:ext cx="4937760" cy="411480"/>
          </a:xfrm>
          <a:prstGeom prst="rect">
            <a:avLst/>
          </a:prstGeom>
          <a:noFill/>
          <a:ln/>
        </p:spPr>
        <p:txBody>
          <a:bodyPr wrap="square" lIns="0" tIns="0" rIns="0" bIns="0" rtlCol="0" anchor="t"/>
          <a:lstStyle/>
          <a:p>
            <a:pPr indent="0" marL="0">
              <a:buNone/>
            </a:pPr>
            <a:r>
              <a:rPr lang="en-US" sz="1800" b="1" dirty="0">
                <a:solidFill>
                  <a:schemeClr val="accent3"/>
                </a:solidFill>
              </a:rPr>
              <a:t>static_cast makes it visible, not safe</a:t>
            </a:r>
            <a:endParaRPr lang="en-US" sz="1800" dirty="0"/>
          </a:p>
        </p:txBody>
      </p:sp>
      <p:sp>
        <p:nvSpPr>
          <p:cNvPr id="21" name="text-289"/>
          <p:cNvSpPr txBox="1"/>
          <p:nvPr/>
        </p:nvSpPr>
        <p:spPr>
          <a:xfrm>
            <a:off x="6446520" y="4800600"/>
            <a:ext cx="4937760" cy="1097280"/>
          </a:xfrm>
          <a:prstGeom prst="rect">
            <a:avLst/>
          </a:prstGeom>
          <a:noFill/>
          <a:ln/>
        </p:spPr>
        <p:txBody>
          <a:bodyPr wrap="square" lIns="0" tIns="0" rIns="0" bIns="0" rtlCol="0" anchor="t"/>
          <a:lstStyle/>
          <a:p>
            <a:pPr indent="0" marL="0">
              <a:buNone/>
            </a:pPr>
            <a:r>
              <a:rPr lang="en-US" sz="1400" dirty="0">
                <a:solidFill>
                  <a:schemeClr val="bg2"/>
                </a:solidFill>
              </a:rPr>
              <a:t>out-of-range double → int is UB; GCC's -fsanitize=undefined needs float-cast-overflow to see it</a:t>
            </a:r>
            <a:endParaRPr lang="en-US" sz="14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290"/>
          <p:cNvSpPr txBox="1"/>
          <p:nvPr/>
        </p:nvSpPr>
        <p:spPr>
          <a:xfrm>
            <a:off x="731520" y="1920240"/>
            <a:ext cx="10058400" cy="365760"/>
          </a:xfrm>
          <a:prstGeom prst="rect">
            <a:avLst/>
          </a:prstGeom>
          <a:noFill/>
          <a:ln/>
        </p:spPr>
        <p:txBody>
          <a:bodyPr wrap="square" lIns="0" tIns="0" rIns="0" bIns="0" rtlCol="0" anchor="t"/>
          <a:lstStyle/>
          <a:p>
            <a:pPr indent="0" marL="0">
              <a:buNone/>
            </a:pPr>
            <a:r>
              <a:rPr lang="en-US" sz="1400" b="1" spc="300" kern="0" dirty="0">
                <a:solidFill>
                  <a:schemeClr val="accent6"/>
                </a:solidFill>
              </a:rPr>
              <a:t>PART 4  ·  TOPICS 20–24</a:t>
            </a:r>
            <a:endParaRPr lang="en-US" sz="1400" dirty="0"/>
          </a:p>
        </p:txBody>
      </p:sp>
      <p:sp>
        <p:nvSpPr>
          <p:cNvPr id="3" name="Text 0"/>
          <p:cNvSpPr/>
          <p:nvPr>
            <p:ph idx="100" type="title" hasCustomPrompt="1"/>
          </p:nvPr>
        </p:nvSpPr>
        <p:spPr>
          <a:xfrm>
            <a:off x="731520" y="2377440"/>
            <a:ext cx="10698480" cy="1097280"/>
          </a:xfrm>
          <a:prstGeom prst="rect">
            <a:avLst/>
          </a:prstGeom>
          <a:noFill/>
          <a:ln/>
        </p:spPr>
        <p:txBody>
          <a:bodyPr wrap="square"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Scope, input, and tools</a:t>
            </a:r>
            <a:endParaRPr lang="en-US" sz="4400" dirty="0"/>
          </a:p>
        </p:txBody>
      </p:sp>
      <p:sp>
        <p:nvSpPr>
          <p:cNvPr id="4" name="Text 0"/>
          <p:cNvSpPr/>
          <p:nvPr>
            <p:ph idx="101" type="body" hasCustomPrompt="1"/>
          </p:nvPr>
        </p:nvSpPr>
        <p:spPr>
          <a:xfrm>
            <a:off x="731520" y="3566160"/>
            <a:ext cx="10698480" cy="1280160"/>
          </a:xfrm>
          <a:prstGeom prst="rect">
            <a:avLst/>
          </a:prstGeom>
          <a:noFill/>
          <a:ln/>
        </p:spPr>
        <p:txBody>
          <a:bodyPr wrap="square" rtlCol="0" anchor="t"/>
          <a:lstStyle/>
          <a:p>
            <a:pPr algn="l" indent="0" marL="0">
              <a:buNone/>
            </a:pPr>
            <a:r>
              <a:rPr lang="en-US" sz="1800" dirty="0">
                <a:solidFill>
                  <a:schemeClr val="bg2"/>
                </a:solidFill>
              </a:rPr>
              <a:t>Where names live, how input fails, everyday containers, diagnostics, and undefined behavior</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Block scope: same name, two objects</a:t>
            </a:r>
            <a:endParaRPr lang="en-US" sz="3000" dirty="0"/>
          </a:p>
        </p:txBody>
      </p:sp>
      <p:sp>
        <p:nvSpPr>
          <p:cNvPr id="3" name="text-291"/>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20</a:t>
            </a:r>
            <a:endParaRPr lang="en-US" sz="1200" dirty="0"/>
          </a:p>
        </p:txBody>
      </p:sp>
      <p:sp>
        <p:nvSpPr>
          <p:cNvPr id="4" name="card-292"/>
          <p:cNvSpPr/>
          <p:nvPr/>
        </p:nvSpPr>
        <p:spPr>
          <a:xfrm>
            <a:off x="548640" y="1371600"/>
            <a:ext cx="5852160" cy="3017520"/>
          </a:xfrm>
          <a:prstGeom prst="roundRect">
            <a:avLst>
              <a:gd name="adj" fmla="val 3636"/>
            </a:avLst>
          </a:prstGeom>
          <a:solidFill>
            <a:schemeClr val="tx1"/>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293"/>
          <p:cNvSpPr txBox="1"/>
          <p:nvPr/>
        </p:nvSpPr>
        <p:spPr>
          <a:xfrm>
            <a:off x="777240" y="1554480"/>
            <a:ext cx="5394960" cy="2651760"/>
          </a:xfrm>
          <a:prstGeom prst="rect">
            <a:avLst/>
          </a:prstGeom>
          <a:noFill/>
          <a:ln/>
        </p:spPr>
        <p:txBody>
          <a:bodyPr wrap="square" lIns="0" tIns="0" rIns="0" bIns="0" rtlCol="0" anchor="t"/>
          <a:lstStyle/>
          <a:p>
            <a:pPr indent="0" marL="0">
              <a:spcAft>
                <a:spcPts val="200"/>
              </a:spcAft>
              <a:buNone/>
            </a:pPr>
            <a:r>
              <a:rPr lang="en-US" sz="1500" dirty="0">
                <a:solidFill>
                  <a:schemeClr val="accent1"/>
                </a:solidFill>
                <a:latin typeface="Courier New" pitchFamily="34" charset="0"/>
                <a:ea typeface="Courier New" pitchFamily="34" charset="-122"/>
                <a:cs typeface="Courier New" pitchFamily="34" charset="-120"/>
              </a:rPr>
              <a:t>int</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count{</a:t>
            </a:r>
            <a:pPr indent="0" marL="0">
              <a:spcAft>
                <a:spcPts val="200"/>
              </a:spcAft>
              <a:buNone/>
            </a:pPr>
            <a:r>
              <a:rPr lang="en-US" sz="1500" dirty="0">
                <a:solidFill>
                  <a:schemeClr val="accent3"/>
                </a:solidFill>
                <a:latin typeface="Courier New" pitchFamily="34" charset="0"/>
                <a:ea typeface="Courier New" pitchFamily="34" charset="-122"/>
                <a:cs typeface="Courier New" pitchFamily="34" charset="-120"/>
              </a:rPr>
              <a:t>0</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count = </a:t>
            </a:r>
            <a:pPr indent="0" marL="0">
              <a:spcAft>
                <a:spcPts val="200"/>
              </a:spcAft>
              <a:buNone/>
            </a:pPr>
            <a:r>
              <a:rPr lang="en-US" sz="1500" dirty="0">
                <a:solidFill>
                  <a:schemeClr val="accent3"/>
                </a:solidFill>
                <a:latin typeface="Courier New" pitchFamily="34" charset="0"/>
                <a:ea typeface="Courier New" pitchFamily="34" charset="-122"/>
                <a:cs typeface="Courier New" pitchFamily="34" charset="-120"/>
              </a:rPr>
              <a:t>5</a:t>
            </a:r>
            <a:pPr indent="0" marL="0">
              <a:spcAft>
                <a:spcPts val="200"/>
              </a:spcAft>
              <a:buNone/>
            </a:pPr>
            <a:r>
              <a:rPr lang="en-US" sz="1500" dirty="0">
                <a:solidFill>
                  <a:schemeClr val="bg2"/>
                </a:solidFill>
                <a:latin typeface="Courier New" pitchFamily="34" charset="0"/>
                <a:ea typeface="Courier New" pitchFamily="34" charset="-122"/>
                <a:cs typeface="Courier New" pitchFamily="34" charset="-120"/>
              </a:rPr>
              <a:t>;        // the outer count</a:t>
            </a:r>
            <a:endParaRPr lang="en-US" sz="1500" dirty="0"/>
          </a:p>
          <a:p>
            <a:pPr indent="0" marL="0">
              <a:spcAft>
                <a:spcPts val="200"/>
              </a:spcAft>
              <a:buNone/>
            </a:pPr>
            <a:r>
              <a:rPr lang="en-US" sz="1500" dirty="0">
                <a:solidFill>
                  <a:schemeClr val="accent1"/>
                </a:solidFill>
                <a:latin typeface="Courier New" pitchFamily="34" charset="0"/>
                <a:ea typeface="Courier New" pitchFamily="34" charset="-122"/>
                <a:cs typeface="Courier New" pitchFamily="34" charset="-120"/>
              </a:rPr>
              <a:t>    int</a:t>
            </a:r>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count{</a:t>
            </a:r>
            <a:pPr indent="0" marL="0">
              <a:spcAft>
                <a:spcPts val="200"/>
              </a:spcAft>
              <a:buNone/>
            </a:pPr>
            <a:r>
              <a:rPr lang="en-US" sz="1500" dirty="0">
                <a:solidFill>
                  <a:schemeClr val="accent3"/>
                </a:solidFill>
                <a:latin typeface="Courier New" pitchFamily="34" charset="0"/>
                <a:ea typeface="Courier New" pitchFamily="34" charset="-122"/>
                <a:cs typeface="Courier New" pitchFamily="34" charset="-120"/>
              </a:rPr>
              <a:t>9</a:t>
            </a:r>
            <a:pPr indent="0" marL="0">
              <a:spcAft>
                <a:spcPts val="200"/>
              </a:spcAft>
              <a:buNone/>
            </a:pPr>
            <a:r>
              <a:rPr lang="en-US" sz="1500" dirty="0">
                <a:solidFill>
                  <a:schemeClr val="bg2"/>
                </a:solidFill>
                <a:latin typeface="Courier New" pitchFamily="34" charset="0"/>
                <a:ea typeface="Courier New" pitchFamily="34" charset="-122"/>
                <a:cs typeface="Courier New" pitchFamily="34" charset="-120"/>
              </a:rPr>
              <a:t>};   // a new, separate count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2"/>
                </a:solidFill>
                <a:latin typeface="Courier New" pitchFamily="34" charset="0"/>
                <a:ea typeface="Courier New" pitchFamily="34" charset="-122"/>
                <a:cs typeface="Courier New" pitchFamily="34" charset="-120"/>
              </a:rPr>
              <a:t>// outer count is 5</a:t>
            </a:r>
            <a:endParaRPr lang="en-US" sz="1500" dirty="0"/>
          </a:p>
        </p:txBody>
      </p:sp>
      <p:sp>
        <p:nvSpPr>
          <p:cNvPr id="6" name="card-294"/>
          <p:cNvSpPr/>
          <p:nvPr/>
        </p:nvSpPr>
        <p:spPr>
          <a:xfrm>
            <a:off x="6675120" y="1371600"/>
            <a:ext cx="493776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7" name="text-295"/>
          <p:cNvSpPr txBox="1"/>
          <p:nvPr/>
        </p:nvSpPr>
        <p:spPr>
          <a:xfrm>
            <a:off x="6949440" y="1481328"/>
            <a:ext cx="2103120" cy="640080"/>
          </a:xfrm>
          <a:prstGeom prst="rect">
            <a:avLst/>
          </a:prstGeom>
          <a:noFill/>
          <a:ln/>
        </p:spPr>
        <p:txBody>
          <a:bodyPr wrap="square" lIns="0" tIns="0" rIns="0" bIns="0" rtlCol="0" anchor="ctr"/>
          <a:lstStyle/>
          <a:p>
            <a:pPr indent="0" marL="0">
              <a:buNone/>
            </a:pPr>
            <a:r>
              <a:rPr lang="en-US" sz="1600" b="1" dirty="0">
                <a:solidFill>
                  <a:schemeClr val="accent6"/>
                </a:solidFill>
                <a:latin typeface="Calibri" pitchFamily="34" charset="0"/>
                <a:ea typeface="Calibri" pitchFamily="34" charset="-122"/>
                <a:cs typeface="Calibri" pitchFamily="34" charset="-120"/>
              </a:rPr>
              <a:t>Scope</a:t>
            </a:r>
            <a:endParaRPr lang="en-US" sz="1600" dirty="0"/>
          </a:p>
        </p:txBody>
      </p:sp>
      <p:sp>
        <p:nvSpPr>
          <p:cNvPr id="8" name="text-296"/>
          <p:cNvSpPr txBox="1"/>
          <p:nvPr/>
        </p:nvSpPr>
        <p:spPr>
          <a:xfrm>
            <a:off x="9098280" y="1481328"/>
            <a:ext cx="2377440" cy="640080"/>
          </a:xfrm>
          <a:prstGeom prst="rect">
            <a:avLst/>
          </a:prstGeom>
          <a:noFill/>
          <a:ln/>
        </p:spPr>
        <p:txBody>
          <a:bodyPr wrap="square" lIns="0" tIns="0" rIns="0" bIns="0" rtlCol="0" anchor="ctr"/>
          <a:lstStyle/>
          <a:p>
            <a:pPr indent="0" marL="0">
              <a:buNone/>
            </a:pPr>
            <a:r>
              <a:rPr lang="en-US" sz="1400" dirty="0">
                <a:solidFill>
                  <a:schemeClr val="bg2"/>
                </a:solidFill>
              </a:rPr>
              <a:t>from a name's definition to its block's }</a:t>
            </a:r>
            <a:endParaRPr lang="en-US" sz="1400" dirty="0"/>
          </a:p>
        </p:txBody>
      </p:sp>
      <p:sp>
        <p:nvSpPr>
          <p:cNvPr id="9" name="card-297"/>
          <p:cNvSpPr/>
          <p:nvPr/>
        </p:nvSpPr>
        <p:spPr>
          <a:xfrm>
            <a:off x="6675120" y="2423160"/>
            <a:ext cx="493776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0" name="text-298"/>
          <p:cNvSpPr txBox="1"/>
          <p:nvPr/>
        </p:nvSpPr>
        <p:spPr>
          <a:xfrm>
            <a:off x="6949440" y="2532888"/>
            <a:ext cx="2103120" cy="640080"/>
          </a:xfrm>
          <a:prstGeom prst="rect">
            <a:avLst/>
          </a:prstGeom>
          <a:noFill/>
          <a:ln/>
        </p:spPr>
        <p:txBody>
          <a:bodyPr wrap="square" lIns="0" tIns="0" rIns="0" bIns="0" rtlCol="0" anchor="ctr"/>
          <a:lstStyle/>
          <a:p>
            <a:pPr indent="0" marL="0">
              <a:buNone/>
            </a:pPr>
            <a:r>
              <a:rPr lang="en-US" sz="1600" b="1" dirty="0">
                <a:solidFill>
                  <a:schemeClr val="accent6"/>
                </a:solidFill>
                <a:latin typeface="Calibri" pitchFamily="34" charset="0"/>
                <a:ea typeface="Calibri" pitchFamily="34" charset="-122"/>
                <a:cs typeface="Calibri" pitchFamily="34" charset="-120"/>
              </a:rPr>
              <a:t>Lookup</a:t>
            </a:r>
            <a:endParaRPr lang="en-US" sz="1600" dirty="0"/>
          </a:p>
        </p:txBody>
      </p:sp>
      <p:sp>
        <p:nvSpPr>
          <p:cNvPr id="11" name="text-299"/>
          <p:cNvSpPr txBox="1"/>
          <p:nvPr/>
        </p:nvSpPr>
        <p:spPr>
          <a:xfrm>
            <a:off x="9098280" y="2532888"/>
            <a:ext cx="2377440" cy="640080"/>
          </a:xfrm>
          <a:prstGeom prst="rect">
            <a:avLst/>
          </a:prstGeom>
          <a:noFill/>
          <a:ln/>
        </p:spPr>
        <p:txBody>
          <a:bodyPr wrap="square" lIns="0" tIns="0" rIns="0" bIns="0" rtlCol="0" anchor="ctr"/>
          <a:lstStyle/>
          <a:p>
            <a:pPr indent="0" marL="0">
              <a:buNone/>
            </a:pPr>
            <a:r>
              <a:rPr lang="en-US" sz="1400" dirty="0">
                <a:solidFill>
                  <a:schemeClr val="bg2"/>
                </a:solidFill>
              </a:rPr>
              <a:t>inner blocks see outer names; the nearest wins</a:t>
            </a:r>
            <a:endParaRPr lang="en-US" sz="1400" dirty="0"/>
          </a:p>
        </p:txBody>
      </p:sp>
      <p:sp>
        <p:nvSpPr>
          <p:cNvPr id="12" name="card-300"/>
          <p:cNvSpPr/>
          <p:nvPr/>
        </p:nvSpPr>
        <p:spPr>
          <a:xfrm>
            <a:off x="6675120" y="3474720"/>
            <a:ext cx="493776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301"/>
          <p:cNvSpPr txBox="1"/>
          <p:nvPr/>
        </p:nvSpPr>
        <p:spPr>
          <a:xfrm>
            <a:off x="6949440" y="3584448"/>
            <a:ext cx="2103120" cy="640080"/>
          </a:xfrm>
          <a:prstGeom prst="rect">
            <a:avLst/>
          </a:prstGeom>
          <a:noFill/>
          <a:ln/>
        </p:spPr>
        <p:txBody>
          <a:bodyPr wrap="square" lIns="0" tIns="0" rIns="0" bIns="0" rtlCol="0" anchor="ctr"/>
          <a:lstStyle/>
          <a:p>
            <a:pPr indent="0" marL="0">
              <a:buNone/>
            </a:pPr>
            <a:r>
              <a:rPr lang="en-US" sz="1600" b="1" dirty="0">
                <a:solidFill>
                  <a:schemeClr val="accent6"/>
                </a:solidFill>
                <a:latin typeface="Courier New" pitchFamily="34" charset="0"/>
                <a:ea typeface="Courier New" pitchFamily="34" charset="-122"/>
                <a:cs typeface="Courier New" pitchFamily="34" charset="-120"/>
              </a:rPr>
              <a:t>-Wshadow=local</a:t>
            </a:r>
            <a:endParaRPr lang="en-US" sz="1600" dirty="0"/>
          </a:p>
        </p:txBody>
      </p:sp>
      <p:sp>
        <p:nvSpPr>
          <p:cNvPr id="14" name="text-302"/>
          <p:cNvSpPr txBox="1"/>
          <p:nvPr/>
        </p:nvSpPr>
        <p:spPr>
          <a:xfrm>
            <a:off x="9098280" y="3584448"/>
            <a:ext cx="2377440" cy="640080"/>
          </a:xfrm>
          <a:prstGeom prst="rect">
            <a:avLst/>
          </a:prstGeom>
          <a:noFill/>
          <a:ln/>
        </p:spPr>
        <p:txBody>
          <a:bodyPr wrap="square" lIns="0" tIns="0" rIns="0" bIns="0" rtlCol="0" anchor="ctr"/>
          <a:lstStyle/>
          <a:p>
            <a:pPr indent="0" marL="0">
              <a:buNone/>
            </a:pPr>
            <a:r>
              <a:rPr lang="en-US" sz="1400" dirty="0">
                <a:solidFill>
                  <a:schemeClr val="bg2"/>
                </a:solidFill>
              </a:rPr>
              <a:t>the only flag here that reports the shadowing</a:t>
            </a:r>
            <a:endParaRPr lang="en-US" sz="1400" dirty="0"/>
          </a:p>
        </p:txBody>
      </p:sp>
      <p:sp>
        <p:nvSpPr>
          <p:cNvPr id="15" name="text-303"/>
          <p:cNvSpPr txBox="1"/>
          <p:nvPr/>
        </p:nvSpPr>
        <p:spPr>
          <a:xfrm>
            <a:off x="548640" y="4663440"/>
            <a:ext cx="10972800" cy="457200"/>
          </a:xfrm>
          <a:prstGeom prst="rect">
            <a:avLst/>
          </a:prstGeom>
          <a:noFill/>
          <a:ln/>
        </p:spPr>
        <p:txBody>
          <a:bodyPr wrap="square" lIns="0" tIns="0" rIns="0" bIns="0" rtlCol="0" anchor="t"/>
          <a:lstStyle/>
          <a:p>
            <a:pPr indent="0" marL="0">
              <a:buNone/>
            </a:pPr>
            <a:r>
              <a:rPr lang="en-US" sz="1600" b="1" dirty="0">
                <a:solidFill>
                  <a:schemeClr val="accent3"/>
                </a:solidFill>
              </a:rPr>
              <a:t>Printed 5, then 9, then 5, with zero warnings under -Wall -Wextra -Wpedantic.</a:t>
            </a:r>
            <a:endParaRPr lang="en-US" sz="1600" dirty="0"/>
          </a:p>
        </p:txBody>
      </p:sp>
      <p:sp>
        <p:nvSpPr>
          <p:cNvPr id="16" name="text-304"/>
          <p:cNvSpPr txBox="1"/>
          <p:nvPr/>
        </p:nvSpPr>
        <p:spPr>
          <a:xfrm>
            <a:off x="548640" y="5212080"/>
            <a:ext cx="10972800" cy="731520"/>
          </a:xfrm>
          <a:prstGeom prst="rect">
            <a:avLst/>
          </a:prstGeom>
          <a:noFill/>
          <a:ln/>
        </p:spPr>
        <p:txBody>
          <a:bodyPr wrap="square" lIns="0" tIns="0" rIns="0" bIns="0" rtlCol="0" anchor="t"/>
          <a:lstStyle/>
          <a:p>
            <a:pPr indent="0" marL="0">
              <a:buNone/>
            </a:pPr>
            <a:r>
              <a:rPr lang="en-US" sz="1500" dirty="0">
                <a:solidFill>
                  <a:schemeClr val="bg2"/>
                </a:solidFill>
              </a:rPr>
              <a:t>Scope is where a name can be used (compile time). Lifetime is when an object exists (run time). For locals, both end at }.</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std::cin: the stream fails quietly</a:t>
            </a:r>
            <a:endParaRPr lang="en-US" sz="3000" dirty="0"/>
          </a:p>
        </p:txBody>
      </p:sp>
      <p:sp>
        <p:nvSpPr>
          <p:cNvPr id="3" name="text-305"/>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21</a:t>
            </a:r>
            <a:endParaRPr lang="en-US" sz="1200" dirty="0"/>
          </a:p>
        </p:txBody>
      </p:sp>
      <p:graphicFrame>
        <p:nvGraphicFramePr>
          <p:cNvPr id="24" name="table-306"/>
          <p:cNvGraphicFramePr>
            <a:graphicFrameLocks noGrp="1"/>
          </p:cNvGraphicFramePr>
          <p:nvPr>
            <p:extLst>
              <p:ext uri="{D42A27DB-BD31-4B8C-83A1-F6EECF244321}">
                <p14:modId xmlns:p14="http://schemas.microsoft.com/office/powerpoint/2010/main" val="1579011935"/>
              </p:ext>
            </p:extLst>
          </p:nvPr>
        </p:nvGraphicFramePr>
        <p:xfrm>
          <a:off x="548640" y="1371600"/>
          <a:ext cx="6400800" cy="914400"/>
        </p:xfrm>
        <a:graphic>
          <a:graphicData uri="http://schemas.openxmlformats.org/drawingml/2006/table">
            <a:tbl>
              <a:tblPr/>
              <a:tblGrid>
                <a:gridCol w="1828800"/>
                <a:gridCol w="1645920"/>
                <a:gridCol w="1097280"/>
                <a:gridCol w="1828800"/>
              </a:tblGrid>
              <a:tr h="475488">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first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fail</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second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10 20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20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abc</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 (skipped)</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7xyz</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7</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99999999999</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2147483647</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5"/>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(no input)</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accent5"/>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bl>
          </a:graphicData>
        </a:graphic>
      </p:graphicFrame>
      <p:sp>
        <p:nvSpPr>
          <p:cNvPr id="5" name="text-307"/>
          <p:cNvSpPr txBox="1"/>
          <p:nvPr/>
        </p:nvSpPr>
        <p:spPr>
          <a:xfrm>
            <a:off x="548640" y="4389120"/>
            <a:ext cx="6400800" cy="457200"/>
          </a:xfrm>
          <a:prstGeom prst="rect">
            <a:avLst/>
          </a:prstGeom>
          <a:noFill/>
          <a:ln/>
        </p:spPr>
        <p:txBody>
          <a:bodyPr wrap="square" lIns="0" tIns="0" rIns="0" bIns="0" rtlCol="0" anchor="t"/>
          <a:lstStyle/>
          <a:p>
            <a:pPr indent="0" marL="0">
              <a:buNone/>
            </a:pPr>
            <a:r>
              <a:rPr lang="en-US" sz="1500" dirty="0">
                <a:solidFill>
                  <a:schemeClr val="bg2"/>
                </a:solidFill>
              </a:rPr>
              <a:t>Two reads, both starting at -1. Check the stream, never the value.</a:t>
            </a:r>
            <a:endParaRPr lang="en-US" sz="1500" dirty="0"/>
          </a:p>
        </p:txBody>
      </p:sp>
      <p:sp>
        <p:nvSpPr>
          <p:cNvPr id="6" name="card-308"/>
          <p:cNvSpPr/>
          <p:nvPr/>
        </p:nvSpPr>
        <p:spPr>
          <a:xfrm>
            <a:off x="7223760" y="1371600"/>
            <a:ext cx="4389120" cy="2834640"/>
          </a:xfrm>
          <a:prstGeom prst="roundRect">
            <a:avLst>
              <a:gd name="adj" fmla="val 38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7" name="text-309"/>
          <p:cNvSpPr txBox="1"/>
          <p:nvPr/>
        </p:nvSpPr>
        <p:spPr>
          <a:xfrm>
            <a:off x="7498080" y="1554480"/>
            <a:ext cx="3840480" cy="411480"/>
          </a:xfrm>
          <a:prstGeom prst="rect">
            <a:avLst/>
          </a:prstGeom>
          <a:noFill/>
          <a:ln/>
        </p:spPr>
        <p:txBody>
          <a:bodyPr wrap="square" lIns="0" tIns="0" rIns="0" bIns="0" rtlCol="0" anchor="t"/>
          <a:lstStyle/>
          <a:p>
            <a:pPr indent="0" marL="0">
              <a:buNone/>
            </a:pPr>
            <a:r>
              <a:rPr lang="en-US" sz="1900" b="1" dirty="0">
                <a:solidFill>
                  <a:schemeClr val="accent4"/>
                </a:solidFill>
              </a:rPr>
              <a:t>Recovery order</a:t>
            </a:r>
            <a:endParaRPr lang="en-US" sz="1900" dirty="0"/>
          </a:p>
        </p:txBody>
      </p:sp>
      <p:sp>
        <p:nvSpPr>
          <p:cNvPr id="8" name="text-310"/>
          <p:cNvSpPr txBox="1"/>
          <p:nvPr/>
        </p:nvSpPr>
        <p:spPr>
          <a:xfrm>
            <a:off x="7498080" y="2103120"/>
            <a:ext cx="3931920" cy="1280160"/>
          </a:xfrm>
          <a:prstGeom prst="rect">
            <a:avLst/>
          </a:prstGeom>
          <a:noFill/>
          <a:ln/>
        </p:spPr>
        <p:txBody>
          <a:bodyPr wrap="square" lIns="0" tIns="0" rIns="0" bIns="0" rtlCol="0" anchor="t"/>
          <a:lstStyle/>
          <a:p>
            <a:pPr indent="0" marL="0">
              <a:spcAft>
                <a:spcPts val="600"/>
              </a:spcAft>
              <a:buNone/>
            </a:pPr>
            <a:r>
              <a:rPr lang="en-US" sz="1400" dirty="0">
                <a:solidFill>
                  <a:schemeClr val="accent4"/>
                </a:solidFill>
                <a:latin typeface="Courier New" pitchFamily="34" charset="0"/>
                <a:ea typeface="Courier New" pitchFamily="34" charset="-122"/>
                <a:cs typeface="Courier New" pitchFamily="34" charset="-120"/>
              </a:rPr>
              <a:t>clear() + ignore() → works</a:t>
            </a:r>
            <a:endParaRPr lang="en-US" sz="1400" dirty="0"/>
          </a:p>
          <a:p>
            <a:pPr indent="0" marL="0">
              <a:spcAft>
                <a:spcPts val="600"/>
              </a:spcAft>
              <a:buNone/>
            </a:pPr>
            <a:r>
              <a:rPr lang="en-US" sz="1400" dirty="0">
                <a:solidFill>
                  <a:schemeClr val="accent5"/>
                </a:solidFill>
                <a:latin typeface="Courier New" pitchFamily="34" charset="0"/>
                <a:ea typeface="Courier New" pitchFamily="34" charset="-122"/>
                <a:cs typeface="Courier New" pitchFamily="34" charset="-120"/>
              </a:rPr>
              <a:t>clear() only → fails again</a:t>
            </a:r>
            <a:endParaRPr lang="en-US" sz="1400" dirty="0"/>
          </a:p>
          <a:p>
            <a:pPr indent="0" marL="0">
              <a:spcAft>
                <a:spcPts val="600"/>
              </a:spcAft>
              <a:buNone/>
            </a:pPr>
            <a:r>
              <a:rPr lang="en-US" sz="1400" dirty="0">
                <a:solidFill>
                  <a:schemeClr val="accent5"/>
                </a:solidFill>
                <a:latin typeface="Courier New" pitchFamily="34" charset="0"/>
                <a:ea typeface="Courier New" pitchFamily="34" charset="-122"/>
                <a:cs typeface="Courier New" pitchFamily="34" charset="-120"/>
              </a:rPr>
              <a:t>ignore() then clear() → fails again</a:t>
            </a:r>
            <a:endParaRPr lang="en-US" sz="1400" dirty="0"/>
          </a:p>
        </p:txBody>
      </p:sp>
      <p:sp>
        <p:nvSpPr>
          <p:cNvPr id="9" name="text-311"/>
          <p:cNvSpPr txBox="1"/>
          <p:nvPr/>
        </p:nvSpPr>
        <p:spPr>
          <a:xfrm>
            <a:off x="7498080" y="3429000"/>
            <a:ext cx="3931920" cy="640080"/>
          </a:xfrm>
          <a:prstGeom prst="rect">
            <a:avLst/>
          </a:prstGeom>
          <a:noFill/>
          <a:ln/>
        </p:spPr>
        <p:txBody>
          <a:bodyPr wrap="square" lIns="0" tIns="0" rIns="0" bIns="0" rtlCol="0" anchor="t"/>
          <a:lstStyle/>
          <a:p>
            <a:pPr indent="0" marL="0">
              <a:buNone/>
            </a:pPr>
            <a:r>
              <a:rPr lang="en-US" sz="1400" dirty="0">
                <a:solidFill>
                  <a:schemeClr val="bg2"/>
                </a:solidFill>
              </a:rPr>
              <a:t>A failed stream skips every input operation, ignore() included.</a:t>
            </a:r>
            <a:endParaRPr lang="en-US" sz="14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string and vector: [] trusts you completely</a:t>
            </a:r>
            <a:endParaRPr lang="en-US" sz="3000" dirty="0"/>
          </a:p>
        </p:txBody>
      </p:sp>
      <p:sp>
        <p:nvSpPr>
          <p:cNvPr id="3" name="text-312"/>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22</a:t>
            </a:r>
            <a:endParaRPr lang="en-US" sz="1200" dirty="0"/>
          </a:p>
        </p:txBody>
      </p:sp>
      <p:sp>
        <p:nvSpPr>
          <p:cNvPr id="4" name="card-313"/>
          <p:cNvSpPr/>
          <p:nvPr/>
        </p:nvSpPr>
        <p:spPr>
          <a:xfrm>
            <a:off x="548640" y="1371600"/>
            <a:ext cx="11064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5" name="text-314"/>
          <p:cNvSpPr txBox="1"/>
          <p:nvPr/>
        </p:nvSpPr>
        <p:spPr>
          <a:xfrm>
            <a:off x="822960" y="1572768"/>
            <a:ext cx="4480560" cy="365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v[10], normal build</a:t>
            </a:r>
            <a:endParaRPr lang="en-US" sz="1500" dirty="0"/>
          </a:p>
        </p:txBody>
      </p:sp>
      <p:sp>
        <p:nvSpPr>
          <p:cNvPr id="6" name="text-315"/>
          <p:cNvSpPr txBox="1"/>
          <p:nvPr/>
        </p:nvSpPr>
        <p:spPr>
          <a:xfrm>
            <a:off x="5394960" y="1572768"/>
            <a:ext cx="6035040" cy="365760"/>
          </a:xfrm>
          <a:prstGeom prst="rect">
            <a:avLst/>
          </a:prstGeom>
          <a:noFill/>
          <a:ln/>
        </p:spPr>
        <p:txBody>
          <a:bodyPr wrap="square" lIns="0" tIns="0" rIns="0" bIns="0" rtlCol="0" anchor="t"/>
          <a:lstStyle/>
          <a:p>
            <a:pPr indent="0" marL="0">
              <a:buNone/>
            </a:pPr>
            <a:r>
              <a:rPr lang="en-US" sz="1400" dirty="0">
                <a:solidFill>
                  <a:schemeClr val="accent5"/>
                </a:solidFill>
                <a:latin typeface="Courier New" pitchFamily="34" charset="0"/>
                <a:ea typeface="Courier New" pitchFamily="34" charset="-122"/>
                <a:cs typeface="Courier New" pitchFamily="34" charset="-120"/>
              </a:rPr>
              <a:t>printed 0, exit code 0</a:t>
            </a:r>
            <a:endParaRPr lang="en-US" sz="1400" dirty="0"/>
          </a:p>
        </p:txBody>
      </p:sp>
      <p:sp>
        <p:nvSpPr>
          <p:cNvPr id="7" name="card-316"/>
          <p:cNvSpPr/>
          <p:nvPr/>
        </p:nvSpPr>
        <p:spPr>
          <a:xfrm>
            <a:off x="548640" y="2240280"/>
            <a:ext cx="11064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8" name="text-317"/>
          <p:cNvSpPr txBox="1"/>
          <p:nvPr/>
        </p:nvSpPr>
        <p:spPr>
          <a:xfrm>
            <a:off x="822960" y="2441448"/>
            <a:ext cx="4480560" cy="365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v[10] with -D_GLIBCXX_ASSERTIONS</a:t>
            </a:r>
            <a:endParaRPr lang="en-US" sz="1500" dirty="0"/>
          </a:p>
        </p:txBody>
      </p:sp>
      <p:sp>
        <p:nvSpPr>
          <p:cNvPr id="9" name="text-318"/>
          <p:cNvSpPr txBox="1"/>
          <p:nvPr/>
        </p:nvSpPr>
        <p:spPr>
          <a:xfrm>
            <a:off x="5394960" y="2441448"/>
            <a:ext cx="6035040" cy="365760"/>
          </a:xfrm>
          <a:prstGeom prst="rect">
            <a:avLst/>
          </a:prstGeom>
          <a:noFill/>
          <a:ln/>
        </p:spPr>
        <p:txBody>
          <a:bodyPr wrap="square" lIns="0" tIns="0" rIns="0" bIns="0" rtlCol="0" anchor="t"/>
          <a:lstStyle/>
          <a:p>
            <a:pPr indent="0" marL="0">
              <a:buNone/>
            </a:pPr>
            <a:r>
              <a:rPr lang="en-US" sz="1400" dirty="0">
                <a:solidFill>
                  <a:schemeClr val="accent4"/>
                </a:solidFill>
                <a:latin typeface="Courier New" pitchFamily="34" charset="0"/>
                <a:ea typeface="Courier New" pitchFamily="34" charset="-122"/>
                <a:cs typeface="Courier New" pitchFamily="34" charset="-120"/>
              </a:rPr>
              <a:t>Assertion '__n &lt; this-&gt;size()' failed</a:t>
            </a:r>
            <a:endParaRPr lang="en-US" sz="1400" dirty="0"/>
          </a:p>
        </p:txBody>
      </p:sp>
      <p:sp>
        <p:nvSpPr>
          <p:cNvPr id="10" name="card-319"/>
          <p:cNvSpPr/>
          <p:nvPr/>
        </p:nvSpPr>
        <p:spPr>
          <a:xfrm>
            <a:off x="548640" y="3108960"/>
            <a:ext cx="11064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1" name="text-320"/>
          <p:cNvSpPr txBox="1"/>
          <p:nvPr/>
        </p:nvSpPr>
        <p:spPr>
          <a:xfrm>
            <a:off x="822960" y="3310128"/>
            <a:ext cx="4480560" cy="36576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v.at(10)</a:t>
            </a:r>
            <a:endParaRPr lang="en-US" sz="1500" dirty="0"/>
          </a:p>
        </p:txBody>
      </p:sp>
      <p:sp>
        <p:nvSpPr>
          <p:cNvPr id="12" name="text-321"/>
          <p:cNvSpPr txBox="1"/>
          <p:nvPr/>
        </p:nvSpPr>
        <p:spPr>
          <a:xfrm>
            <a:off x="5394960" y="3310128"/>
            <a:ext cx="6035040" cy="365760"/>
          </a:xfrm>
          <a:prstGeom prst="rect">
            <a:avLst/>
          </a:prstGeom>
          <a:noFill/>
          <a:ln/>
        </p:spPr>
        <p:txBody>
          <a:bodyPr wrap="square" lIns="0" tIns="0" rIns="0" bIns="0" rtlCol="0" anchor="t"/>
          <a:lstStyle/>
          <a:p>
            <a:pPr indent="0" marL="0">
              <a:buNone/>
            </a:pPr>
            <a:r>
              <a:rPr lang="en-US" sz="1400" dirty="0">
                <a:solidFill>
                  <a:schemeClr val="accent4"/>
                </a:solidFill>
                <a:latin typeface="Courier New" pitchFamily="34" charset="0"/>
                <a:ea typeface="Courier New" pitchFamily="34" charset="-122"/>
                <a:cs typeface="Courier New" pitchFamily="34" charset="-120"/>
              </a:rPr>
              <a:t>std::out_of_range: __n (which is 10) &gt;= size() (3)</a:t>
            </a:r>
            <a:endParaRPr lang="en-US" sz="1400" dirty="0"/>
          </a:p>
        </p:txBody>
      </p:sp>
      <p:sp>
        <p:nvSpPr>
          <p:cNvPr id="13" name="card-322"/>
          <p:cNvSpPr/>
          <p:nvPr/>
        </p:nvSpPr>
        <p:spPr>
          <a:xfrm>
            <a:off x="548640" y="4114800"/>
            <a:ext cx="3520440" cy="1280160"/>
          </a:xfrm>
          <a:prstGeom prst="roundRect">
            <a:avLst>
              <a:gd name="adj" fmla="val 85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4" name="text-323"/>
          <p:cNvSpPr txBox="1"/>
          <p:nvPr/>
        </p:nvSpPr>
        <p:spPr>
          <a:xfrm>
            <a:off x="777240" y="4297680"/>
            <a:ext cx="3108960" cy="36576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std::vector&lt;int&gt; a(4);</a:t>
            </a:r>
            <a:endParaRPr lang="en-US" sz="1400" dirty="0"/>
          </a:p>
        </p:txBody>
      </p:sp>
      <p:sp>
        <p:nvSpPr>
          <p:cNvPr id="15" name="text-324"/>
          <p:cNvSpPr txBox="1"/>
          <p:nvPr/>
        </p:nvSpPr>
        <p:spPr>
          <a:xfrm>
            <a:off x="777240" y="4754880"/>
            <a:ext cx="3108960" cy="457200"/>
          </a:xfrm>
          <a:prstGeom prst="rect">
            <a:avLst/>
          </a:prstGeom>
          <a:noFill/>
          <a:ln/>
        </p:spPr>
        <p:txBody>
          <a:bodyPr wrap="square" lIns="0" tIns="0" rIns="0" bIns="0" rtlCol="0" anchor="t"/>
          <a:lstStyle/>
          <a:p>
            <a:pPr indent="0" marL="0">
              <a:buNone/>
            </a:pPr>
            <a:r>
              <a:rPr lang="en-US" sz="1500" b="1" dirty="0">
                <a:solidFill>
                  <a:schemeClr val="accent3"/>
                </a:solidFill>
              </a:rPr>
              <a:t>4 elements: 0 0 0 0</a:t>
            </a:r>
            <a:endParaRPr lang="en-US" sz="1500" dirty="0"/>
          </a:p>
        </p:txBody>
      </p:sp>
      <p:sp>
        <p:nvSpPr>
          <p:cNvPr id="16" name="card-325"/>
          <p:cNvSpPr/>
          <p:nvPr/>
        </p:nvSpPr>
        <p:spPr>
          <a:xfrm>
            <a:off x="4297680" y="4114800"/>
            <a:ext cx="3520440" cy="1280160"/>
          </a:xfrm>
          <a:prstGeom prst="roundRect">
            <a:avLst>
              <a:gd name="adj" fmla="val 85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7" name="text-326"/>
          <p:cNvSpPr txBox="1"/>
          <p:nvPr/>
        </p:nvSpPr>
        <p:spPr>
          <a:xfrm>
            <a:off x="4526280" y="4297680"/>
            <a:ext cx="3108960" cy="36576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std::vector&lt;int&gt; b{4};</a:t>
            </a:r>
            <a:endParaRPr lang="en-US" sz="1400" dirty="0"/>
          </a:p>
        </p:txBody>
      </p:sp>
      <p:sp>
        <p:nvSpPr>
          <p:cNvPr id="18" name="text-327"/>
          <p:cNvSpPr txBox="1"/>
          <p:nvPr/>
        </p:nvSpPr>
        <p:spPr>
          <a:xfrm>
            <a:off x="4526280" y="4754880"/>
            <a:ext cx="3108960" cy="457200"/>
          </a:xfrm>
          <a:prstGeom prst="rect">
            <a:avLst/>
          </a:prstGeom>
          <a:noFill/>
          <a:ln/>
        </p:spPr>
        <p:txBody>
          <a:bodyPr wrap="square" lIns="0" tIns="0" rIns="0" bIns="0" rtlCol="0" anchor="t"/>
          <a:lstStyle/>
          <a:p>
            <a:pPr indent="0" marL="0">
              <a:buNone/>
            </a:pPr>
            <a:r>
              <a:rPr lang="en-US" sz="1500" b="1" dirty="0">
                <a:solidFill>
                  <a:schemeClr val="accent3"/>
                </a:solidFill>
              </a:rPr>
              <a:t>1 element: 4</a:t>
            </a:r>
            <a:endParaRPr lang="en-US" sz="1500" dirty="0"/>
          </a:p>
        </p:txBody>
      </p:sp>
      <p:sp>
        <p:nvSpPr>
          <p:cNvPr id="19" name="card-328"/>
          <p:cNvSpPr/>
          <p:nvPr/>
        </p:nvSpPr>
        <p:spPr>
          <a:xfrm>
            <a:off x="8046720" y="4114800"/>
            <a:ext cx="3520440" cy="1280160"/>
          </a:xfrm>
          <a:prstGeom prst="roundRect">
            <a:avLst>
              <a:gd name="adj" fmla="val 8571"/>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0" name="text-329"/>
          <p:cNvSpPr txBox="1"/>
          <p:nvPr/>
        </p:nvSpPr>
        <p:spPr>
          <a:xfrm>
            <a:off x="8275320" y="4297680"/>
            <a:ext cx="3108960" cy="36576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std::string s{3, 'x'};</a:t>
            </a:r>
            <a:endParaRPr lang="en-US" sz="1400" dirty="0"/>
          </a:p>
        </p:txBody>
      </p:sp>
      <p:sp>
        <p:nvSpPr>
          <p:cNvPr id="21" name="text-330"/>
          <p:cNvSpPr txBox="1"/>
          <p:nvPr/>
        </p:nvSpPr>
        <p:spPr>
          <a:xfrm>
            <a:off x="8275320" y="4754880"/>
            <a:ext cx="3108960" cy="457200"/>
          </a:xfrm>
          <a:prstGeom prst="rect">
            <a:avLst/>
          </a:prstGeom>
          <a:noFill/>
          <a:ln/>
        </p:spPr>
        <p:txBody>
          <a:bodyPr wrap="square" lIns="0" tIns="0" rIns="0" bIns="0" rtlCol="0" anchor="t"/>
          <a:lstStyle/>
          <a:p>
            <a:pPr indent="0" marL="0">
              <a:buNone/>
            </a:pPr>
            <a:r>
              <a:rPr lang="en-US" sz="1500" b="1" dirty="0">
                <a:solidFill>
                  <a:schemeClr val="accent3"/>
                </a:solidFill>
              </a:rPr>
              <a:t>2 chars, not "xxx"</a:t>
            </a:r>
            <a:endParaRPr lang="en-US" sz="1500" dirty="0"/>
          </a:p>
        </p:txBody>
      </p:sp>
      <p:sp>
        <p:nvSpPr>
          <p:cNvPr id="22" name="text-331"/>
          <p:cNvSpPr txBox="1"/>
          <p:nvPr/>
        </p:nvSpPr>
        <p:spPr>
          <a:xfrm>
            <a:off x="548640" y="5623560"/>
            <a:ext cx="10972800" cy="457200"/>
          </a:xfrm>
          <a:prstGeom prst="rect">
            <a:avLst/>
          </a:prstGeom>
          <a:noFill/>
          <a:ln/>
        </p:spPr>
        <p:txBody>
          <a:bodyPr wrap="square" lIns="0" tIns="0" rIns="0" bIns="0" rtlCol="0" anchor="t"/>
          <a:lstStyle/>
          <a:p>
            <a:pPr indent="0" marL="0">
              <a:buNone/>
            </a:pPr>
            <a:r>
              <a:rPr lang="en-US" sz="1500" dirty="0">
                <a:solidFill>
                  <a:schemeClr val="bg2"/>
                </a:solidFill>
              </a:rPr>
              <a:t>sizeof(std::string) is 32 whatever it holds: use size(). Valid indexes: 0 to size() - 1.</a:t>
            </a:r>
            <a:endParaRPr lang="en-US" sz="15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Diagnostics: fix the first error first</a:t>
            </a:r>
            <a:endParaRPr lang="en-US" sz="3000" dirty="0"/>
          </a:p>
        </p:txBody>
      </p:sp>
      <p:sp>
        <p:nvSpPr>
          <p:cNvPr id="3" name="text-332"/>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23</a:t>
            </a:r>
            <a:endParaRPr lang="en-US" sz="1200" dirty="0"/>
          </a:p>
        </p:txBody>
      </p:sp>
      <p:graphicFrame>
        <p:nvGraphicFramePr>
          <p:cNvPr id="26" name="table-333"/>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822960"/>
                <a:gridCol w="3383280"/>
                <a:gridCol w="1097280"/>
                <a:gridCol w="1280160"/>
              </a:tblGrid>
              <a:tr h="475488">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Build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Fix applied</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Errors</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3"/>
                          </a:solidFill>
                          <a:latin typeface="Calibri" pitchFamily="34" charset="0"/>
                          <a:ea typeface="Calibri" pitchFamily="34" charset="-122"/>
                          <a:cs typeface="Calibri" pitchFamily="34" charset="-120"/>
                        </a:rPr>
                        <a:t>Warnings</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(none)</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add the missing ;</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totl → total</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indent="0" marL="0">
                        <a:buNone/>
                      </a:pPr>
                      <a:r>
                        <a:rPr lang="en-US" sz="1400" b="1" dirty="0">
                          <a:solidFill>
                            <a:schemeClr val="accent5"/>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bg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latin typeface="Courier New" pitchFamily="34" charset="0"/>
                          <a:ea typeface="Courier New" pitchFamily="34" charset="-122"/>
                          <a:cs typeface="Courier New" pitchFamily="34" charset="-120"/>
                        </a:rPr>
                        <a:t>signed limit, remove unused</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4"/>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bl>
          </a:graphicData>
        </a:graphic>
      </p:graphicFrame>
      <p:sp>
        <p:nvSpPr>
          <p:cNvPr id="5" name="text-334"/>
          <p:cNvSpPr txBox="1"/>
          <p:nvPr/>
        </p:nvSpPr>
        <p:spPr>
          <a:xfrm>
            <a:off x="548640" y="3931920"/>
            <a:ext cx="6583680" cy="822960"/>
          </a:xfrm>
          <a:prstGeom prst="rect">
            <a:avLst/>
          </a:prstGeom>
          <a:noFill/>
          <a:ln/>
        </p:spPr>
        <p:txBody>
          <a:bodyPr wrap="square" lIns="0" tIns="0" rIns="0" bIns="0" rtlCol="0" anchor="t"/>
          <a:lstStyle/>
          <a:p>
            <a:pPr indent="0" marL="0">
              <a:buNone/>
            </a:pPr>
            <a:r>
              <a:rPr lang="en-US" sz="1500" dirty="0">
                <a:solidFill>
                  <a:schemeClr val="bg2"/>
                </a:solidFill>
              </a:rPr>
              <a:t>One missing ; caused two errors: count was never declared. One typo caused an error and a warning.</a:t>
            </a:r>
            <a:endParaRPr lang="en-US" sz="1500" dirty="0"/>
          </a:p>
        </p:txBody>
      </p:sp>
      <p:sp>
        <p:nvSpPr>
          <p:cNvPr id="6" name="card-335"/>
          <p:cNvSpPr/>
          <p:nvPr/>
        </p:nvSpPr>
        <p:spPr>
          <a:xfrm>
            <a:off x="7406640" y="1371600"/>
            <a:ext cx="4206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7" name="text-336"/>
          <p:cNvSpPr txBox="1"/>
          <p:nvPr/>
        </p:nvSpPr>
        <p:spPr>
          <a:xfrm>
            <a:off x="7635240" y="1554480"/>
            <a:ext cx="1097280" cy="365760"/>
          </a:xfrm>
          <a:prstGeom prst="rect">
            <a:avLst/>
          </a:prstGeom>
          <a:noFill/>
          <a:ln/>
        </p:spPr>
        <p:txBody>
          <a:bodyPr wrap="square" lIns="0" tIns="0" rIns="0" bIns="0" rtlCol="0" anchor="t"/>
          <a:lstStyle/>
          <a:p>
            <a:pPr indent="0" marL="0">
              <a:buNone/>
            </a:pPr>
            <a:r>
              <a:rPr lang="en-US" sz="1500" b="1" dirty="0">
                <a:solidFill>
                  <a:schemeClr val="accent5"/>
                </a:solidFill>
                <a:latin typeface="Courier New" pitchFamily="34" charset="0"/>
                <a:ea typeface="Courier New" pitchFamily="34" charset="-122"/>
                <a:cs typeface="Courier New" pitchFamily="34" charset="-120"/>
              </a:rPr>
              <a:t>error</a:t>
            </a:r>
            <a:endParaRPr lang="en-US" sz="1500" dirty="0"/>
          </a:p>
        </p:txBody>
      </p:sp>
      <p:sp>
        <p:nvSpPr>
          <p:cNvPr id="8" name="text-337"/>
          <p:cNvSpPr txBox="1"/>
          <p:nvPr/>
        </p:nvSpPr>
        <p:spPr>
          <a:xfrm>
            <a:off x="8778240" y="1554480"/>
            <a:ext cx="2743200" cy="365760"/>
          </a:xfrm>
          <a:prstGeom prst="rect">
            <a:avLst/>
          </a:prstGeom>
          <a:noFill/>
          <a:ln/>
        </p:spPr>
        <p:txBody>
          <a:bodyPr wrap="square" lIns="0" tIns="0" rIns="0" bIns="0" rtlCol="0" anchor="t"/>
          <a:lstStyle/>
          <a:p>
            <a:pPr indent="0" marL="0">
              <a:buNone/>
            </a:pPr>
            <a:r>
              <a:rPr lang="en-US" sz="1400" dirty="0">
                <a:solidFill>
                  <a:schemeClr val="bg2"/>
                </a:solidFill>
              </a:rPr>
              <a:t>not valid C++: no executable</a:t>
            </a:r>
            <a:endParaRPr lang="en-US" sz="1400" dirty="0"/>
          </a:p>
        </p:txBody>
      </p:sp>
      <p:sp>
        <p:nvSpPr>
          <p:cNvPr id="9" name="card-338"/>
          <p:cNvSpPr/>
          <p:nvPr/>
        </p:nvSpPr>
        <p:spPr>
          <a:xfrm>
            <a:off x="7406640" y="2240280"/>
            <a:ext cx="4206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0" name="text-339"/>
          <p:cNvSpPr txBox="1"/>
          <p:nvPr/>
        </p:nvSpPr>
        <p:spPr>
          <a:xfrm>
            <a:off x="7635240" y="2423160"/>
            <a:ext cx="1097280" cy="365760"/>
          </a:xfrm>
          <a:prstGeom prst="rect">
            <a:avLst/>
          </a:prstGeom>
          <a:noFill/>
          <a:ln/>
        </p:spPr>
        <p:txBody>
          <a:bodyPr wrap="square" lIns="0" tIns="0" rIns="0" bIns="0" rtlCol="0" anchor="t"/>
          <a:lstStyle/>
          <a:p>
            <a:pPr indent="0" marL="0">
              <a:buNone/>
            </a:pPr>
            <a:r>
              <a:rPr lang="en-US" sz="1500" b="1" dirty="0">
                <a:solidFill>
                  <a:schemeClr val="accent3"/>
                </a:solidFill>
                <a:latin typeface="Courier New" pitchFamily="34" charset="0"/>
                <a:ea typeface="Courier New" pitchFamily="34" charset="-122"/>
                <a:cs typeface="Courier New" pitchFamily="34" charset="-120"/>
              </a:rPr>
              <a:t>warning</a:t>
            </a:r>
            <a:endParaRPr lang="en-US" sz="1500" dirty="0"/>
          </a:p>
        </p:txBody>
      </p:sp>
      <p:sp>
        <p:nvSpPr>
          <p:cNvPr id="11" name="text-340"/>
          <p:cNvSpPr txBox="1"/>
          <p:nvPr/>
        </p:nvSpPr>
        <p:spPr>
          <a:xfrm>
            <a:off x="8778240" y="2423160"/>
            <a:ext cx="2743200" cy="365760"/>
          </a:xfrm>
          <a:prstGeom prst="rect">
            <a:avLst/>
          </a:prstGeom>
          <a:noFill/>
          <a:ln/>
        </p:spPr>
        <p:txBody>
          <a:bodyPr wrap="square" lIns="0" tIns="0" rIns="0" bIns="0" rtlCol="0" anchor="t"/>
          <a:lstStyle/>
          <a:p>
            <a:pPr indent="0" marL="0">
              <a:buNone/>
            </a:pPr>
            <a:r>
              <a:rPr lang="en-US" sz="1400" dirty="0">
                <a:solidFill>
                  <a:schemeClr val="bg2"/>
                </a:solidFill>
              </a:rPr>
              <a:t>valid, probably a bug: it ships</a:t>
            </a:r>
            <a:endParaRPr lang="en-US" sz="1400" dirty="0"/>
          </a:p>
        </p:txBody>
      </p:sp>
      <p:sp>
        <p:nvSpPr>
          <p:cNvPr id="12" name="card-341"/>
          <p:cNvSpPr/>
          <p:nvPr/>
        </p:nvSpPr>
        <p:spPr>
          <a:xfrm>
            <a:off x="7406640" y="3108960"/>
            <a:ext cx="4206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342"/>
          <p:cNvSpPr txBox="1"/>
          <p:nvPr/>
        </p:nvSpPr>
        <p:spPr>
          <a:xfrm>
            <a:off x="7635240" y="3291840"/>
            <a:ext cx="1097280" cy="36576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note</a:t>
            </a:r>
            <a:endParaRPr lang="en-US" sz="1500" dirty="0"/>
          </a:p>
        </p:txBody>
      </p:sp>
      <p:sp>
        <p:nvSpPr>
          <p:cNvPr id="14" name="text-343"/>
          <p:cNvSpPr txBox="1"/>
          <p:nvPr/>
        </p:nvSpPr>
        <p:spPr>
          <a:xfrm>
            <a:off x="8778240" y="3291840"/>
            <a:ext cx="2743200" cy="365760"/>
          </a:xfrm>
          <a:prstGeom prst="rect">
            <a:avLst/>
          </a:prstGeom>
          <a:noFill/>
          <a:ln/>
        </p:spPr>
        <p:txBody>
          <a:bodyPr wrap="square" lIns="0" tIns="0" rIns="0" bIns="0" rtlCol="0" anchor="t"/>
          <a:lstStyle/>
          <a:p>
            <a:pPr indent="0" marL="0">
              <a:buNone/>
            </a:pPr>
            <a:r>
              <a:rPr lang="en-US" sz="1400" dirty="0">
                <a:solidFill>
                  <a:schemeClr val="bg2"/>
                </a:solidFill>
              </a:rPr>
              <a:t>context, often the exact fix</a:t>
            </a:r>
            <a:endParaRPr lang="en-US" sz="1400" dirty="0"/>
          </a:p>
        </p:txBody>
      </p:sp>
      <p:sp>
        <p:nvSpPr>
          <p:cNvPr id="15" name="card-344"/>
          <p:cNvSpPr/>
          <p:nvPr/>
        </p:nvSpPr>
        <p:spPr>
          <a:xfrm>
            <a:off x="7406640" y="3977640"/>
            <a:ext cx="4206240" cy="731520"/>
          </a:xfrm>
          <a:prstGeom prst="roundRect">
            <a:avLst>
              <a:gd name="adj" fmla="val 15000"/>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6" name="text-345"/>
          <p:cNvSpPr txBox="1"/>
          <p:nvPr/>
        </p:nvSpPr>
        <p:spPr>
          <a:xfrm>
            <a:off x="7635240" y="4160520"/>
            <a:ext cx="1097280" cy="365760"/>
          </a:xfrm>
          <a:prstGeom prst="rect">
            <a:avLst/>
          </a:prstGeom>
          <a:noFill/>
          <a:ln/>
        </p:spPr>
        <p:txBody>
          <a:bodyPr wrap="square" lIns="0" tIns="0" rIns="0" bIns="0" rtlCol="0" anchor="t"/>
          <a:lstStyle/>
          <a:p>
            <a:pPr indent="0" marL="0">
              <a:buNone/>
            </a:pPr>
            <a:r>
              <a:rPr lang="en-US" sz="1500" b="1" dirty="0">
                <a:solidFill>
                  <a:schemeClr val="accent2"/>
                </a:solidFill>
                <a:latin typeface="Courier New" pitchFamily="34" charset="0"/>
                <a:ea typeface="Courier New" pitchFamily="34" charset="-122"/>
                <a:cs typeface="Courier New" pitchFamily="34" charset="-120"/>
              </a:rPr>
              <a:t>linker</a:t>
            </a:r>
            <a:endParaRPr lang="en-US" sz="1500" dirty="0"/>
          </a:p>
        </p:txBody>
      </p:sp>
      <p:sp>
        <p:nvSpPr>
          <p:cNvPr id="17" name="text-346"/>
          <p:cNvSpPr txBox="1"/>
          <p:nvPr/>
        </p:nvSpPr>
        <p:spPr>
          <a:xfrm>
            <a:off x="8778240" y="4160520"/>
            <a:ext cx="2743200" cy="365760"/>
          </a:xfrm>
          <a:prstGeom prst="rect">
            <a:avLst/>
          </a:prstGeom>
          <a:noFill/>
          <a:ln/>
        </p:spPr>
        <p:txBody>
          <a:bodyPr wrap="square" lIns="0" tIns="0" rIns="0" bIns="0" rtlCol="0" anchor="t"/>
          <a:lstStyle/>
          <a:p>
            <a:pPr indent="0" marL="0">
              <a:buNone/>
            </a:pPr>
            <a:r>
              <a:rPr lang="en-US" sz="1400" dirty="0">
                <a:solidFill>
                  <a:schemeClr val="bg2"/>
                </a:solidFill>
              </a:rPr>
              <a:t>ld returned 1: no file or line</a:t>
            </a:r>
            <a:endParaRPr lang="en-US" sz="1400" dirty="0"/>
          </a:p>
        </p:txBody>
      </p:sp>
      <p:sp>
        <p:nvSpPr>
          <p:cNvPr id="18" name="text-347"/>
          <p:cNvSpPr txBox="1"/>
          <p:nvPr/>
        </p:nvSpPr>
        <p:spPr>
          <a:xfrm>
            <a:off x="548640" y="5029200"/>
            <a:ext cx="11064240" cy="731520"/>
          </a:xfrm>
          <a:prstGeom prst="rect">
            <a:avLst/>
          </a:prstGeom>
          <a:noFill/>
          <a:ln/>
        </p:spPr>
        <p:txBody>
          <a:bodyPr wrap="square" lIns="0" tIns="0" rIns="0" bIns="0" rtlCol="0" anchor="t"/>
          <a:lstStyle/>
          <a:p>
            <a:pPr indent="0" marL="0">
              <a:buNone/>
            </a:pPr>
            <a:r>
              <a:rPr lang="en-US" sz="1600" b="1" dirty="0">
                <a:solidFill>
                  <a:schemeClr val="accent3"/>
                </a:solidFill>
              </a:rPr>
              <a:t>A missing ; is reported on the NEXT line. Suggestions guess: 'string' was right, 'tzname' was nonsense.</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Undefined behavior: no single tool catches it all</a:t>
            </a:r>
            <a:endParaRPr lang="en-US" sz="3000" dirty="0"/>
          </a:p>
        </p:txBody>
      </p:sp>
      <p:sp>
        <p:nvSpPr>
          <p:cNvPr id="3" name="text-348"/>
          <p:cNvSpPr txBox="1"/>
          <p:nvPr/>
        </p:nvSpPr>
        <p:spPr>
          <a:xfrm>
            <a:off x="9052560" y="411480"/>
            <a:ext cx="2560320" cy="365760"/>
          </a:xfrm>
          <a:prstGeom prst="rect">
            <a:avLst/>
          </a:prstGeom>
          <a:noFill/>
          <a:ln/>
        </p:spPr>
        <p:txBody>
          <a:bodyPr wrap="square" lIns="0" tIns="0" rIns="0" bIns="0" rtlCol="0" anchor="t"/>
          <a:lstStyle/>
          <a:p>
            <a:pPr algn="r" indent="0" marL="0">
              <a:buNone/>
            </a:pPr>
            <a:r>
              <a:rPr lang="en-US" sz="1200" b="1" dirty="0">
                <a:solidFill>
                  <a:schemeClr val="accent3"/>
                </a:solidFill>
              </a:rPr>
              <a:t>Topic 24</a:t>
            </a:r>
            <a:endParaRPr lang="en-US" sz="1200" dirty="0"/>
          </a:p>
        </p:txBody>
      </p:sp>
      <p:graphicFrame>
        <p:nvGraphicFramePr>
          <p:cNvPr id="27" name="table-349"/>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743200"/>
                <a:gridCol w="914400"/>
                <a:gridCol w="1005840"/>
                <a:gridCol w="1188720"/>
                <a:gridCol w="1097280"/>
              </a:tblGrid>
              <a:tr h="475488">
                <a:tc>
                  <a:txBody>
                    <a:bodyPr/>
                    <a:lstStyle/>
                    <a:p>
                      <a:pPr algn="l" indent="0" marL="0">
                        <a:buNone/>
                      </a:pPr>
                      <a:r>
                        <a:rPr lang="en-US" sz="1400" b="1" dirty="0">
                          <a:solidFill>
                            <a:schemeClr val="accent3"/>
                          </a:solidFill>
                          <a:latin typeface="Calibri" pitchFamily="34" charset="0"/>
                          <a:ea typeface="Calibri" pitchFamily="34" charset="-122"/>
                          <a:cs typeface="Calibri" pitchFamily="34" charset="-120"/>
                        </a:rPr>
                        <a:t>Red flag</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cxx</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UBSan</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float-cast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3"/>
                          </a:solidFill>
                          <a:latin typeface="Calibri" pitchFamily="34" charset="0"/>
                          <a:ea typeface="Calibri" pitchFamily="34" charset="-122"/>
                          <a:cs typeface="Calibri" pitchFamily="34" charset="-120"/>
                        </a:rPr>
                        <a:t>assertions</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algn="l" indent="0" marL="0">
                        <a:buNone/>
                      </a:pPr>
                      <a:r>
                        <a:rPr lang="en-US" sz="1400" dirty="0">
                          <a:solidFill>
                            <a:schemeClr val="bg1"/>
                          </a:solidFill>
                          <a:latin typeface="Courier New" pitchFamily="34" charset="0"/>
                          <a:ea typeface="Courier New" pitchFamily="34" charset="-122"/>
                          <a:cs typeface="Courier New" pitchFamily="34" charset="-120"/>
                        </a:rPr>
                        <a:t>int count; read it</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algn="l" indent="0" marL="0">
                        <a:buNone/>
                      </a:pPr>
                      <a:r>
                        <a:rPr lang="en-US" sz="1400" dirty="0">
                          <a:solidFill>
                            <a:schemeClr val="bg1"/>
                          </a:solidFill>
                          <a:latin typeface="Courier New" pitchFamily="34" charset="0"/>
                          <a:ea typeface="Courier New" pitchFamily="34" charset="-122"/>
                          <a:cs typeface="Courier New" pitchFamily="34" charset="-120"/>
                        </a:rPr>
                        <a:t>int big + 1</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algn="l" indent="0" marL="0">
                        <a:buNone/>
                      </a:pPr>
                      <a:r>
                        <a:rPr lang="en-US" sz="1400" dirty="0">
                          <a:solidFill>
                            <a:schemeClr val="bg1"/>
                          </a:solidFill>
                          <a:latin typeface="Courier New" pitchFamily="34" charset="0"/>
                          <a:ea typeface="Courier New" pitchFamily="34" charset="-122"/>
                          <a:cs typeface="Courier New" pitchFamily="34" charset="-120"/>
                        </a:rPr>
                        <a:t>10 / 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r h="475488">
                <a:tc>
                  <a:txBody>
                    <a:bodyPr/>
                    <a:lstStyle/>
                    <a:p>
                      <a:pPr algn="l" indent="0" marL="0">
                        <a:buNone/>
                      </a:pPr>
                      <a:r>
                        <a:rPr lang="en-US" sz="1400" dirty="0">
                          <a:solidFill>
                            <a:schemeClr val="bg1"/>
                          </a:solidFill>
                          <a:latin typeface="Courier New" pitchFamily="34" charset="0"/>
                          <a:ea typeface="Courier New" pitchFamily="34" charset="-122"/>
                          <a:cs typeface="Courier New" pitchFamily="34" charset="-120"/>
                        </a:rPr>
                        <a:t>static_cast&lt;int&gt;(1e20)</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1"/>
                    </a:solidFill>
                  </a:tcPr>
                </a:tc>
              </a:tr>
              <a:tr h="475488">
                <a:tc>
                  <a:txBody>
                    <a:bodyPr/>
                    <a:lstStyle/>
                    <a:p>
                      <a:pPr algn="l" indent="0" marL="0">
                        <a:buNone/>
                      </a:pPr>
                      <a:r>
                        <a:rPr lang="en-US" sz="1400" dirty="0">
                          <a:solidFill>
                            <a:schemeClr val="bg1"/>
                          </a:solidFill>
                          <a:latin typeface="Courier New" pitchFamily="34" charset="0"/>
                          <a:ea typeface="Courier New" pitchFamily="34" charset="-122"/>
                          <a:cs typeface="Courier New" pitchFamily="34" charset="-120"/>
                        </a:rPr>
                        <a:t>values[3] on 3 items</a:t>
                      </a:r>
                      <a:endParaRPr lang="en-US" sz="1400" dirty="0">
                        <a:latin typeface="Courier New" charset="0"/>
                        <a:ea typeface="Courier New" charset="0"/>
                        <a:cs typeface="Courier New"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dirty="0">
                          <a:solidFill>
                            <a:schemeClr val="bg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lnL w="12700" cap="flat" cmpd="sng" algn="ctr">
                      <a:solidFill>
                        <a:srgbClr val="141D33"/>
                      </a:solidFill>
                      <a:prstDash val="solid"/>
                      <a:round/>
                      <a:headEnd type="none" w="med" len="med"/>
                      <a:tailEnd type="none" w="med" len="med"/>
                    </a:lnL>
                    <a:lnR w="12700" cap="flat" cmpd="sng" algn="ctr">
                      <a:solidFill>
                        <a:srgbClr val="141D33"/>
                      </a:solidFill>
                      <a:prstDash val="solid"/>
                      <a:round/>
                      <a:headEnd type="none" w="med" len="med"/>
                      <a:tailEnd type="none" w="med" len="med"/>
                    </a:lnR>
                    <a:lnT w="12700" cap="flat" cmpd="sng" algn="ctr">
                      <a:solidFill>
                        <a:srgbClr val="141D33"/>
                      </a:solidFill>
                      <a:prstDash val="solid"/>
                      <a:round/>
                      <a:headEnd type="none" w="med" len="med"/>
                      <a:tailEnd type="none" w="med" len="med"/>
                    </a:lnT>
                    <a:lnB w="12700" cap="flat" cmpd="sng" algn="ctr">
                      <a:solidFill>
                        <a:srgbClr val="141D33"/>
                      </a:solidFill>
                      <a:prstDash val="solid"/>
                      <a:round/>
                      <a:headEnd type="none" w="med" len="med"/>
                      <a:tailEnd type="none" w="med" len="med"/>
                    </a:lnB>
                    <a:solidFill>
                      <a:schemeClr val="tx2"/>
                    </a:solidFill>
                  </a:tcPr>
                </a:tc>
              </a:tr>
            </a:tbl>
          </a:graphicData>
        </a:graphic>
      </p:graphicFrame>
      <p:sp>
        <p:nvSpPr>
          <p:cNvPr id="5" name="card-350"/>
          <p:cNvSpPr/>
          <p:nvPr/>
        </p:nvSpPr>
        <p:spPr>
          <a:xfrm>
            <a:off x="7772400" y="1371600"/>
            <a:ext cx="3840480" cy="2834640"/>
          </a:xfrm>
          <a:prstGeom prst="roundRect">
            <a:avLst>
              <a:gd name="adj" fmla="val 3871"/>
            </a:avLst>
          </a:prstGeom>
          <a:solidFill>
            <a:schemeClr val="tx2"/>
          </a:solidFill>
          <a:ln w="12700">
            <a:solidFill>
              <a:schemeClr val="accent5"/>
            </a:solidFill>
            <a:prstDash val="solid"/>
          </a:ln>
          <a:effectLst>
            <a:outerShdw sx="100000" sy="100000" kx="0" ky="0" algn="bl" rotWithShape="0" blurRad="76200" dist="25400" dir="5400000">
              <a:srgbClr val="000000">
                <a:alpha val="35000"/>
              </a:srgbClr>
            </a:outerShdw>
          </a:effectLst>
        </p:spPr>
      </p:sp>
      <p:sp>
        <p:nvSpPr>
          <p:cNvPr id="6" name="text-351"/>
          <p:cNvSpPr txBox="1"/>
          <p:nvPr/>
        </p:nvSpPr>
        <p:spPr>
          <a:xfrm>
            <a:off x="8046720" y="1554480"/>
            <a:ext cx="3383280" cy="411480"/>
          </a:xfrm>
          <a:prstGeom prst="rect">
            <a:avLst/>
          </a:prstGeom>
          <a:noFill/>
          <a:ln/>
        </p:spPr>
        <p:txBody>
          <a:bodyPr wrap="square" lIns="0" tIns="0" rIns="0" bIns="0" rtlCol="0" anchor="t"/>
          <a:lstStyle/>
          <a:p>
            <a:pPr indent="0" marL="0">
              <a:buNone/>
            </a:pPr>
            <a:r>
              <a:rPr lang="en-US" sz="1700" b="1" dirty="0">
                <a:solidFill>
                  <a:schemeClr val="accent5"/>
                </a:solidFill>
              </a:rPr>
              <a:t>Same question, two answers</a:t>
            </a:r>
            <a:endParaRPr lang="en-US" sz="1700" dirty="0"/>
          </a:p>
        </p:txBody>
      </p:sp>
      <p:sp>
        <p:nvSpPr>
          <p:cNvPr id="7" name="text-352"/>
          <p:cNvSpPr txBox="1"/>
          <p:nvPr/>
        </p:nvSpPr>
        <p:spPr>
          <a:xfrm>
            <a:off x="8046720" y="2103120"/>
            <a:ext cx="3383280" cy="731520"/>
          </a:xfrm>
          <a:prstGeom prst="rect">
            <a:avLst/>
          </a:prstGeom>
          <a:noFill/>
          <a:ln/>
        </p:spPr>
        <p:txBody>
          <a:bodyPr wrap="square" lIns="0" tIns="0" rIns="0" bIns="0" rtlCol="0" anchor="t"/>
          <a:lstStyle/>
          <a:p>
            <a:pPr indent="0" marL="0">
              <a:buNone/>
            </a:pPr>
            <a:r>
              <a:rPr lang="en-US" sz="1500" dirty="0">
                <a:solidFill>
                  <a:schemeClr val="bg1"/>
                </a:solidFill>
                <a:latin typeface="Courier New" pitchFamily="34" charset="0"/>
                <a:ea typeface="Courier New" pitchFamily="34" charset="-122"/>
                <a:cs typeface="Courier New" pitchFamily="34" charset="-120"/>
              </a:rPr>
              <a:t>x + 1 &gt; x    → true</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next &gt; x     → false</a:t>
            </a:r>
            <a:endParaRPr lang="en-US" sz="1500" dirty="0"/>
          </a:p>
        </p:txBody>
      </p:sp>
      <p:sp>
        <p:nvSpPr>
          <p:cNvPr id="8" name="text-353"/>
          <p:cNvSpPr txBox="1"/>
          <p:nvPr/>
        </p:nvSpPr>
        <p:spPr>
          <a:xfrm>
            <a:off x="8046720" y="2971800"/>
            <a:ext cx="3383280" cy="1097280"/>
          </a:xfrm>
          <a:prstGeom prst="rect">
            <a:avLst/>
          </a:prstGeom>
          <a:noFill/>
          <a:ln/>
        </p:spPr>
        <p:txBody>
          <a:bodyPr wrap="square" lIns="0" tIns="0" rIns="0" bIns="0" rtlCol="0" anchor="t"/>
          <a:lstStyle/>
          <a:p>
            <a:pPr indent="0" marL="0">
              <a:buNone/>
            </a:pPr>
            <a:r>
              <a:rPr lang="en-US" sz="1400" dirty="0">
                <a:solidFill>
                  <a:schemeClr val="bg2"/>
                </a:solidFill>
              </a:rPr>
              <a:t>The compiler folded the first to true, so UBSan had no addition left to check.</a:t>
            </a:r>
            <a:endParaRPr lang="en-US" sz="1400" dirty="0"/>
          </a:p>
        </p:txBody>
      </p:sp>
      <p:sp>
        <p:nvSpPr>
          <p:cNvPr id="9" name="text-354"/>
          <p:cNvSpPr txBox="1"/>
          <p:nvPr/>
        </p:nvSpPr>
        <p:spPr>
          <a:xfrm>
            <a:off x="548640" y="4480560"/>
            <a:ext cx="11064240" cy="731520"/>
          </a:xfrm>
          <a:prstGeom prst="rect">
            <a:avLst/>
          </a:prstGeom>
          <a:noFill/>
          <a:ln/>
        </p:spPr>
        <p:txBody>
          <a:bodyPr wrap="square" lIns="0" tIns="0" rIns="0" bIns="0" rtlCol="0" anchor="t"/>
          <a:lstStyle/>
          <a:p>
            <a:pPr indent="0" marL="0">
              <a:buNone/>
            </a:pPr>
            <a:r>
              <a:rPr lang="en-US" sz="1600" b="1" dirty="0">
                <a:solidFill>
                  <a:schemeClr val="accent3"/>
                </a:solidFill>
              </a:rPr>
              <a:t>Fix the case, don't delete it: range-check before converting, guard before dividing, long long for big values.</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Ten rules from Stage 01</a:t>
            </a:r>
            <a:endParaRPr lang="en-US" sz="3000" dirty="0"/>
          </a:p>
        </p:txBody>
      </p:sp>
      <p:sp>
        <p:nvSpPr>
          <p:cNvPr id="3" name="card-355"/>
          <p:cNvSpPr/>
          <p:nvPr/>
        </p:nvSpPr>
        <p:spPr>
          <a:xfrm>
            <a:off x="548640" y="1371600"/>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4" name="badge-356"/>
          <p:cNvSpPr/>
          <p:nvPr/>
        </p:nvSpPr>
        <p:spPr>
          <a:xfrm>
            <a:off x="731520" y="1527048"/>
            <a:ext cx="457200" cy="457200"/>
          </a:xfrm>
          <a:prstGeom prst="ellipse">
            <a:avLst/>
          </a:prstGeom>
          <a:solidFill>
            <a:schemeClr val="accent1"/>
          </a:solidFill>
          <a:ln w="12700">
            <a:solidFill>
              <a:schemeClr val="accent1"/>
            </a:solidFill>
            <a:prstDash val="solid"/>
          </a:ln>
        </p:spPr>
      </p:sp>
      <p:sp>
        <p:nvSpPr>
          <p:cNvPr id="5" name="text-357"/>
          <p:cNvSpPr txBox="1"/>
          <p:nvPr/>
        </p:nvSpPr>
        <p:spPr>
          <a:xfrm>
            <a:off x="731520" y="152704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358"/>
          <p:cNvSpPr txBox="1"/>
          <p:nvPr/>
        </p:nvSpPr>
        <p:spPr>
          <a:xfrm>
            <a:off x="1371600" y="1481328"/>
            <a:ext cx="4480560" cy="548640"/>
          </a:xfrm>
          <a:prstGeom prst="rect">
            <a:avLst/>
          </a:prstGeom>
          <a:noFill/>
          <a:ln/>
        </p:spPr>
        <p:txBody>
          <a:bodyPr wrap="square" lIns="0" tIns="0" rIns="0" bIns="0" rtlCol="0" anchor="ctr"/>
          <a:lstStyle/>
          <a:p>
            <a:pPr indent="0" marL="0">
              <a:buNone/>
            </a:pPr>
            <a:r>
              <a:rPr lang="en-US" sz="1600" dirty="0">
                <a:solidFill>
                  <a:schemeClr val="bg1"/>
                </a:solidFill>
              </a:rPr>
              <a:t>Initialize every variable, with braces</a:t>
            </a:r>
            <a:endParaRPr lang="en-US" sz="1600" dirty="0"/>
          </a:p>
        </p:txBody>
      </p:sp>
      <p:sp>
        <p:nvSpPr>
          <p:cNvPr id="7" name="card-359"/>
          <p:cNvSpPr/>
          <p:nvPr/>
        </p:nvSpPr>
        <p:spPr>
          <a:xfrm>
            <a:off x="6172200" y="1371600"/>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8" name="badge-360"/>
          <p:cNvSpPr/>
          <p:nvPr/>
        </p:nvSpPr>
        <p:spPr>
          <a:xfrm>
            <a:off x="6355080" y="1527048"/>
            <a:ext cx="457200" cy="457200"/>
          </a:xfrm>
          <a:prstGeom prst="ellipse">
            <a:avLst/>
          </a:prstGeom>
          <a:solidFill>
            <a:schemeClr val="accent2"/>
          </a:solidFill>
          <a:ln w="12700">
            <a:solidFill>
              <a:schemeClr val="accent2"/>
            </a:solidFill>
            <a:prstDash val="solid"/>
          </a:ln>
        </p:spPr>
      </p:sp>
      <p:sp>
        <p:nvSpPr>
          <p:cNvPr id="9" name="text-361"/>
          <p:cNvSpPr txBox="1"/>
          <p:nvPr/>
        </p:nvSpPr>
        <p:spPr>
          <a:xfrm>
            <a:off x="6355080" y="152704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0" name="text-362"/>
          <p:cNvSpPr txBox="1"/>
          <p:nvPr/>
        </p:nvSpPr>
        <p:spPr>
          <a:xfrm>
            <a:off x="6995160" y="1481328"/>
            <a:ext cx="4480560" cy="548640"/>
          </a:xfrm>
          <a:prstGeom prst="rect">
            <a:avLst/>
          </a:prstGeom>
          <a:noFill/>
          <a:ln/>
        </p:spPr>
        <p:txBody>
          <a:bodyPr wrap="square" lIns="0" tIns="0" rIns="0" bIns="0" rtlCol="0" anchor="ctr"/>
          <a:lstStyle/>
          <a:p>
            <a:pPr indent="0" marL="0">
              <a:buNone/>
            </a:pPr>
            <a:r>
              <a:rPr lang="en-US" sz="1600" dirty="0">
                <a:solidFill>
                  <a:schemeClr val="bg1"/>
                </a:solidFill>
              </a:rPr>
              <a:t>Include the header for everything you use</a:t>
            </a:r>
            <a:endParaRPr lang="en-US" sz="1600" dirty="0"/>
          </a:p>
        </p:txBody>
      </p:sp>
      <p:sp>
        <p:nvSpPr>
          <p:cNvPr id="11" name="card-363"/>
          <p:cNvSpPr/>
          <p:nvPr/>
        </p:nvSpPr>
        <p:spPr>
          <a:xfrm>
            <a:off x="548640" y="2304288"/>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2" name="badge-364"/>
          <p:cNvSpPr/>
          <p:nvPr/>
        </p:nvSpPr>
        <p:spPr>
          <a:xfrm>
            <a:off x="731520" y="2459736"/>
            <a:ext cx="457200" cy="457200"/>
          </a:xfrm>
          <a:prstGeom prst="ellipse">
            <a:avLst/>
          </a:prstGeom>
          <a:solidFill>
            <a:schemeClr val="accent3"/>
          </a:solidFill>
          <a:ln w="12700">
            <a:solidFill>
              <a:schemeClr val="accent3"/>
            </a:solidFill>
            <a:prstDash val="solid"/>
          </a:ln>
        </p:spPr>
      </p:sp>
      <p:sp>
        <p:nvSpPr>
          <p:cNvPr id="13" name="text-365"/>
          <p:cNvSpPr txBox="1"/>
          <p:nvPr/>
        </p:nvSpPr>
        <p:spPr>
          <a:xfrm>
            <a:off x="731520" y="2459736"/>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text-366"/>
          <p:cNvSpPr txBox="1"/>
          <p:nvPr/>
        </p:nvSpPr>
        <p:spPr>
          <a:xfrm>
            <a:off x="1371600" y="2414016"/>
            <a:ext cx="4480560" cy="548640"/>
          </a:xfrm>
          <a:prstGeom prst="rect">
            <a:avLst/>
          </a:prstGeom>
          <a:noFill/>
          <a:ln/>
        </p:spPr>
        <p:txBody>
          <a:bodyPr wrap="square" lIns="0" tIns="0" rIns="0" bIns="0" rtlCol="0" anchor="ctr"/>
          <a:lstStyle/>
          <a:p>
            <a:pPr indent="0" marL="0">
              <a:buNone/>
            </a:pPr>
            <a:r>
              <a:rPr lang="en-US" sz="1600" dirty="0">
                <a:solidFill>
                  <a:schemeClr val="bg1"/>
                </a:solidFill>
              </a:rPr>
              <a:t>The operands' types decide the calculation</a:t>
            </a:r>
            <a:endParaRPr lang="en-US" sz="1600" dirty="0"/>
          </a:p>
        </p:txBody>
      </p:sp>
      <p:sp>
        <p:nvSpPr>
          <p:cNvPr id="15" name="card-367"/>
          <p:cNvSpPr/>
          <p:nvPr/>
        </p:nvSpPr>
        <p:spPr>
          <a:xfrm>
            <a:off x="6172200" y="2304288"/>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6" name="badge-368"/>
          <p:cNvSpPr/>
          <p:nvPr/>
        </p:nvSpPr>
        <p:spPr>
          <a:xfrm>
            <a:off x="6355080" y="2459736"/>
            <a:ext cx="457200" cy="457200"/>
          </a:xfrm>
          <a:prstGeom prst="ellipse">
            <a:avLst/>
          </a:prstGeom>
          <a:solidFill>
            <a:schemeClr val="accent6"/>
          </a:solidFill>
          <a:ln w="12700">
            <a:solidFill>
              <a:schemeClr val="accent6"/>
            </a:solidFill>
            <a:prstDash val="solid"/>
          </a:ln>
        </p:spPr>
      </p:sp>
      <p:sp>
        <p:nvSpPr>
          <p:cNvPr id="17" name="text-369"/>
          <p:cNvSpPr txBox="1"/>
          <p:nvPr/>
        </p:nvSpPr>
        <p:spPr>
          <a:xfrm>
            <a:off x="6355080" y="2459736"/>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8" name="text-370"/>
          <p:cNvSpPr txBox="1"/>
          <p:nvPr/>
        </p:nvSpPr>
        <p:spPr>
          <a:xfrm>
            <a:off x="6995160" y="2414016"/>
            <a:ext cx="4480560" cy="548640"/>
          </a:xfrm>
          <a:prstGeom prst="rect">
            <a:avLst/>
          </a:prstGeom>
          <a:noFill/>
          <a:ln/>
        </p:spPr>
        <p:txBody>
          <a:bodyPr wrap="square" lIns="0" tIns="0" rIns="0" bIns="0" rtlCol="0" anchor="ctr"/>
          <a:lstStyle/>
          <a:p>
            <a:pPr indent="0" marL="0">
              <a:buNone/>
            </a:pPr>
            <a:r>
              <a:rPr lang="en-US" sz="1600" dirty="0">
                <a:solidFill>
                  <a:schemeClr val="bg1"/>
                </a:solidFill>
              </a:rPr>
              <a:t>Make values const unless they must change</a:t>
            </a:r>
            <a:endParaRPr lang="en-US" sz="1600" dirty="0"/>
          </a:p>
        </p:txBody>
      </p:sp>
      <p:sp>
        <p:nvSpPr>
          <p:cNvPr id="19" name="card-371"/>
          <p:cNvSpPr/>
          <p:nvPr/>
        </p:nvSpPr>
        <p:spPr>
          <a:xfrm>
            <a:off x="548640" y="3236976"/>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0" name="badge-372"/>
          <p:cNvSpPr/>
          <p:nvPr/>
        </p:nvSpPr>
        <p:spPr>
          <a:xfrm>
            <a:off x="731520" y="3392424"/>
            <a:ext cx="457200" cy="457200"/>
          </a:xfrm>
          <a:prstGeom prst="ellipse">
            <a:avLst/>
          </a:prstGeom>
          <a:solidFill>
            <a:schemeClr val="accent4"/>
          </a:solidFill>
          <a:ln w="12700">
            <a:solidFill>
              <a:schemeClr val="accent4"/>
            </a:solidFill>
            <a:prstDash val="solid"/>
          </a:ln>
        </p:spPr>
      </p:sp>
      <p:sp>
        <p:nvSpPr>
          <p:cNvPr id="21" name="text-373"/>
          <p:cNvSpPr txBox="1"/>
          <p:nvPr/>
        </p:nvSpPr>
        <p:spPr>
          <a:xfrm>
            <a:off x="731520" y="3392424"/>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2" name="text-374"/>
          <p:cNvSpPr txBox="1"/>
          <p:nvPr/>
        </p:nvSpPr>
        <p:spPr>
          <a:xfrm>
            <a:off x="1371600" y="3346704"/>
            <a:ext cx="4480560" cy="548640"/>
          </a:xfrm>
          <a:prstGeom prst="rect">
            <a:avLst/>
          </a:prstGeom>
          <a:noFill/>
          <a:ln/>
        </p:spPr>
        <p:txBody>
          <a:bodyPr wrap="square" lIns="0" tIns="0" rIns="0" bIns="0" rtlCol="0" anchor="ctr"/>
          <a:lstStyle/>
          <a:p>
            <a:pPr indent="0" marL="0">
              <a:buNone/>
            </a:pPr>
            <a:r>
              <a:rPr lang="en-US" sz="1600" dirty="0">
                <a:solidFill>
                  <a:schemeClr val="bg1"/>
                </a:solidFill>
              </a:rPr>
              <a:t>Cast operands, not results</a:t>
            </a:r>
            <a:endParaRPr lang="en-US" sz="1600" dirty="0"/>
          </a:p>
        </p:txBody>
      </p:sp>
      <p:sp>
        <p:nvSpPr>
          <p:cNvPr id="23" name="card-375"/>
          <p:cNvSpPr/>
          <p:nvPr/>
        </p:nvSpPr>
        <p:spPr>
          <a:xfrm>
            <a:off x="6172200" y="3236976"/>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4" name="badge-376"/>
          <p:cNvSpPr/>
          <p:nvPr/>
        </p:nvSpPr>
        <p:spPr>
          <a:xfrm>
            <a:off x="6355080" y="3392424"/>
            <a:ext cx="457200" cy="457200"/>
          </a:xfrm>
          <a:prstGeom prst="ellipse">
            <a:avLst/>
          </a:prstGeom>
          <a:solidFill>
            <a:schemeClr val="accent1"/>
          </a:solidFill>
          <a:ln w="12700">
            <a:solidFill>
              <a:schemeClr val="accent1"/>
            </a:solidFill>
            <a:prstDash val="solid"/>
          </a:ln>
        </p:spPr>
      </p:sp>
      <p:sp>
        <p:nvSpPr>
          <p:cNvPr id="25" name="text-377"/>
          <p:cNvSpPr txBox="1"/>
          <p:nvPr/>
        </p:nvSpPr>
        <p:spPr>
          <a:xfrm>
            <a:off x="6355080" y="3392424"/>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26" name="text-378"/>
          <p:cNvSpPr txBox="1"/>
          <p:nvPr/>
        </p:nvSpPr>
        <p:spPr>
          <a:xfrm>
            <a:off x="6995160" y="3346704"/>
            <a:ext cx="4480560" cy="548640"/>
          </a:xfrm>
          <a:prstGeom prst="rect">
            <a:avLst/>
          </a:prstGeom>
          <a:noFill/>
          <a:ln/>
        </p:spPr>
        <p:txBody>
          <a:bodyPr wrap="square" lIns="0" tIns="0" rIns="0" bIns="0" rtlCol="0" anchor="ctr"/>
          <a:lstStyle/>
          <a:p>
            <a:pPr indent="0" marL="0">
              <a:buNone/>
            </a:pPr>
            <a:r>
              <a:rPr lang="en-US" sz="1600" dirty="0">
                <a:solidFill>
                  <a:schemeClr val="bg1"/>
                </a:solidFill>
              </a:rPr>
              <a:t>Never mix signed and unsigned comparisons</a:t>
            </a:r>
            <a:endParaRPr lang="en-US" sz="1600" dirty="0"/>
          </a:p>
        </p:txBody>
      </p:sp>
      <p:sp>
        <p:nvSpPr>
          <p:cNvPr id="27" name="card-379"/>
          <p:cNvSpPr/>
          <p:nvPr/>
        </p:nvSpPr>
        <p:spPr>
          <a:xfrm>
            <a:off x="548640" y="4169664"/>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28" name="badge-380"/>
          <p:cNvSpPr/>
          <p:nvPr/>
        </p:nvSpPr>
        <p:spPr>
          <a:xfrm>
            <a:off x="731520" y="4325112"/>
            <a:ext cx="457200" cy="457200"/>
          </a:xfrm>
          <a:prstGeom prst="ellipse">
            <a:avLst/>
          </a:prstGeom>
          <a:solidFill>
            <a:schemeClr val="accent2"/>
          </a:solidFill>
          <a:ln w="12700">
            <a:solidFill>
              <a:schemeClr val="accent2"/>
            </a:solidFill>
            <a:prstDash val="solid"/>
          </a:ln>
        </p:spPr>
      </p:sp>
      <p:sp>
        <p:nvSpPr>
          <p:cNvPr id="29" name="text-381"/>
          <p:cNvSpPr txBox="1"/>
          <p:nvPr/>
        </p:nvSpPr>
        <p:spPr>
          <a:xfrm>
            <a:off x="731520" y="4325112"/>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7</a:t>
            </a:r>
            <a:endParaRPr lang="en-US" sz="1400" dirty="0"/>
          </a:p>
        </p:txBody>
      </p:sp>
      <p:sp>
        <p:nvSpPr>
          <p:cNvPr id="30" name="text-382"/>
          <p:cNvSpPr txBox="1"/>
          <p:nvPr/>
        </p:nvSpPr>
        <p:spPr>
          <a:xfrm>
            <a:off x="1371600" y="4279392"/>
            <a:ext cx="4480560" cy="548640"/>
          </a:xfrm>
          <a:prstGeom prst="rect">
            <a:avLst/>
          </a:prstGeom>
          <a:noFill/>
          <a:ln/>
        </p:spPr>
        <p:txBody>
          <a:bodyPr wrap="square" lIns="0" tIns="0" rIns="0" bIns="0" rtlCol="0" anchor="ctr"/>
          <a:lstStyle/>
          <a:p>
            <a:pPr indent="0" marL="0">
              <a:buNone/>
            </a:pPr>
            <a:r>
              <a:rPr lang="en-US" sz="1600" dirty="0">
                <a:solidFill>
                  <a:schemeClr val="bg1"/>
                </a:solidFill>
              </a:rPr>
              <a:t>Check the stream, not the value</a:t>
            </a:r>
            <a:endParaRPr lang="en-US" sz="1600" dirty="0"/>
          </a:p>
        </p:txBody>
      </p:sp>
      <p:sp>
        <p:nvSpPr>
          <p:cNvPr id="31" name="card-383"/>
          <p:cNvSpPr/>
          <p:nvPr/>
        </p:nvSpPr>
        <p:spPr>
          <a:xfrm>
            <a:off x="6172200" y="4169664"/>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32" name="badge-384"/>
          <p:cNvSpPr/>
          <p:nvPr/>
        </p:nvSpPr>
        <p:spPr>
          <a:xfrm>
            <a:off x="6355080" y="4325112"/>
            <a:ext cx="457200" cy="457200"/>
          </a:xfrm>
          <a:prstGeom prst="ellipse">
            <a:avLst/>
          </a:prstGeom>
          <a:solidFill>
            <a:schemeClr val="accent3"/>
          </a:solidFill>
          <a:ln w="12700">
            <a:solidFill>
              <a:schemeClr val="accent3"/>
            </a:solidFill>
            <a:prstDash val="solid"/>
          </a:ln>
        </p:spPr>
      </p:sp>
      <p:sp>
        <p:nvSpPr>
          <p:cNvPr id="33" name="text-385"/>
          <p:cNvSpPr txBox="1"/>
          <p:nvPr/>
        </p:nvSpPr>
        <p:spPr>
          <a:xfrm>
            <a:off x="6355080" y="4325112"/>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8</a:t>
            </a:r>
            <a:endParaRPr lang="en-US" sz="1400" dirty="0"/>
          </a:p>
        </p:txBody>
      </p:sp>
      <p:sp>
        <p:nvSpPr>
          <p:cNvPr id="34" name="text-386"/>
          <p:cNvSpPr txBox="1"/>
          <p:nvPr/>
        </p:nvSpPr>
        <p:spPr>
          <a:xfrm>
            <a:off x="6995160" y="4279392"/>
            <a:ext cx="4480560" cy="548640"/>
          </a:xfrm>
          <a:prstGeom prst="rect">
            <a:avLst/>
          </a:prstGeom>
          <a:noFill/>
          <a:ln/>
        </p:spPr>
        <p:txBody>
          <a:bodyPr wrap="square" lIns="0" tIns="0" rIns="0" bIns="0" rtlCol="0" anchor="ctr"/>
          <a:lstStyle/>
          <a:p>
            <a:pPr indent="0" marL="0">
              <a:buNone/>
            </a:pPr>
            <a:r>
              <a:rPr lang="en-US" sz="1600" dirty="0">
                <a:solidFill>
                  <a:schemeClr val="bg1"/>
                </a:solidFill>
              </a:rPr>
              <a:t>Index from 0 to size() - 1; use .at() for outside input</a:t>
            </a:r>
            <a:endParaRPr lang="en-US" sz="1600" dirty="0"/>
          </a:p>
        </p:txBody>
      </p:sp>
      <p:sp>
        <p:nvSpPr>
          <p:cNvPr id="35" name="card-387"/>
          <p:cNvSpPr/>
          <p:nvPr/>
        </p:nvSpPr>
        <p:spPr>
          <a:xfrm>
            <a:off x="548640" y="5102352"/>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36" name="badge-388"/>
          <p:cNvSpPr/>
          <p:nvPr/>
        </p:nvSpPr>
        <p:spPr>
          <a:xfrm>
            <a:off x="731520" y="5257800"/>
            <a:ext cx="457200" cy="457200"/>
          </a:xfrm>
          <a:prstGeom prst="ellipse">
            <a:avLst/>
          </a:prstGeom>
          <a:solidFill>
            <a:schemeClr val="accent6"/>
          </a:solidFill>
          <a:ln w="12700">
            <a:solidFill>
              <a:schemeClr val="accent6"/>
            </a:solidFill>
            <a:prstDash val="solid"/>
          </a:ln>
        </p:spPr>
      </p:sp>
      <p:sp>
        <p:nvSpPr>
          <p:cNvPr id="37" name="text-389"/>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38" name="text-390"/>
          <p:cNvSpPr txBox="1"/>
          <p:nvPr/>
        </p:nvSpPr>
        <p:spPr>
          <a:xfrm>
            <a:off x="1371600" y="5212080"/>
            <a:ext cx="4480560" cy="548640"/>
          </a:xfrm>
          <a:prstGeom prst="rect">
            <a:avLst/>
          </a:prstGeom>
          <a:noFill/>
          <a:ln/>
        </p:spPr>
        <p:txBody>
          <a:bodyPr wrap="square" lIns="0" tIns="0" rIns="0" bIns="0" rtlCol="0" anchor="ctr"/>
          <a:lstStyle/>
          <a:p>
            <a:pPr indent="0" marL="0">
              <a:buNone/>
            </a:pPr>
            <a:r>
              <a:rPr lang="en-US" sz="1600" dirty="0">
                <a:solidFill>
                  <a:schemeClr val="bg1"/>
                </a:solidFill>
              </a:rPr>
              <a:t>Fix the first error first; keep zero warnings</a:t>
            </a:r>
            <a:endParaRPr lang="en-US" sz="1600" dirty="0"/>
          </a:p>
        </p:txBody>
      </p:sp>
      <p:sp>
        <p:nvSpPr>
          <p:cNvPr id="39" name="card-391"/>
          <p:cNvSpPr/>
          <p:nvPr/>
        </p:nvSpPr>
        <p:spPr>
          <a:xfrm>
            <a:off x="6172200" y="5102352"/>
            <a:ext cx="5440680" cy="777240"/>
          </a:xfrm>
          <a:prstGeom prst="roundRect">
            <a:avLst>
              <a:gd name="adj" fmla="val 14118"/>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40" name="badge-392"/>
          <p:cNvSpPr/>
          <p:nvPr/>
        </p:nvSpPr>
        <p:spPr>
          <a:xfrm>
            <a:off x="6355080" y="5257800"/>
            <a:ext cx="457200" cy="457200"/>
          </a:xfrm>
          <a:prstGeom prst="ellipse">
            <a:avLst/>
          </a:prstGeom>
          <a:solidFill>
            <a:schemeClr val="accent4"/>
          </a:solidFill>
          <a:ln w="12700">
            <a:solidFill>
              <a:schemeClr val="accent4"/>
            </a:solidFill>
            <a:prstDash val="solid"/>
          </a:ln>
        </p:spPr>
      </p:sp>
      <p:sp>
        <p:nvSpPr>
          <p:cNvPr id="41" name="text-393"/>
          <p:cNvSpPr txBox="1"/>
          <p:nvPr/>
        </p:nvSpPr>
        <p:spPr>
          <a:xfrm>
            <a:off x="6355080" y="52578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42" name="text-394"/>
          <p:cNvSpPr txBox="1"/>
          <p:nvPr/>
        </p:nvSpPr>
        <p:spPr>
          <a:xfrm>
            <a:off x="6995160" y="5212080"/>
            <a:ext cx="4480560" cy="548640"/>
          </a:xfrm>
          <a:prstGeom prst="rect">
            <a:avLst/>
          </a:prstGeom>
          <a:noFill/>
          <a:ln/>
        </p:spPr>
        <p:txBody>
          <a:bodyPr wrap="square" lIns="0" tIns="0" rIns="0" bIns="0" rtlCol="0" anchor="ctr"/>
          <a:lstStyle/>
          <a:p>
            <a:pPr indent="0" marL="0">
              <a:buNone/>
            </a:pPr>
            <a:r>
              <a:rPr lang="en-US" sz="1600" dirty="0">
                <a:solidFill>
                  <a:schemeClr val="bg1"/>
                </a:solidFill>
              </a:rPr>
              <a:t>Test with cxxt: sanitizers plus assertions</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Self-check: answer out loud</a:t>
            </a:r>
            <a:endParaRPr lang="en-US" sz="3000" dirty="0"/>
          </a:p>
        </p:txBody>
      </p:sp>
      <p:sp>
        <p:nvSpPr>
          <p:cNvPr id="3" name="card-395"/>
          <p:cNvSpPr/>
          <p:nvPr/>
        </p:nvSpPr>
        <p:spPr>
          <a:xfrm>
            <a:off x="548640" y="137160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4" name="text-396"/>
          <p:cNvSpPr txBox="1"/>
          <p:nvPr/>
        </p:nvSpPr>
        <p:spPr>
          <a:xfrm>
            <a:off x="822960" y="1554480"/>
            <a:ext cx="731520" cy="457200"/>
          </a:xfrm>
          <a:prstGeom prst="rect">
            <a:avLst/>
          </a:prstGeom>
          <a:noFill/>
          <a:ln/>
        </p:spPr>
        <p:txBody>
          <a:bodyPr wrap="square" lIns="0" tIns="0" rIns="0" bIns="0" rtlCol="0" anchor="t"/>
          <a:lstStyle/>
          <a:p>
            <a:pPr indent="0" marL="0">
              <a:buNone/>
            </a:pPr>
            <a:r>
              <a:rPr lang="en-US" sz="2000" b="1" dirty="0">
                <a:solidFill>
                  <a:schemeClr val="accent3"/>
                </a:solidFill>
              </a:rPr>
              <a:t>Q1</a:t>
            </a:r>
            <a:endParaRPr lang="en-US" sz="2000" dirty="0"/>
          </a:p>
        </p:txBody>
      </p:sp>
      <p:sp>
        <p:nvSpPr>
          <p:cNvPr id="5" name="text-397"/>
          <p:cNvSpPr txBox="1"/>
          <p:nvPr/>
        </p:nvSpPr>
        <p:spPr>
          <a:xfrm>
            <a:off x="1554480" y="1572768"/>
            <a:ext cx="4206240" cy="914400"/>
          </a:xfrm>
          <a:prstGeom prst="rect">
            <a:avLst/>
          </a:prstGeom>
          <a:noFill/>
          <a:ln/>
        </p:spPr>
        <p:txBody>
          <a:bodyPr wrap="square" lIns="0" tIns="0" rIns="0" bIns="0" rtlCol="0" anchor="t"/>
          <a:lstStyle/>
          <a:p>
            <a:pPr indent="0" marL="0">
              <a:buNone/>
            </a:pPr>
            <a:r>
              <a:rPr lang="en-US" sz="1600" dirty="0">
                <a:solidFill>
                  <a:schemeClr val="bg1"/>
                </a:solidFill>
              </a:rPr>
              <a:t>Why is a missing ; reported on the next line?</a:t>
            </a:r>
            <a:endParaRPr lang="en-US" sz="1600" dirty="0"/>
          </a:p>
        </p:txBody>
      </p:sp>
      <p:sp>
        <p:nvSpPr>
          <p:cNvPr id="6" name="card-398"/>
          <p:cNvSpPr/>
          <p:nvPr/>
        </p:nvSpPr>
        <p:spPr>
          <a:xfrm>
            <a:off x="6172200" y="137160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7" name="text-399"/>
          <p:cNvSpPr txBox="1"/>
          <p:nvPr/>
        </p:nvSpPr>
        <p:spPr>
          <a:xfrm>
            <a:off x="6446520" y="1554480"/>
            <a:ext cx="731520" cy="457200"/>
          </a:xfrm>
          <a:prstGeom prst="rect">
            <a:avLst/>
          </a:prstGeom>
          <a:noFill/>
          <a:ln/>
        </p:spPr>
        <p:txBody>
          <a:bodyPr wrap="square" lIns="0" tIns="0" rIns="0" bIns="0" rtlCol="0" anchor="t"/>
          <a:lstStyle/>
          <a:p>
            <a:pPr indent="0" marL="0">
              <a:buNone/>
            </a:pPr>
            <a:r>
              <a:rPr lang="en-US" sz="2000" b="1" dirty="0">
                <a:solidFill>
                  <a:schemeClr val="accent3"/>
                </a:solidFill>
              </a:rPr>
              <a:t>Q2</a:t>
            </a:r>
            <a:endParaRPr lang="en-US" sz="2000" dirty="0"/>
          </a:p>
        </p:txBody>
      </p:sp>
      <p:sp>
        <p:nvSpPr>
          <p:cNvPr id="8" name="text-400"/>
          <p:cNvSpPr txBox="1"/>
          <p:nvPr/>
        </p:nvSpPr>
        <p:spPr>
          <a:xfrm>
            <a:off x="7178040" y="1572768"/>
            <a:ext cx="4206240" cy="914400"/>
          </a:xfrm>
          <a:prstGeom prst="rect">
            <a:avLst/>
          </a:prstGeom>
          <a:noFill/>
          <a:ln/>
        </p:spPr>
        <p:txBody>
          <a:bodyPr wrap="square" lIns="0" tIns="0" rIns="0" bIns="0" rtlCol="0" anchor="t"/>
          <a:lstStyle/>
          <a:p>
            <a:pPr indent="0" marL="0">
              <a:buNone/>
            </a:pPr>
            <a:r>
              <a:rPr lang="en-US" sz="1600" dirty="0">
                <a:solidFill>
                  <a:schemeClr val="bg1"/>
                </a:solidFill>
              </a:rPr>
              <a:t>Why is int x{3.9}; an error, but int x = 3.9; is not?</a:t>
            </a:r>
            <a:endParaRPr lang="en-US" sz="1600" dirty="0"/>
          </a:p>
        </p:txBody>
      </p:sp>
      <p:sp>
        <p:nvSpPr>
          <p:cNvPr id="9" name="card-401"/>
          <p:cNvSpPr/>
          <p:nvPr/>
        </p:nvSpPr>
        <p:spPr>
          <a:xfrm>
            <a:off x="548640" y="292608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0" name="text-402"/>
          <p:cNvSpPr txBox="1"/>
          <p:nvPr/>
        </p:nvSpPr>
        <p:spPr>
          <a:xfrm>
            <a:off x="822960" y="3108960"/>
            <a:ext cx="731520" cy="457200"/>
          </a:xfrm>
          <a:prstGeom prst="rect">
            <a:avLst/>
          </a:prstGeom>
          <a:noFill/>
          <a:ln/>
        </p:spPr>
        <p:txBody>
          <a:bodyPr wrap="square" lIns="0" tIns="0" rIns="0" bIns="0" rtlCol="0" anchor="t"/>
          <a:lstStyle/>
          <a:p>
            <a:pPr indent="0" marL="0">
              <a:buNone/>
            </a:pPr>
            <a:r>
              <a:rPr lang="en-US" sz="2000" b="1" dirty="0">
                <a:solidFill>
                  <a:schemeClr val="accent3"/>
                </a:solidFill>
              </a:rPr>
              <a:t>Q3</a:t>
            </a:r>
            <a:endParaRPr lang="en-US" sz="2000" dirty="0"/>
          </a:p>
        </p:txBody>
      </p:sp>
      <p:sp>
        <p:nvSpPr>
          <p:cNvPr id="11" name="text-403"/>
          <p:cNvSpPr txBox="1"/>
          <p:nvPr/>
        </p:nvSpPr>
        <p:spPr>
          <a:xfrm>
            <a:off x="1554480" y="3127248"/>
            <a:ext cx="4206240" cy="914400"/>
          </a:xfrm>
          <a:prstGeom prst="rect">
            <a:avLst/>
          </a:prstGeom>
          <a:noFill/>
          <a:ln/>
        </p:spPr>
        <p:txBody>
          <a:bodyPr wrap="square" lIns="0" tIns="0" rIns="0" bIns="0" rtlCol="0" anchor="t"/>
          <a:lstStyle/>
          <a:p>
            <a:pPr indent="0" marL="0">
              <a:buNone/>
            </a:pPr>
            <a:r>
              <a:rPr lang="en-US" sz="1600" dirty="0">
                <a:solidFill>
                  <a:schemeClr val="bg1"/>
                </a:solidFill>
              </a:rPr>
              <a:t>What type is auto x{3000000000}; and why?</a:t>
            </a:r>
            <a:endParaRPr lang="en-US" sz="1600" dirty="0"/>
          </a:p>
        </p:txBody>
      </p:sp>
      <p:sp>
        <p:nvSpPr>
          <p:cNvPr id="12" name="card-404"/>
          <p:cNvSpPr/>
          <p:nvPr/>
        </p:nvSpPr>
        <p:spPr>
          <a:xfrm>
            <a:off x="6172200" y="292608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3" name="text-405"/>
          <p:cNvSpPr txBox="1"/>
          <p:nvPr/>
        </p:nvSpPr>
        <p:spPr>
          <a:xfrm>
            <a:off x="6446520" y="3108960"/>
            <a:ext cx="731520" cy="457200"/>
          </a:xfrm>
          <a:prstGeom prst="rect">
            <a:avLst/>
          </a:prstGeom>
          <a:noFill/>
          <a:ln/>
        </p:spPr>
        <p:txBody>
          <a:bodyPr wrap="square" lIns="0" tIns="0" rIns="0" bIns="0" rtlCol="0" anchor="t"/>
          <a:lstStyle/>
          <a:p>
            <a:pPr indent="0" marL="0">
              <a:buNone/>
            </a:pPr>
            <a:r>
              <a:rPr lang="en-US" sz="2000" b="1" dirty="0">
                <a:solidFill>
                  <a:schemeClr val="accent3"/>
                </a:solidFill>
              </a:rPr>
              <a:t>Q4</a:t>
            </a:r>
            <a:endParaRPr lang="en-US" sz="2000" dirty="0"/>
          </a:p>
        </p:txBody>
      </p:sp>
      <p:sp>
        <p:nvSpPr>
          <p:cNvPr id="14" name="text-406"/>
          <p:cNvSpPr txBox="1"/>
          <p:nvPr/>
        </p:nvSpPr>
        <p:spPr>
          <a:xfrm>
            <a:off x="7178040" y="3127248"/>
            <a:ext cx="4206240" cy="914400"/>
          </a:xfrm>
          <a:prstGeom prst="rect">
            <a:avLst/>
          </a:prstGeom>
          <a:noFill/>
          <a:ln/>
        </p:spPr>
        <p:txBody>
          <a:bodyPr wrap="square" lIns="0" tIns="0" rIns="0" bIns="0" rtlCol="0" anchor="t"/>
          <a:lstStyle/>
          <a:p>
            <a:pPr indent="0" marL="0">
              <a:buNone/>
            </a:pPr>
            <a:r>
              <a:rPr lang="en-US" sz="1600" dirty="0">
                <a:solidFill>
                  <a:schemeClr val="bg1"/>
                </a:solidFill>
              </a:rPr>
              <a:t>Why is -1 &lt; 0u false?</a:t>
            </a:r>
            <a:endParaRPr lang="en-US" sz="1600" dirty="0"/>
          </a:p>
        </p:txBody>
      </p:sp>
      <p:sp>
        <p:nvSpPr>
          <p:cNvPr id="15" name="card-407"/>
          <p:cNvSpPr/>
          <p:nvPr/>
        </p:nvSpPr>
        <p:spPr>
          <a:xfrm>
            <a:off x="548640" y="448056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6" name="text-408"/>
          <p:cNvSpPr txBox="1"/>
          <p:nvPr/>
        </p:nvSpPr>
        <p:spPr>
          <a:xfrm>
            <a:off x="822960" y="4663440"/>
            <a:ext cx="731520" cy="457200"/>
          </a:xfrm>
          <a:prstGeom prst="rect">
            <a:avLst/>
          </a:prstGeom>
          <a:noFill/>
          <a:ln/>
        </p:spPr>
        <p:txBody>
          <a:bodyPr wrap="square" lIns="0" tIns="0" rIns="0" bIns="0" rtlCol="0" anchor="t"/>
          <a:lstStyle/>
          <a:p>
            <a:pPr indent="0" marL="0">
              <a:buNone/>
            </a:pPr>
            <a:r>
              <a:rPr lang="en-US" sz="2000" b="1" dirty="0">
                <a:solidFill>
                  <a:schemeClr val="accent3"/>
                </a:solidFill>
              </a:rPr>
              <a:t>Q5</a:t>
            </a:r>
            <a:endParaRPr lang="en-US" sz="2000" dirty="0"/>
          </a:p>
        </p:txBody>
      </p:sp>
      <p:sp>
        <p:nvSpPr>
          <p:cNvPr id="17" name="text-409"/>
          <p:cNvSpPr txBox="1"/>
          <p:nvPr/>
        </p:nvSpPr>
        <p:spPr>
          <a:xfrm>
            <a:off x="1554480" y="4681728"/>
            <a:ext cx="4206240" cy="914400"/>
          </a:xfrm>
          <a:prstGeom prst="rect">
            <a:avLst/>
          </a:prstGeom>
          <a:noFill/>
          <a:ln/>
        </p:spPr>
        <p:txBody>
          <a:bodyPr wrap="square" lIns="0" tIns="0" rIns="0" bIns="0" rtlCol="0" anchor="t"/>
          <a:lstStyle/>
          <a:p>
            <a:pPr indent="0" marL="0">
              <a:buNone/>
            </a:pPr>
            <a:r>
              <a:rPr lang="en-US" sz="1600" dirty="0">
                <a:solidFill>
                  <a:schemeClr val="bg1"/>
                </a:solidFill>
              </a:rPr>
              <a:t>Why must clear() come before ignore()?</a:t>
            </a:r>
            <a:endParaRPr lang="en-US" sz="1600" dirty="0"/>
          </a:p>
        </p:txBody>
      </p:sp>
      <p:sp>
        <p:nvSpPr>
          <p:cNvPr id="18" name="card-410"/>
          <p:cNvSpPr/>
          <p:nvPr/>
        </p:nvSpPr>
        <p:spPr>
          <a:xfrm>
            <a:off x="6172200" y="448056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76200" dist="25400" dir="5400000">
              <a:srgbClr val="000000">
                <a:alpha val="35000"/>
              </a:srgbClr>
            </a:outerShdw>
          </a:effectLst>
        </p:spPr>
      </p:sp>
      <p:sp>
        <p:nvSpPr>
          <p:cNvPr id="19" name="text-411"/>
          <p:cNvSpPr txBox="1"/>
          <p:nvPr/>
        </p:nvSpPr>
        <p:spPr>
          <a:xfrm>
            <a:off x="6446520" y="4663440"/>
            <a:ext cx="731520" cy="457200"/>
          </a:xfrm>
          <a:prstGeom prst="rect">
            <a:avLst/>
          </a:prstGeom>
          <a:noFill/>
          <a:ln/>
        </p:spPr>
        <p:txBody>
          <a:bodyPr wrap="square" lIns="0" tIns="0" rIns="0" bIns="0" rtlCol="0" anchor="t"/>
          <a:lstStyle/>
          <a:p>
            <a:pPr indent="0" marL="0">
              <a:buNone/>
            </a:pPr>
            <a:r>
              <a:rPr lang="en-US" sz="2000" b="1" dirty="0">
                <a:solidFill>
                  <a:schemeClr val="accent3"/>
                </a:solidFill>
              </a:rPr>
              <a:t>Q6</a:t>
            </a:r>
            <a:endParaRPr lang="en-US" sz="2000" dirty="0"/>
          </a:p>
        </p:txBody>
      </p:sp>
      <p:sp>
        <p:nvSpPr>
          <p:cNvPr id="20" name="text-412"/>
          <p:cNvSpPr txBox="1"/>
          <p:nvPr/>
        </p:nvSpPr>
        <p:spPr>
          <a:xfrm>
            <a:off x="7178040" y="4681728"/>
            <a:ext cx="4206240" cy="914400"/>
          </a:xfrm>
          <a:prstGeom prst="rect">
            <a:avLst/>
          </a:prstGeom>
          <a:noFill/>
          <a:ln/>
        </p:spPr>
        <p:txBody>
          <a:bodyPr wrap="square" lIns="0" tIns="0" rIns="0" bIns="0" rtlCol="0" anchor="t"/>
          <a:lstStyle/>
          <a:p>
            <a:pPr indent="0" marL="0">
              <a:buNone/>
            </a:pPr>
            <a:r>
              <a:rPr lang="en-US" sz="1600" dirty="0">
                <a:solidFill>
                  <a:schemeClr val="bg1"/>
                </a:solidFill>
              </a:rPr>
              <a:t>Why did UBSan miss x + 1 &gt; x?</a:t>
            </a:r>
            <a:endParaRPr lang="en-US" sz="16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413"/>
          <p:cNvSpPr txBox="1"/>
          <p:nvPr/>
        </p:nvSpPr>
        <p:spPr>
          <a:xfrm>
            <a:off x="731520" y="1463040"/>
            <a:ext cx="10058400" cy="365760"/>
          </a:xfrm>
          <a:prstGeom prst="rect">
            <a:avLst/>
          </a:prstGeom>
          <a:noFill/>
          <a:ln/>
        </p:spPr>
        <p:txBody>
          <a:bodyPr wrap="square" lIns="0" tIns="0" rIns="0" bIns="0" rtlCol="0" anchor="t"/>
          <a:lstStyle/>
          <a:p>
            <a:pPr indent="0" marL="0">
              <a:buNone/>
            </a:pPr>
            <a:r>
              <a:rPr lang="en-US" sz="1400" b="1" spc="300" kern="0" dirty="0">
                <a:solidFill>
                  <a:schemeClr val="accent4"/>
                </a:solidFill>
              </a:rPr>
              <a:t>STAGE 01 COMPLETE</a:t>
            </a:r>
            <a:endParaRPr lang="en-US" sz="1400" dirty="0"/>
          </a:p>
        </p:txBody>
      </p:sp>
      <p:sp>
        <p:nvSpPr>
          <p:cNvPr id="3" name="Text 0"/>
          <p:cNvSpPr/>
          <p:nvPr>
            <p:ph idx="100" type="title" hasCustomPrompt="1"/>
          </p:nvPr>
        </p:nvSpPr>
        <p:spPr>
          <a:xfrm>
            <a:off x="731520" y="2011680"/>
            <a:ext cx="10698480" cy="1463040"/>
          </a:xfrm>
          <a:prstGeom prst="rect">
            <a:avLst/>
          </a:prstGeom>
          <a:noFill/>
          <a:ln/>
        </p:spPr>
        <p:txBody>
          <a:bodyPr wrap="square" rtlCol="0" anchor="ctr"/>
          <a:lstStyle/>
          <a:p>
            <a:pPr algn="l" indent="0" marL="0">
              <a:buNone/>
            </a:pPr>
            <a:r>
              <a:rPr lang="en-US" sz="5400" b="1" dirty="0">
                <a:solidFill>
                  <a:schemeClr val="bg1"/>
                </a:solidFill>
                <a:latin typeface="Cambria" pitchFamily="34" charset="0"/>
                <a:ea typeface="Cambria" pitchFamily="34" charset="-122"/>
                <a:cs typeface="Cambria" pitchFamily="34" charset="-120"/>
              </a:rPr>
              <a:t>Next: Stage 02 — Control flow</a:t>
            </a:r>
            <a:endParaRPr lang="en-US" sz="5400" dirty="0"/>
          </a:p>
        </p:txBody>
      </p:sp>
      <p:sp>
        <p:nvSpPr>
          <p:cNvPr id="4" name="Text 0"/>
          <p:cNvSpPr/>
          <p:nvPr>
            <p:ph idx="101" type="body" hasCustomPrompt="1"/>
          </p:nvPr>
        </p:nvSpPr>
        <p:spPr>
          <a:xfrm>
            <a:off x="731520" y="3566160"/>
            <a:ext cx="10698480" cy="914400"/>
          </a:xfrm>
          <a:prstGeom prst="rect">
            <a:avLst/>
          </a:prstGeom>
          <a:noFill/>
          <a:ln/>
        </p:spPr>
        <p:txBody>
          <a:bodyPr wrap="square" rtlCol="0" anchor="t"/>
          <a:lstStyle/>
          <a:p>
            <a:pPr algn="l" indent="0" marL="0">
              <a:buNone/>
            </a:pPr>
            <a:r>
              <a:rPr lang="en-US" sz="2000" dirty="0">
                <a:solidFill>
                  <a:schemeClr val="bg2"/>
                </a:solidFill>
              </a:rPr>
              <a:t>if and switch, loops, input validation loops, and Project 1: a number classifier and calculator</a:t>
            </a:r>
            <a:endParaRPr lang="en-US" sz="2000" dirty="0"/>
          </a:p>
        </p:txBody>
      </p:sp>
      <p:sp>
        <p:nvSpPr>
          <p:cNvPr id="5" name="text-414"/>
          <p:cNvSpPr txBox="1"/>
          <p:nvPr/>
        </p:nvSpPr>
        <p:spPr>
          <a:xfrm>
            <a:off x="731520" y="4937760"/>
            <a:ext cx="10698480" cy="457200"/>
          </a:xfrm>
          <a:prstGeom prst="rect">
            <a:avLst/>
          </a:prstGeom>
          <a:noFill/>
          <a:ln/>
        </p:spPr>
        <p:txBody>
          <a:bodyPr wrap="square" lIns="0" tIns="0" rIns="0" bIns="0" rtlCol="0" anchor="t"/>
          <a:lstStyle/>
          <a:p>
            <a:pPr indent="0" marL="0">
              <a:buNone/>
            </a:pPr>
            <a:r>
              <a:rPr lang="en-US" sz="1600" dirty="0">
                <a:solidFill>
                  <a:schemeClr val="bg2"/>
                </a:solidFill>
              </a:rPr>
              <a:t>Revise this deck every one to two weeks with the Stage 01 guide.</a:t>
            </a:r>
            <a:endParaRPr lang="en-US" sz="1600" dirty="0"/>
          </a:p>
        </p:txBody>
      </p:sp>
    </p:spTree>
  </p:cSld>
  <p:clrMapOvr>
    <a:masterClrMapping/>
  </p:clrMapOvr>
</p:sld>
</file>

<file path=ppt/theme/theme1.xml><?xml version="1.0" encoding="utf-8"?>
<a:theme xmlns:a="http://schemas.openxmlformats.org/drawingml/2006/main" name="CPP Stage Navy">
  <a:themeElements>
    <a:clrScheme name="CPP Stage Navy">
      <a:dk1>
        <a:srgbClr val="0B1220"/>
      </a:dk1>
      <a:lt1>
        <a:srgbClr val="F5F7FA"/>
      </a:lt1>
      <a:dk2>
        <a:srgbClr val="141D33"/>
      </a:dk2>
      <a:lt2>
        <a:srgbClr val="A3AFC2"/>
      </a:lt2>
      <a:accent1>
        <a:srgbClr val="6CB6FF"/>
      </a:accent1>
      <a:accent2>
        <a:srgbClr val="C9A4FF"/>
      </a:accent2>
      <a:accent3>
        <a:srgbClr val="FFD28A"/>
      </a:accent3>
      <a:accent4>
        <a:srgbClr val="56D364"/>
      </a:accent4>
      <a:accent5>
        <a:srgbClr val="FF7B72"/>
      </a:accent5>
      <a:accent6>
        <a:srgbClr val="7EE0C3"/>
      </a:accent6>
      <a:hlink>
        <a:srgbClr val="6CB6FF"/>
      </a:hlink>
      <a:folHlink>
        <a:srgbClr val="C9A4FF"/>
      </a:folHlink>
    </a:clrScheme>
    <a:fontScheme name="CPP Stage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 01 — C++ Fundamentals</dc:title>
  <dc:subject>C++ From Zero to Advanced</dc:subject>
  <dc:creator>Akash Kendre</dc:creator>
  <cp:lastModifiedBy>Akash Kendre</cp:lastModifiedBy>
  <cp:revision>1</cp:revision>
  <dcterms:created xsi:type="dcterms:W3CDTF">2026-10-10T15:53:57Z</dcterms:created>
  <dcterms:modified xsi:type="dcterms:W3CDTF">2026-10-10T15:53:57Z</dcterms:modified>
</cp:coreProperties>
</file>